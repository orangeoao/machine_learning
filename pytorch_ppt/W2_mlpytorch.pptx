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89" r:id="rId2"/>
    <p:sldId id="268" r:id="rId3"/>
    <p:sldId id="287" r:id="rId4"/>
    <p:sldId id="331" r:id="rId5"/>
    <p:sldId id="296" r:id="rId6"/>
    <p:sldId id="322" r:id="rId7"/>
    <p:sldId id="323" r:id="rId8"/>
    <p:sldId id="328" r:id="rId9"/>
    <p:sldId id="327" r:id="rId10"/>
    <p:sldId id="330" r:id="rId11"/>
    <p:sldId id="329" r:id="rId12"/>
    <p:sldId id="324" r:id="rId13"/>
    <p:sldId id="326" r:id="rId14"/>
    <p:sldId id="332" r:id="rId15"/>
    <p:sldId id="333" r:id="rId16"/>
    <p:sldId id="334" r:id="rId17"/>
    <p:sldId id="341" r:id="rId18"/>
    <p:sldId id="342" r:id="rId19"/>
    <p:sldId id="335" r:id="rId20"/>
    <p:sldId id="343" r:id="rId21"/>
    <p:sldId id="344" r:id="rId22"/>
    <p:sldId id="336" r:id="rId23"/>
    <p:sldId id="337" r:id="rId24"/>
    <p:sldId id="338" r:id="rId25"/>
    <p:sldId id="325" r:id="rId26"/>
    <p:sldId id="340" r:id="rId27"/>
    <p:sldId id="339" r:id="rId28"/>
    <p:sldId id="265" r:id="rId29"/>
    <p:sldId id="319" r:id="rId30"/>
    <p:sldId id="345" r:id="rId31"/>
    <p:sldId id="346" r:id="rId32"/>
    <p:sldId id="266" r:id="rId33"/>
  </p:sldIdLst>
  <p:sldSz cx="18288000" cy="10287000"/>
  <p:notesSz cx="6858000" cy="9144000"/>
  <p:embeddedFontLst>
    <p:embeddedFont>
      <p:font typeface="Chiron GoRound TC ExtraBold" panose="02020500000000000000" charset="-120"/>
      <p:bold r:id="rId35"/>
    </p:embeddedFont>
    <p:embeddedFont>
      <p:font typeface="Zen Maru Gothic Black" panose="02020500000000000000" charset="-120"/>
      <p:bold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mbria Math" panose="02040503050406030204" pitchFamily="18" charset="0"/>
      <p:regular r:id="rId41"/>
    </p:embeddedFont>
    <p:embeddedFont>
      <p:font typeface="Lazydog" panose="02020500000000000000" charset="0"/>
      <p:regular r:id="rId42"/>
    </p:embeddedFont>
    <p:embeddedFont>
      <p:font typeface="Noto Sans HK DemiLight" panose="020B0200000000000000" pitchFamily="34" charset="-120"/>
      <p:regular r:id="rId43"/>
    </p:embeddedFont>
    <p:embeddedFont>
      <p:font typeface="Noto Sans SC Medium" panose="020B0200000000000000" pitchFamily="34" charset="-128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2619"/>
    <a:srgbClr val="7EC3E0"/>
    <a:srgbClr val="98DAF5"/>
    <a:srgbClr val="77BFD7"/>
    <a:srgbClr val="02ABF3"/>
    <a:srgbClr val="F00904"/>
    <a:srgbClr val="FE8301"/>
    <a:srgbClr val="653C27"/>
    <a:srgbClr val="764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384" autoAdjust="0"/>
  </p:normalViewPr>
  <p:slideViewPr>
    <p:cSldViewPr>
      <p:cViewPr varScale="1">
        <p:scale>
          <a:sx n="64" d="100"/>
          <a:sy n="64" d="100"/>
        </p:scale>
        <p:origin x="11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CC1E6-AC2B-4F32-A6D0-9936453979BA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408F7-8241-40EE-B4C3-86DEDC8ECC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7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52B6F-3CE0-4C1B-84C2-0AC5D1D1676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0504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03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876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216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89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919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624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927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544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050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627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DB5F-87B4-87C3-513F-EED9BBFE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AEC2C7C-16AD-7674-3EC6-EBDE31C0D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B6CD5E-5A5A-18B4-8E31-6D5E2559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B60D08-0E17-09BF-033B-8D366BA5D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11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31E9-5445-4868-69FA-8A38B8DC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3A6DBC-77C5-304D-32C6-CDEFC46D4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703E45E-AD3D-ECEF-4788-B1F2A39B4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54BFF6-C972-BA73-696B-2980151AC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91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C324-4B8B-79AE-20EA-930182C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333DD6A-2E56-0B9F-FBB7-F5272DAB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5AB954-3296-E715-C485-7D03B64E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FF13E-99DC-CC60-B728-54A17C4EB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652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C324-4B8B-79AE-20EA-930182C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333DD6A-2E56-0B9F-FBB7-F5272DAB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5AB954-3296-E715-C485-7D03B64E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FF13E-99DC-CC60-B728-54A17C4EB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6370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C324-4B8B-79AE-20EA-930182C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333DD6A-2E56-0B9F-FBB7-F5272DAB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5AB954-3296-E715-C485-7D03B64E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FF13E-99DC-CC60-B728-54A17C4EB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341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C21F-73B7-C6D7-A23B-43362268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2E7416-E5A1-32AF-907D-57FCE06E6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F71DD-6F10-02B6-C51D-C6C599ED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D33A-4C24-5889-F767-AAC7BDA7C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782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C21F-73B7-C6D7-A23B-43362268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2E7416-E5A1-32AF-907D-57FCE06E6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F71DD-6F10-02B6-C51D-C6C599ED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D33A-4C24-5889-F767-AAC7BDA7C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4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C21F-73B7-C6D7-A23B-43362268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2E7416-E5A1-32AF-907D-57FCE06E6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F71DD-6F10-02B6-C51D-C6C599ED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D33A-4C24-5889-F767-AAC7BDA7C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224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D023-5568-A38F-43AD-A00065AA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EEB9D5-0513-E9C4-32E8-0916D56A6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49A8D0-AFFF-8FE2-31DC-22218F567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03B3A-2D42-3DA7-52DD-E2EEDD6BC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490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BEC4-BFE4-0B7C-561F-1EFAE29BD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2D05417-9D53-0CA8-69F1-F3B248CF5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3E47F00-1685-8275-A7B2-26E9C49E9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70D5A4-B4E0-D148-8F56-FF29548EE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281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82E20-E051-FE01-2C1A-B67800A06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7AE971-3E89-CCDC-80E7-E88D73B5A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959B4B-1D82-88EB-7AFD-46E797554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9F3322-3E34-4108-1731-53713A7D2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790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966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DCBB-F14C-C282-BEDA-7F597C84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D434F12-B78D-A603-D044-7D1B55510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3EFF6D-F78F-E431-08A8-B9438F8C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2CDC7-980A-F4BC-0E11-3802E3A8A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0615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1326-3CD1-12B1-D53A-0F0A5B26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2BFA6B-47B4-C83D-B05C-9F34216D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BFDF57-0A86-70F3-F980-B42A4F52C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94218F-3B91-FDCF-B7B0-6249337FE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779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sv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45" Type="http://schemas.openxmlformats.org/officeDocument/2006/relationships/image" Target="../media/image43.svg"/><Relationship Id="rId53" Type="http://schemas.openxmlformats.org/officeDocument/2006/relationships/image" Target="../media/image51.svg"/><Relationship Id="rId58" Type="http://schemas.openxmlformats.org/officeDocument/2006/relationships/image" Target="../media/image56.png"/><Relationship Id="rId5" Type="http://schemas.openxmlformats.org/officeDocument/2006/relationships/image" Target="../media/image3.sv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43" Type="http://schemas.openxmlformats.org/officeDocument/2006/relationships/image" Target="../media/image41.sv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svg"/><Relationship Id="rId3" Type="http://schemas.openxmlformats.org/officeDocument/2006/relationships/image" Target="../media/image1.jpe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microsoft.com/office/2007/relationships/hdphoto" Target="../media/hdphoto1.wdp"/><Relationship Id="rId20" Type="http://schemas.openxmlformats.org/officeDocument/2006/relationships/image" Target="../media/image18.png"/><Relationship Id="rId41" Type="http://schemas.openxmlformats.org/officeDocument/2006/relationships/image" Target="../media/image39.sv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svg"/><Relationship Id="rId57" Type="http://schemas.openxmlformats.org/officeDocument/2006/relationships/image" Target="../media/image55.svg"/><Relationship Id="rId10" Type="http://schemas.openxmlformats.org/officeDocument/2006/relationships/image" Target="../media/image8.png"/><Relationship Id="rId31" Type="http://schemas.openxmlformats.org/officeDocument/2006/relationships/image" Target="../media/image29.svg"/><Relationship Id="rId44" Type="http://schemas.openxmlformats.org/officeDocument/2006/relationships/image" Target="../media/image42.png"/><Relationship Id="rId52" Type="http://schemas.openxmlformats.org/officeDocument/2006/relationships/image" Target="../media/image5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bin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bin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3.png"/><Relationship Id="rId5" Type="http://schemas.microsoft.com/office/2007/relationships/hdphoto" Target="../media/hdphoto1.wdp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12" Type="http://schemas.openxmlformats.org/officeDocument/2006/relationships/image" Target="../media/image7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71.bin"/><Relationship Id="rId5" Type="http://schemas.microsoft.com/office/2007/relationships/hdphoto" Target="../media/hdphoto1.wdp"/><Relationship Id="rId10" Type="http://schemas.openxmlformats.org/officeDocument/2006/relationships/image" Target="../media/image70.bin"/><Relationship Id="rId4" Type="http://schemas.openxmlformats.org/officeDocument/2006/relationships/image" Target="../media/image56.png"/><Relationship Id="rId9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102.png"/><Relationship Id="rId21" Type="http://schemas.openxmlformats.org/officeDocument/2006/relationships/image" Target="../media/image93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106.png"/><Relationship Id="rId50" Type="http://schemas.openxmlformats.org/officeDocument/2006/relationships/image" Target="../media/image49.svg"/><Relationship Id="rId55" Type="http://schemas.openxmlformats.org/officeDocument/2006/relationships/image" Target="../media/image110.png"/><Relationship Id="rId7" Type="http://schemas.openxmlformats.org/officeDocument/2006/relationships/image" Target="../media/image87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9" Type="http://schemas.openxmlformats.org/officeDocument/2006/relationships/image" Target="../media/image97.png"/><Relationship Id="rId11" Type="http://schemas.openxmlformats.org/officeDocument/2006/relationships/image" Target="../media/image89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101.png"/><Relationship Id="rId40" Type="http://schemas.openxmlformats.org/officeDocument/2006/relationships/image" Target="../media/image39.svg"/><Relationship Id="rId45" Type="http://schemas.openxmlformats.org/officeDocument/2006/relationships/image" Target="../media/image105.png"/><Relationship Id="rId53" Type="http://schemas.openxmlformats.org/officeDocument/2006/relationships/image" Target="../media/image109.png"/><Relationship Id="rId5" Type="http://schemas.openxmlformats.org/officeDocument/2006/relationships/image" Target="../media/image86.png"/><Relationship Id="rId10" Type="http://schemas.openxmlformats.org/officeDocument/2006/relationships/image" Target="../media/image9.svg"/><Relationship Id="rId19" Type="http://schemas.openxmlformats.org/officeDocument/2006/relationships/image" Target="../media/image92.png"/><Relationship Id="rId31" Type="http://schemas.openxmlformats.org/officeDocument/2006/relationships/image" Target="../media/image98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8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96.png"/><Relationship Id="rId30" Type="http://schemas.openxmlformats.org/officeDocument/2006/relationships/image" Target="../media/image29.svg"/><Relationship Id="rId35" Type="http://schemas.openxmlformats.org/officeDocument/2006/relationships/image" Target="../media/image100.png"/><Relationship Id="rId43" Type="http://schemas.openxmlformats.org/officeDocument/2006/relationships/image" Target="../media/image104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108.png"/><Relationship Id="rId3" Type="http://schemas.openxmlformats.org/officeDocument/2006/relationships/image" Target="../media/image85.png"/><Relationship Id="rId12" Type="http://schemas.openxmlformats.org/officeDocument/2006/relationships/image" Target="../media/image11.svg"/><Relationship Id="rId17" Type="http://schemas.openxmlformats.org/officeDocument/2006/relationships/image" Target="../media/image91.png"/><Relationship Id="rId25" Type="http://schemas.openxmlformats.org/officeDocument/2006/relationships/image" Target="../media/image95.png"/><Relationship Id="rId33" Type="http://schemas.openxmlformats.org/officeDocument/2006/relationships/image" Target="../media/image99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103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5" Type="http://schemas.openxmlformats.org/officeDocument/2006/relationships/image" Target="../media/image57.png"/><Relationship Id="rId23" Type="http://schemas.openxmlformats.org/officeDocument/2006/relationships/image" Target="../media/image94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102.png"/><Relationship Id="rId21" Type="http://schemas.openxmlformats.org/officeDocument/2006/relationships/image" Target="../media/image93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106.png"/><Relationship Id="rId50" Type="http://schemas.openxmlformats.org/officeDocument/2006/relationships/image" Target="../media/image49.svg"/><Relationship Id="rId55" Type="http://schemas.openxmlformats.org/officeDocument/2006/relationships/image" Target="../media/image110.png"/><Relationship Id="rId7" Type="http://schemas.openxmlformats.org/officeDocument/2006/relationships/image" Target="../media/image87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9" Type="http://schemas.openxmlformats.org/officeDocument/2006/relationships/image" Target="../media/image97.png"/><Relationship Id="rId11" Type="http://schemas.openxmlformats.org/officeDocument/2006/relationships/image" Target="../media/image89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101.png"/><Relationship Id="rId40" Type="http://schemas.openxmlformats.org/officeDocument/2006/relationships/image" Target="../media/image39.svg"/><Relationship Id="rId45" Type="http://schemas.openxmlformats.org/officeDocument/2006/relationships/image" Target="../media/image105.png"/><Relationship Id="rId53" Type="http://schemas.openxmlformats.org/officeDocument/2006/relationships/image" Target="../media/image109.png"/><Relationship Id="rId5" Type="http://schemas.openxmlformats.org/officeDocument/2006/relationships/image" Target="../media/image86.png"/><Relationship Id="rId10" Type="http://schemas.openxmlformats.org/officeDocument/2006/relationships/image" Target="../media/image9.svg"/><Relationship Id="rId19" Type="http://schemas.openxmlformats.org/officeDocument/2006/relationships/image" Target="../media/image92.png"/><Relationship Id="rId31" Type="http://schemas.openxmlformats.org/officeDocument/2006/relationships/image" Target="../media/image98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8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96.png"/><Relationship Id="rId30" Type="http://schemas.openxmlformats.org/officeDocument/2006/relationships/image" Target="../media/image29.svg"/><Relationship Id="rId35" Type="http://schemas.openxmlformats.org/officeDocument/2006/relationships/image" Target="../media/image100.png"/><Relationship Id="rId43" Type="http://schemas.openxmlformats.org/officeDocument/2006/relationships/image" Target="../media/image104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108.png"/><Relationship Id="rId3" Type="http://schemas.openxmlformats.org/officeDocument/2006/relationships/image" Target="../media/image85.png"/><Relationship Id="rId12" Type="http://schemas.openxmlformats.org/officeDocument/2006/relationships/image" Target="../media/image11.svg"/><Relationship Id="rId17" Type="http://schemas.openxmlformats.org/officeDocument/2006/relationships/image" Target="../media/image91.png"/><Relationship Id="rId25" Type="http://schemas.openxmlformats.org/officeDocument/2006/relationships/image" Target="../media/image95.png"/><Relationship Id="rId33" Type="http://schemas.openxmlformats.org/officeDocument/2006/relationships/image" Target="../media/image99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103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5" Type="http://schemas.openxmlformats.org/officeDocument/2006/relationships/image" Target="../media/image57.png"/><Relationship Id="rId23" Type="http://schemas.openxmlformats.org/officeDocument/2006/relationships/image" Target="../media/image94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>
            <a:spLocks noChangeAspect="1"/>
          </p:cNvSpPr>
          <p:nvPr/>
        </p:nvSpPr>
        <p:spPr>
          <a:xfrm>
            <a:off x="-533400" y="8159695"/>
            <a:ext cx="3536752" cy="377711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>
            <a:spLocks noChangeAspect="1"/>
          </p:cNvSpPr>
          <p:nvPr/>
        </p:nvSpPr>
        <p:spPr>
          <a:xfrm>
            <a:off x="2009311" y="8216911"/>
            <a:ext cx="2678318" cy="377711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>
            <a:spLocks noChangeAspect="1"/>
          </p:cNvSpPr>
          <p:nvPr/>
        </p:nvSpPr>
        <p:spPr>
          <a:xfrm>
            <a:off x="3528819" y="8322696"/>
            <a:ext cx="5340393" cy="377711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>
            <a:spLocks noChangeAspect="1"/>
          </p:cNvSpPr>
          <p:nvPr/>
        </p:nvSpPr>
        <p:spPr>
          <a:xfrm rot="5400000">
            <a:off x="-2279888" y="4070271"/>
            <a:ext cx="3822643" cy="4724614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>
            <a:spLocks noChangeAspect="1"/>
          </p:cNvSpPr>
          <p:nvPr/>
        </p:nvSpPr>
        <p:spPr>
          <a:xfrm rot="5400000">
            <a:off x="-2229959" y="1305353"/>
            <a:ext cx="3753923" cy="4724617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772606" y="-1651738"/>
            <a:ext cx="2971122" cy="3826973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>
            <a:spLocks noChangeAspect="1"/>
          </p:cNvSpPr>
          <p:nvPr/>
        </p:nvSpPr>
        <p:spPr>
          <a:xfrm rot="10800000">
            <a:off x="1165817" y="-1651738"/>
            <a:ext cx="3701728" cy="3826974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>
            <a:spLocks noChangeAspect="1"/>
          </p:cNvSpPr>
          <p:nvPr/>
        </p:nvSpPr>
        <p:spPr>
          <a:xfrm rot="10800000">
            <a:off x="3332003" y="-1651738"/>
            <a:ext cx="4047760" cy="3826974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>
            <a:spLocks noChangeAspect="1"/>
          </p:cNvSpPr>
          <p:nvPr/>
        </p:nvSpPr>
        <p:spPr>
          <a:xfrm rot="10800000">
            <a:off x="5691776" y="-1651738"/>
            <a:ext cx="4595711" cy="3826974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>
            <a:spLocks noChangeAspect="1"/>
          </p:cNvSpPr>
          <p:nvPr/>
        </p:nvSpPr>
        <p:spPr>
          <a:xfrm rot="10800000">
            <a:off x="9305552" y="-1651738"/>
            <a:ext cx="2581467" cy="3826973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>
            <a:spLocks noChangeAspect="1"/>
          </p:cNvSpPr>
          <p:nvPr/>
        </p:nvSpPr>
        <p:spPr>
          <a:xfrm rot="10800000">
            <a:off x="11091378" y="-1651738"/>
            <a:ext cx="2623217" cy="3826973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>
            <a:spLocks noChangeAspect="1"/>
          </p:cNvSpPr>
          <p:nvPr/>
        </p:nvSpPr>
        <p:spPr>
          <a:xfrm rot="10800000">
            <a:off x="12835164" y="-1651738"/>
            <a:ext cx="3353821" cy="3826974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>
            <a:spLocks noChangeAspect="1"/>
          </p:cNvSpPr>
          <p:nvPr/>
        </p:nvSpPr>
        <p:spPr>
          <a:xfrm rot="10800000">
            <a:off x="14991814" y="-1651738"/>
            <a:ext cx="4278121" cy="3826974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>
            <a:spLocks noChangeAspect="1"/>
          </p:cNvSpPr>
          <p:nvPr/>
        </p:nvSpPr>
        <p:spPr>
          <a:xfrm rot="16200000">
            <a:off x="15896218" y="1860596"/>
            <a:ext cx="3616415" cy="3781423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>
            <a:spLocks noChangeAspect="1"/>
          </p:cNvSpPr>
          <p:nvPr/>
        </p:nvSpPr>
        <p:spPr>
          <a:xfrm rot="16200000">
            <a:off x="15866393" y="4881027"/>
            <a:ext cx="3753922" cy="3781423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>
            <a:spLocks noChangeAspect="1"/>
          </p:cNvSpPr>
          <p:nvPr/>
        </p:nvSpPr>
        <p:spPr>
          <a:xfrm>
            <a:off x="6913094" y="8322696"/>
            <a:ext cx="3145306" cy="377711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>
            <a:spLocks noChangeAspect="1"/>
          </p:cNvSpPr>
          <p:nvPr/>
        </p:nvSpPr>
        <p:spPr>
          <a:xfrm>
            <a:off x="8572313" y="8322696"/>
            <a:ext cx="3861363" cy="377711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>
            <a:spLocks noChangeAspect="1"/>
          </p:cNvSpPr>
          <p:nvPr/>
        </p:nvSpPr>
        <p:spPr>
          <a:xfrm>
            <a:off x="10591800" y="8322696"/>
            <a:ext cx="3777115" cy="377711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>
            <a:spLocks noChangeAspect="1"/>
          </p:cNvSpPr>
          <p:nvPr/>
        </p:nvSpPr>
        <p:spPr>
          <a:xfrm>
            <a:off x="13116607" y="8392602"/>
            <a:ext cx="4256993" cy="3777114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>
            <a:spLocks noChangeAspect="1"/>
          </p:cNvSpPr>
          <p:nvPr/>
        </p:nvSpPr>
        <p:spPr>
          <a:xfrm>
            <a:off x="15472991" y="8322696"/>
            <a:ext cx="2891209" cy="377711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93657" y="5540251"/>
            <a:ext cx="10025896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0"/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授課老師</a:t>
            </a:r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：</a:t>
            </a:r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謝易錚</a:t>
            </a:r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 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(yzshieh@mail.ntust.edu.tw)</a:t>
            </a:r>
          </a:p>
          <a:p>
            <a:pPr algn="just" rtl="0"/>
            <a:endParaRPr lang="en-US" altLang="zh-CN" sz="3200" b="1" dirty="0">
              <a:latin typeface="Noto Sans HK DemiLight" panose="020B0200000000000000" pitchFamily="34" charset="-120"/>
              <a:ea typeface="超研澤特圓" panose="02010609010101010101" pitchFamily="49" charset="-120"/>
              <a:cs typeface="Microsoft Himalaya" panose="01010100010101010101" pitchFamily="2" charset="0"/>
            </a:endParaRPr>
          </a:p>
          <a:p>
            <a:pPr algn="just" rtl="0"/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助         教</a:t>
            </a:r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：</a:t>
            </a:r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李易 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(</a:t>
            </a:r>
            <a:r>
              <a:rPr lang="en-US" altLang="zh-TW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D11507002@mail.ntust.edu.tw)</a:t>
            </a:r>
          </a:p>
          <a:p>
            <a:pPr algn="just"/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                      柳予謀 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(</a:t>
            </a:r>
            <a:r>
              <a:rPr lang="en-US" altLang="zh-TW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D11507005@mail.ntust.edu.tw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)</a:t>
            </a:r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 </a:t>
            </a:r>
            <a:endParaRPr lang="zh-TW" altLang="en-US" sz="3200" dirty="0">
              <a:ea typeface="超研澤特圓" panose="02010609010101010101" pitchFamily="49" charset="-120"/>
            </a:endParaRPr>
          </a:p>
        </p:txBody>
      </p:sp>
      <p:sp>
        <p:nvSpPr>
          <p:cNvPr id="25" name="Freeform 25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>
            <a:spLocks noChangeAspect="1"/>
          </p:cNvSpPr>
          <p:nvPr/>
        </p:nvSpPr>
        <p:spPr>
          <a:xfrm rot="5400000">
            <a:off x="1137752" y="1958600"/>
            <a:ext cx="292492" cy="292492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C6248F2-D217-4DF5-95FF-5D5709EC7E54}"/>
              </a:ext>
            </a:extLst>
          </p:cNvPr>
          <p:cNvSpPr txBox="1"/>
          <p:nvPr/>
        </p:nvSpPr>
        <p:spPr>
          <a:xfrm>
            <a:off x="2905656" y="3467942"/>
            <a:ext cx="124766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0000" dirty="0">
                <a:solidFill>
                  <a:srgbClr val="F1A988"/>
                </a:solidFill>
                <a:latin typeface="Zen Maru Gothic Black" pitchFamily="2" charset="-120"/>
                <a:ea typeface="Zen Maru Gothic Black" pitchFamily="2" charset="-120"/>
              </a:rPr>
              <a:t>機</a:t>
            </a:r>
            <a:r>
              <a:rPr lang="zh-TW" altLang="en-US" sz="10000" dirty="0">
                <a:solidFill>
                  <a:srgbClr val="2FBCB7"/>
                </a:solidFill>
                <a:latin typeface="Zen Maru Gothic Black" pitchFamily="2" charset="-120"/>
                <a:ea typeface="Zen Maru Gothic Black" pitchFamily="2" charset="-120"/>
              </a:rPr>
              <a:t>器</a:t>
            </a:r>
            <a:r>
              <a:rPr lang="zh-TW" altLang="en-US" sz="10000" dirty="0">
                <a:solidFill>
                  <a:srgbClr val="3BADE3"/>
                </a:solidFill>
                <a:latin typeface="Zen Maru Gothic Black" pitchFamily="2" charset="-120"/>
                <a:ea typeface="Zen Maru Gothic Black" pitchFamily="2" charset="-120"/>
              </a:rPr>
              <a:t>學</a:t>
            </a:r>
            <a:r>
              <a:rPr lang="zh-TW" altLang="en-US" sz="10000" dirty="0">
                <a:solidFill>
                  <a:srgbClr val="94BC3D"/>
                </a:solidFill>
                <a:latin typeface="Zen Maru Gothic Black" pitchFamily="2" charset="-120"/>
                <a:ea typeface="Zen Maru Gothic Black" pitchFamily="2" charset="-120"/>
              </a:rPr>
              <a:t>習</a:t>
            </a:r>
            <a:r>
              <a:rPr lang="zh-TW" altLang="en-US" sz="10000" dirty="0">
                <a:solidFill>
                  <a:srgbClr val="9F2A22"/>
                </a:solidFill>
                <a:latin typeface="Zen Maru Gothic Black" pitchFamily="2" charset="-120"/>
                <a:ea typeface="Zen Maru Gothic Black" pitchFamily="2" charset="-120"/>
              </a:rPr>
              <a:t>與</a:t>
            </a:r>
            <a:r>
              <a:rPr lang="en-US" altLang="zh-TW" sz="10000" dirty="0" err="1">
                <a:solidFill>
                  <a:srgbClr val="CF8A29"/>
                </a:solidFill>
                <a:latin typeface="Lazydog"/>
              </a:rPr>
              <a:t>P</a:t>
            </a:r>
            <a:r>
              <a:rPr lang="en-US" altLang="zh-TW" sz="10000" dirty="0" err="1">
                <a:solidFill>
                  <a:srgbClr val="8D95B5"/>
                </a:solidFill>
                <a:latin typeface="Lazydog"/>
              </a:rPr>
              <a:t>y</a:t>
            </a:r>
            <a:r>
              <a:rPr lang="en-US" altLang="zh-TW" sz="10000" dirty="0" err="1">
                <a:solidFill>
                  <a:srgbClr val="5B1C14"/>
                </a:solidFill>
                <a:latin typeface="Lazydog"/>
              </a:rPr>
              <a:t>T</a:t>
            </a:r>
            <a:r>
              <a:rPr lang="en-US" altLang="zh-TW" sz="10000" dirty="0" err="1">
                <a:solidFill>
                  <a:srgbClr val="FBB116"/>
                </a:solidFill>
                <a:latin typeface="Lazydog"/>
              </a:rPr>
              <a:t>o</a:t>
            </a:r>
            <a:r>
              <a:rPr lang="en-US" altLang="zh-TW" sz="10000" dirty="0" err="1">
                <a:solidFill>
                  <a:srgbClr val="E25026"/>
                </a:solidFill>
                <a:latin typeface="Lazydog"/>
              </a:rPr>
              <a:t>r</a:t>
            </a:r>
            <a:r>
              <a:rPr lang="en-US" altLang="zh-TW" sz="10000" dirty="0" err="1">
                <a:solidFill>
                  <a:srgbClr val="BA254F"/>
                </a:solidFill>
                <a:latin typeface="Lazydog"/>
              </a:rPr>
              <a:t>c</a:t>
            </a:r>
            <a:r>
              <a:rPr lang="en-US" altLang="zh-TW" sz="10000" dirty="0" err="1">
                <a:solidFill>
                  <a:srgbClr val="4E893F"/>
                </a:solidFill>
                <a:latin typeface="Lazydog"/>
              </a:rPr>
              <a:t>h</a:t>
            </a:r>
            <a:endParaRPr lang="zh-TW" altLang="en-US" sz="10000" dirty="0">
              <a:solidFill>
                <a:srgbClr val="4E893F"/>
              </a:solidFill>
              <a:latin typeface="Lazydog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FE3CF519-886C-4654-A907-351F1F75BB62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5656" y="5272221"/>
            <a:ext cx="2162095" cy="21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5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DBEF3082-8E91-40E5-8EBE-C41CC4B7C6C7}"/>
              </a:ext>
            </a:extLst>
          </p:cNvPr>
          <p:cNvSpPr/>
          <p:nvPr/>
        </p:nvSpPr>
        <p:spPr>
          <a:xfrm>
            <a:off x="78407" y="182574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99DDAC27-DE01-41E1-BDDB-6DFBF485BCB1}"/>
              </a:ext>
            </a:extLst>
          </p:cNvPr>
          <p:cNvSpPr txBox="1"/>
          <p:nvPr/>
        </p:nvSpPr>
        <p:spPr>
          <a:xfrm>
            <a:off x="2227749" y="909271"/>
            <a:ext cx="5985346" cy="108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課程說明</a:t>
            </a:r>
            <a:endParaRPr lang="en-US" altLang="zh-TW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367CF292-1095-4AED-AAF7-361E830E6742}"/>
              </a:ext>
            </a:extLst>
          </p:cNvPr>
          <p:cNvSpPr txBox="1"/>
          <p:nvPr/>
        </p:nvSpPr>
        <p:spPr>
          <a:xfrm>
            <a:off x="2227749" y="2294444"/>
            <a:ext cx="15392400" cy="7690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簽到點名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10%</a:t>
            </a:r>
            <a:endParaRPr lang="en-US" altLang="zh-CN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課堂作業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30%</a:t>
            </a:r>
            <a:endParaRPr lang="en-US" altLang="zh-CN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原則上每週於課堂上完成作業，助教檢查後即可下課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若無法現場完成者，可回家繼續撰寫，並在規定時間內繳交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課堂上完成者，分數給予加分；課堂後繳交者，越早交分數越高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期中上機考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期中程式專案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（不分組）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個人程式專案，需運用課堂所學自行選定主題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另需額外預約報告時間，現場執行程式並且說明程式碼內容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期末上機考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期末程式專案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（不分組）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個人程式專案，需運用課堂所學自行選定主題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另需額外預約報告時間，現場執行程式並且說明程式碼內容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B8D117-8348-4AE2-B49E-92FA81A1F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1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課程大綱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9" y="2294444"/>
            <a:ext cx="6916250" cy="3074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深度神經網路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(DNN) 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的基本概念與架構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DNN 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的優缺點與適用場景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DNN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課堂實作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DNN 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課堂作業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F74E5F59-CE79-417A-9594-6128EF42A033}"/>
              </a:ext>
            </a:extLst>
          </p:cNvPr>
          <p:cNvSpPr>
            <a:spLocks noChangeAspect="1"/>
          </p:cNvSpPr>
          <p:nvPr/>
        </p:nvSpPr>
        <p:spPr>
          <a:xfrm>
            <a:off x="9183203" y="938539"/>
            <a:ext cx="8134688" cy="8409921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A48B2A-A1DE-458A-AE94-C0DAA835C3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38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DNN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139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具有多層結構的神經網絡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其目的是通過多層非線性轉換，自動提取數據的特徵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F19E1B28-1C1E-4D5F-80DB-7F01F0E08F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3629" y="4019848"/>
            <a:ext cx="11473193" cy="366305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232B520-A6DB-4AB1-B744-886D7A3E9E41}"/>
              </a:ext>
            </a:extLst>
          </p:cNvPr>
          <p:cNvSpPr txBox="1"/>
          <p:nvPr/>
        </p:nvSpPr>
        <p:spPr>
          <a:xfrm>
            <a:off x="2223629" y="8002289"/>
            <a:ext cx="12869562" cy="1955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輸入層</a:t>
            </a:r>
            <a:r>
              <a:rPr lang="en-US" altLang="zh-TW" sz="2800" dirty="0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(Input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接收原始數據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隱藏層</a:t>
            </a:r>
            <a:r>
              <a:rPr lang="en-US" altLang="zh-TW" sz="2800" dirty="0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(Hidden Layers)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多層神經元結構，進行特徵提取和轉換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輸出層</a:t>
            </a:r>
            <a:r>
              <a:rPr lang="en-US" altLang="zh-TW" sz="2800" dirty="0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(Output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產生最終預測結果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235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DNN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435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DNN 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的工作原理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每個神經元接收上一層的輸入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通過權重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、偏移量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和活化函數進行計算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將計算結果傳遞給下一層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通過反向傳播算法更新權重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200" dirty="0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F19E1B28-1C1E-4D5F-80DB-7F01F0E08FE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7490" b="13497"/>
          <a:stretch/>
        </p:blipFill>
        <p:spPr>
          <a:xfrm>
            <a:off x="9383772" y="4784400"/>
            <a:ext cx="7761228" cy="34290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B8266CB-D04C-463F-8035-E0993E5CBDF1}"/>
              </a:ext>
            </a:extLst>
          </p:cNvPr>
          <p:cNvSpPr txBox="1"/>
          <p:nvPr/>
        </p:nvSpPr>
        <p:spPr>
          <a:xfrm>
            <a:off x="2223629" y="8002289"/>
            <a:ext cx="12869562" cy="1955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輸入層</a:t>
            </a:r>
            <a:r>
              <a:rPr lang="en-US" altLang="zh-TW" sz="2800" dirty="0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(Input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接收原始數據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隱藏層</a:t>
            </a:r>
            <a:r>
              <a:rPr lang="en-US" altLang="zh-TW" sz="2800" dirty="0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(Hidden Layers)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多層神經元結構，進行特徵提取和轉換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輸出層</a:t>
            </a:r>
            <a:r>
              <a:rPr lang="en-US" altLang="zh-TW" sz="2800" dirty="0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(Output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產生最終預測結果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493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活化函數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139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Activation Function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目的就是為模型加入非線性的特性，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使網路能夠學習更複雜的模式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。 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2B29687-9673-4B7C-AD8E-1B25B40B0FD9}"/>
              </a:ext>
            </a:extLst>
          </p:cNvPr>
          <p:cNvCxnSpPr>
            <a:cxnSpLocks/>
          </p:cNvCxnSpPr>
          <p:nvPr/>
        </p:nvCxnSpPr>
        <p:spPr>
          <a:xfrm flipV="1">
            <a:off x="2810429" y="4009421"/>
            <a:ext cx="0" cy="5653277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5D245F7-82C2-44C2-B83E-5099E51492B1}"/>
                  </a:ext>
                </a:extLst>
              </p:cNvPr>
              <p:cNvSpPr txBox="1"/>
              <p:nvPr/>
            </p:nvSpPr>
            <p:spPr>
              <a:xfrm>
                <a:off x="2057400" y="425528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5D245F7-82C2-44C2-B83E-5099E5149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255285"/>
                <a:ext cx="554832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0E69B90-A23D-4F0B-B15A-A0243198297A}"/>
              </a:ext>
            </a:extLst>
          </p:cNvPr>
          <p:cNvCxnSpPr>
            <a:cxnSpLocks/>
          </p:cNvCxnSpPr>
          <p:nvPr/>
        </p:nvCxnSpPr>
        <p:spPr>
          <a:xfrm>
            <a:off x="2057400" y="8807027"/>
            <a:ext cx="7315200" cy="0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24A9F6F-94B4-4DEB-A860-421B8A392557}"/>
                  </a:ext>
                </a:extLst>
              </p:cNvPr>
              <p:cNvSpPr txBox="1"/>
              <p:nvPr/>
            </p:nvSpPr>
            <p:spPr>
              <a:xfrm>
                <a:off x="8980492" y="8993016"/>
                <a:ext cx="3270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3600" b="0" i="0" smtClean="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x</m:t>
                      </m:r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24A9F6F-94B4-4DEB-A860-421B8A392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492" y="8993016"/>
                <a:ext cx="327013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5771CF0-6770-4B10-AA0A-A4EF2BE11D9C}"/>
              </a:ext>
            </a:extLst>
          </p:cNvPr>
          <p:cNvCxnSpPr/>
          <p:nvPr/>
        </p:nvCxnSpPr>
        <p:spPr>
          <a:xfrm flipV="1">
            <a:off x="2823129" y="5502559"/>
            <a:ext cx="5486400" cy="2667000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BB4AF642-1B00-4282-B364-78D529098D86}"/>
              </a:ext>
            </a:extLst>
          </p:cNvPr>
          <p:cNvCxnSpPr/>
          <p:nvPr/>
        </p:nvCxnSpPr>
        <p:spPr>
          <a:xfrm flipV="1">
            <a:off x="2797730" y="3983071"/>
            <a:ext cx="5486400" cy="2667000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30EE130A-10E3-43E2-868F-E8B812BC2CFA}"/>
              </a:ext>
            </a:extLst>
          </p:cNvPr>
          <p:cNvCxnSpPr>
            <a:cxnSpLocks/>
          </p:cNvCxnSpPr>
          <p:nvPr/>
        </p:nvCxnSpPr>
        <p:spPr>
          <a:xfrm flipV="1">
            <a:off x="2823129" y="7507116"/>
            <a:ext cx="5730394" cy="755437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8BD54F7D-B5FC-4DA4-BDA2-CDA4ED8FCA06}"/>
              </a:ext>
            </a:extLst>
          </p:cNvPr>
          <p:cNvCxnSpPr>
            <a:cxnSpLocks/>
          </p:cNvCxnSpPr>
          <p:nvPr/>
        </p:nvCxnSpPr>
        <p:spPr>
          <a:xfrm flipV="1">
            <a:off x="10925729" y="3985437"/>
            <a:ext cx="0" cy="5653277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F02CE38-1BD2-4606-8285-0B052FB8A007}"/>
                  </a:ext>
                </a:extLst>
              </p:cNvPr>
              <p:cNvSpPr txBox="1"/>
              <p:nvPr/>
            </p:nvSpPr>
            <p:spPr>
              <a:xfrm>
                <a:off x="10172700" y="4231301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F02CE38-1BD2-4606-8285-0B052FB8A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700" y="4231301"/>
                <a:ext cx="554832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46695719-648E-424F-84B5-F037FEA0302E}"/>
              </a:ext>
            </a:extLst>
          </p:cNvPr>
          <p:cNvCxnSpPr>
            <a:cxnSpLocks/>
          </p:cNvCxnSpPr>
          <p:nvPr/>
        </p:nvCxnSpPr>
        <p:spPr>
          <a:xfrm>
            <a:off x="10172700" y="8783043"/>
            <a:ext cx="7315200" cy="0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B9030CB2-399B-4B42-8AE0-84FFB912913D}"/>
                  </a:ext>
                </a:extLst>
              </p:cNvPr>
              <p:cNvSpPr txBox="1"/>
              <p:nvPr/>
            </p:nvSpPr>
            <p:spPr>
              <a:xfrm>
                <a:off x="17095792" y="8969032"/>
                <a:ext cx="3270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3600" b="0" i="0" smtClean="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x</m:t>
                      </m:r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B9030CB2-399B-4B42-8AE0-84FFB9129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5792" y="8969032"/>
                <a:ext cx="327013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4A966332-643F-46A5-86DD-C6A220A933C1}"/>
              </a:ext>
            </a:extLst>
          </p:cNvPr>
          <p:cNvCxnSpPr>
            <a:cxnSpLocks/>
          </p:cNvCxnSpPr>
          <p:nvPr/>
        </p:nvCxnSpPr>
        <p:spPr>
          <a:xfrm flipV="1">
            <a:off x="10997215" y="5089105"/>
            <a:ext cx="1546739" cy="2238477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61654DED-C469-4418-94F6-C832BD553604}"/>
              </a:ext>
            </a:extLst>
          </p:cNvPr>
          <p:cNvCxnSpPr>
            <a:cxnSpLocks/>
          </p:cNvCxnSpPr>
          <p:nvPr/>
        </p:nvCxnSpPr>
        <p:spPr>
          <a:xfrm flipH="1" flipV="1">
            <a:off x="12543954" y="5129397"/>
            <a:ext cx="1870053" cy="1115886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1201E7D8-A2CA-484B-BA2B-69CC262745C5}"/>
              </a:ext>
            </a:extLst>
          </p:cNvPr>
          <p:cNvCxnSpPr>
            <a:cxnSpLocks/>
          </p:cNvCxnSpPr>
          <p:nvPr/>
        </p:nvCxnSpPr>
        <p:spPr>
          <a:xfrm flipH="1">
            <a:off x="14414008" y="5985854"/>
            <a:ext cx="2273792" cy="259429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C6DA2B9-E429-4E43-AC4C-F982ACA72D73}"/>
              </a:ext>
            </a:extLst>
          </p:cNvPr>
          <p:cNvSpPr txBox="1"/>
          <p:nvPr/>
        </p:nvSpPr>
        <p:spPr>
          <a:xfrm>
            <a:off x="7975161" y="5783618"/>
            <a:ext cx="2174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>
                <a:solidFill>
                  <a:schemeClr val="accent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y = w</a:t>
            </a:r>
            <a:r>
              <a:rPr lang="en-US" altLang="zh-TW" sz="2400" dirty="0">
                <a:solidFill>
                  <a:schemeClr val="accent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</a:t>
            </a:r>
            <a:r>
              <a:rPr lang="zh-TW" altLang="zh-TW" sz="2400" dirty="0">
                <a:solidFill>
                  <a:schemeClr val="accent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·x + b</a:t>
            </a:r>
            <a:endParaRPr lang="zh-TW" altLang="en-US" sz="2400" dirty="0">
              <a:solidFill>
                <a:schemeClr val="accent3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56774AB-B4A0-4A4B-AD02-18781901C998}"/>
              </a:ext>
            </a:extLst>
          </p:cNvPr>
          <p:cNvSpPr txBox="1"/>
          <p:nvPr/>
        </p:nvSpPr>
        <p:spPr>
          <a:xfrm>
            <a:off x="2088732" y="7128763"/>
            <a:ext cx="708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2400" dirty="0">
                <a:solidFill>
                  <a:schemeClr val="accent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b</a:t>
            </a:r>
            <a:endParaRPr lang="zh-TW" altLang="en-US" sz="2400" dirty="0">
              <a:solidFill>
                <a:schemeClr val="accent3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F8DF725-ACA1-4D32-819C-96E0079FA302}"/>
              </a:ext>
            </a:extLst>
          </p:cNvPr>
          <p:cNvSpPr txBox="1"/>
          <p:nvPr/>
        </p:nvSpPr>
        <p:spPr>
          <a:xfrm>
            <a:off x="8056995" y="7663050"/>
            <a:ext cx="2174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>
                <a:solidFill>
                  <a:schemeClr val="accent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y = w</a:t>
            </a:r>
            <a:r>
              <a:rPr lang="en-US" altLang="zh-TW" sz="2400" dirty="0">
                <a:solidFill>
                  <a:schemeClr val="accent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  <a:r>
              <a:rPr lang="zh-TW" altLang="zh-TW" sz="2400" dirty="0">
                <a:solidFill>
                  <a:schemeClr val="accent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·x + b</a:t>
            </a:r>
            <a:endParaRPr lang="zh-TW" altLang="en-US" sz="2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85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zh-TW" altLang="en-US" dirty="0"/>
          </a:p>
        </p:txBody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活化函數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常見活化函數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(Activation Function):</a:t>
            </a: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074" name="Picture 2" descr="激活函数以及作用| DY的个人博客">
            <a:extLst>
              <a:ext uri="{FF2B5EF4-FFF2-40B4-BE49-F238E27FC236}">
                <a16:creationId xmlns:a16="http://schemas.microsoft.com/office/drawing/2014/main" id="{4E41E445-AACB-4BD1-BF8F-0AC057B32A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3" t="11851" r="53811" b="57953"/>
          <a:stretch/>
        </p:blipFill>
        <p:spPr bwMode="auto">
          <a:xfrm>
            <a:off x="1324185" y="3364720"/>
            <a:ext cx="1807126" cy="12954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20CF3C95-E69B-4417-942F-D574412D0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634345"/>
              </p:ext>
            </p:extLst>
          </p:nvPr>
        </p:nvGraphicFramePr>
        <p:xfrm>
          <a:off x="3554137" y="3364720"/>
          <a:ext cx="12192000" cy="58972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108316656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262413841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122676211"/>
                    </a:ext>
                  </a:extLst>
                </a:gridCol>
              </a:tblGrid>
              <a:tr h="7881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函數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優缺點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520823"/>
                  </a:ext>
                </a:extLst>
              </a:tr>
              <a:tr h="12772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Sigmoid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輸出範圍</a:t>
                      </a:r>
                      <a:r>
                        <a:rPr lang="en-US" altLang="zh-TW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 [0,1]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容易導致梯度消失問題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73967"/>
                  </a:ext>
                </a:extLst>
              </a:tr>
              <a:tr h="12772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Tanh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輸出範圍</a:t>
                      </a:r>
                      <a:r>
                        <a:rPr lang="en-US" altLang="zh-TW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 [-1,1]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中心化輸出，但仍有梯度消失問題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269804"/>
                  </a:ext>
                </a:extLst>
              </a:tr>
              <a:tr h="12772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ReLU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max(0,x)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解決梯度消失問題，但有神經元死亡風險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685356"/>
                  </a:ext>
                </a:extLst>
              </a:tr>
              <a:tr h="12772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Leaky </a:t>
                      </a:r>
                      <a:r>
                        <a:rPr lang="en-US" altLang="zh-TW" sz="2800" b="1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ReLU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max(α</a:t>
                      </a: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x,x</a:t>
                      </a:r>
                      <a:r>
                        <a:rPr lang="en-US" altLang="zh-TW" sz="28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), α</a:t>
                      </a: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很小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</a:rPr>
                        <a:t>解決神經元死亡問題</a:t>
                      </a:r>
                      <a:endParaRPr lang="en-US" altLang="zh-TW" sz="28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149469"/>
                  </a:ext>
                </a:extLst>
              </a:tr>
            </a:tbl>
          </a:graphicData>
        </a:graphic>
      </p:graphicFrame>
      <p:pic>
        <p:nvPicPr>
          <p:cNvPr id="10" name="Picture 2" descr="激活函数以及作用| DY的个人博客">
            <a:extLst>
              <a:ext uri="{FF2B5EF4-FFF2-40B4-BE49-F238E27FC236}">
                <a16:creationId xmlns:a16="http://schemas.microsoft.com/office/drawing/2014/main" id="{547EFF88-C25E-42DF-8D10-DC2BA77F5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4" t="40929" r="53760" b="28875"/>
          <a:stretch/>
        </p:blipFill>
        <p:spPr bwMode="auto">
          <a:xfrm>
            <a:off x="1324946" y="4926819"/>
            <a:ext cx="1807126" cy="12954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激活函数以及作用| DY的个人博客">
            <a:extLst>
              <a:ext uri="{FF2B5EF4-FFF2-40B4-BE49-F238E27FC236}">
                <a16:creationId xmlns:a16="http://schemas.microsoft.com/office/drawing/2014/main" id="{1136FF0B-0487-41AA-936D-F24F41D491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8" t="69059" r="53846" b="745"/>
          <a:stretch/>
        </p:blipFill>
        <p:spPr bwMode="auto">
          <a:xfrm>
            <a:off x="1350346" y="6488918"/>
            <a:ext cx="1807126" cy="12954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激活函数以及作用| DY的个人博客">
            <a:extLst>
              <a:ext uri="{FF2B5EF4-FFF2-40B4-BE49-F238E27FC236}">
                <a16:creationId xmlns:a16="http://schemas.microsoft.com/office/drawing/2014/main" id="{EFB6BB91-2FFD-40CF-8CED-676897AD10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84" t="10055" b="59749"/>
          <a:stretch/>
        </p:blipFill>
        <p:spPr bwMode="auto">
          <a:xfrm>
            <a:off x="1350346" y="8051017"/>
            <a:ext cx="1807126" cy="12954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42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什麼是梯度消失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95F727D-B4A2-4C41-B8A9-D33DC11E8C48}"/>
              </a:ext>
            </a:extLst>
          </p:cNvPr>
          <p:cNvSpPr txBox="1"/>
          <p:nvPr/>
        </p:nvSpPr>
        <p:spPr>
          <a:xfrm>
            <a:off x="2227748" y="2400300"/>
            <a:ext cx="15163800" cy="415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梯度消失</a:t>
            </a:r>
          </a:p>
          <a:p>
            <a:pPr fontAlgn="base">
              <a:lnSpc>
                <a:spcPct val="150000"/>
              </a:lnSpc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在神經網絡反向傳播中，當梯度從後往前傳時，梯度不斷減小，最後變為零，此時，淺層的神經網絡權重得不到更新，那麼前面隱藏層的學習速率低於後面隱藏層的學習速率，即隨著隱藏層數目的增加，分類準確率反而下降了。這種現象叫做梯度消失</a:t>
            </a:r>
            <a:endParaRPr lang="zh-TW" altLang="en-US" dirty="0"/>
          </a:p>
        </p:txBody>
      </p:sp>
      <p:pic>
        <p:nvPicPr>
          <p:cNvPr id="13" name="Picture 6" descr="深度學習】Hello Deep Learning! 使用DNN 實作MNIST - Jason Chen's Blog">
            <a:extLst>
              <a:ext uri="{FF2B5EF4-FFF2-40B4-BE49-F238E27FC236}">
                <a16:creationId xmlns:a16="http://schemas.microsoft.com/office/drawing/2014/main" id="{776888F4-E0CF-4978-A34D-83C8A1CE1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185979"/>
            <a:ext cx="7772400" cy="387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909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活化函數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7678252" cy="8212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Activation Function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Sigmoid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可微分且有平滑的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gradient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輸出範圍為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0~1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適合做為機率預測模型的輸出層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導致訓練模型時遭遇梯度消失（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vanishing gradients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）的問題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0AAD62-FBF1-454E-892C-D79DCA0F0E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5723" y="3150310"/>
            <a:ext cx="7475377" cy="512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8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活化函數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7678252" cy="8212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Activation Function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Tanh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可微分且有平滑的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gradient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輸出範圍為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-1~1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適合用在預測正向、中性與負向關係模型的輸出層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也會遭遇梯度消失（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vanishing gradients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）的問題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D8581F-8F4E-4A21-8696-6F930C63FE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2987" y="3467100"/>
            <a:ext cx="7868025" cy="520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5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活化函數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7678252" cy="6550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Activation Function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ReLU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只將大於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的輸入維持原樣輸出，小於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的輸入全都轉換為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因此部分的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weights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和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biases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就無法被更新，這會讓訓練模型缺乏效率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9DA769-0709-45C5-A523-3732792C45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611" y="2923579"/>
            <a:ext cx="7872778" cy="550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50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925C8FC2-AA3B-4489-907B-48D384DA4A67}"/>
              </a:ext>
            </a:extLst>
          </p:cNvPr>
          <p:cNvSpPr txBox="1"/>
          <p:nvPr/>
        </p:nvSpPr>
        <p:spPr>
          <a:xfrm>
            <a:off x="2227748" y="4664670"/>
            <a:ext cx="15450652" cy="286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資料集特點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lvl="2">
              <a:lnSpc>
                <a:spcPct val="150000"/>
              </a:lnSpc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150個樣本：花萼長度、花萼寬度、花瓣長度、花瓣寬度</a:t>
            </a:r>
          </a:p>
          <a:p>
            <a:pPr lvl="2">
              <a:lnSpc>
                <a:spcPct val="150000"/>
              </a:lnSpc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4個特徵：花萼長度、花萼寬度、花瓣長度、花瓣寬度</a:t>
            </a:r>
          </a:p>
          <a:p>
            <a:pPr lvl="2">
              <a:lnSpc>
                <a:spcPct val="150000"/>
              </a:lnSpc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3個類別：Setosa、Versicolor、Virginica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139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鳶尾花資料集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是機器學習中經典的資料集，包含三種鳶尾花的測量數據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E935A98-DF5A-4277-AABD-396442100B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78550" y="6957915"/>
            <a:ext cx="4685368" cy="304946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BFBC70C-357C-4369-B5A6-549477A58A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06223" y="1685363"/>
            <a:ext cx="3715268" cy="4029637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1DC99D9-A3FA-4445-B3ED-EA1A2CCBC3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4143" y="5620351"/>
            <a:ext cx="381000" cy="435427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D53345DE-D476-4C29-9068-DE4AD8FBB7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9716" y="6385694"/>
            <a:ext cx="435427" cy="435427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1A7CD54-1EAC-4FCB-877D-AF829A8DDE9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9716" y="7160470"/>
            <a:ext cx="435428" cy="4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3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Step1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FFA7130-D7AC-CC30-F583-DCB9762501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7274" y="1094400"/>
            <a:ext cx="8991600" cy="881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48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70B5-F98F-840B-FD66-A58BCFB3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5ACDF1-6B67-083D-A1DD-CD0276981F5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B9CA78B-01BA-3E0E-2F67-B37FBD1B62A3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D5D1EEA-7298-A2E7-7E1C-EA64B69A6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F220B79-F560-0854-98DC-81D8D7687509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Step2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BE7030D4-EC2B-ABD4-3C0A-AFFF478888E2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929573C-6B35-8147-E177-7D24D8C745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800" y="4193784"/>
            <a:ext cx="13760397" cy="390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68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932A-034A-382B-6A78-832FAC8B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752C19-51DF-1090-D531-F8C3A83EB7C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5FC7613-9B3E-441A-2689-E9085F885BC4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4CBED13-50C2-15E8-6D4D-A480BB440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4D04E31F-EBC2-625A-D2FD-7EC3F94F5DF6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8B7C6F12-D717-B3BD-EA86-01D0FA1EB4BC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F26E843-AE07-B46A-655B-04FC6FCF4C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7533" y="1960841"/>
            <a:ext cx="9552931" cy="783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26E1-5763-57BF-68CF-A52B3347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53302B-5860-96DA-E2F2-A6C079AA37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3B59280-5D44-DA1C-3200-1561113E9546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1C045E-612D-5C54-FAA5-294968302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68E9D827-0390-6DF2-2A5A-28B49A7F0204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Step4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B03F0FC-0F86-D0CF-9D5E-3846928F91E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C0873C2-A2F7-451E-8CC7-70765D328A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0418" y="3375944"/>
            <a:ext cx="12627164" cy="589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26E1-5763-57BF-68CF-A52B3347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53302B-5860-96DA-E2F2-A6C079AA37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3B59280-5D44-DA1C-3200-1561113E9546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1C045E-612D-5C54-FAA5-294968302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68E9D827-0390-6DF2-2A5A-28B49A7F0204}"/>
              </a:ext>
            </a:extLst>
          </p:cNvPr>
          <p:cNvSpPr txBox="1"/>
          <p:nvPr/>
        </p:nvSpPr>
        <p:spPr>
          <a:xfrm>
            <a:off x="2227748" y="2294444"/>
            <a:ext cx="15450652" cy="729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Step4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PyTorch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張量的資料型別（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dtype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），用來告訴模型「數值要怎麼儲存與計算」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marR="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TW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常見 dtype 一覽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torch.float32（fp32）：最常見的浮點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torch.float16 / torch.bfloat16：半精度／bfloat16，訓練/推論加速（需要 GPU）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torch.long（int64）：用在索引/標籤（如分類 target、embedding 索引）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torch.int32 / torch.int16：一般較少在 DL 模型中使用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torch.bool：布林值（遮罩、條件）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B03F0FC-0F86-D0CF-9D5E-3846928F91E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368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26E1-5763-57BF-68CF-A52B3347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53302B-5860-96DA-E2F2-A6C079AA37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3B59280-5D44-DA1C-3200-1561113E9546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1C045E-612D-5C54-FAA5-294968302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68E9D827-0390-6DF2-2A5A-28B49A7F0204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Step4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B03F0FC-0F86-D0CF-9D5E-3846928F91E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00B2989-007A-432A-B5BF-066985490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837746"/>
              </p:ext>
            </p:extLst>
          </p:nvPr>
        </p:nvGraphicFramePr>
        <p:xfrm>
          <a:off x="1447800" y="3155504"/>
          <a:ext cx="15849600" cy="6331395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169920">
                  <a:extLst>
                    <a:ext uri="{9D8B030D-6E8A-4147-A177-3AD203B41FA5}">
                      <a16:colId xmlns:a16="http://schemas.microsoft.com/office/drawing/2014/main" val="654748022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3009385086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1400903747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1014097138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3055328748"/>
                    </a:ext>
                  </a:extLst>
                </a:gridCol>
              </a:tblGrid>
              <a:tr h="554075"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任務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x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（輸入特徵）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y（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標籤）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建議的 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loss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說明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87966462"/>
                  </a:ext>
                </a:extLst>
              </a:tr>
              <a:tr h="1284784"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單標籤多類別分類（互斥類別，如 </a:t>
                      </a:r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Iris 3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類）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torch.long（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類別索引 </a:t>
                      </a:r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0..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C-1）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CrossEntropyLoss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現在用的</a:t>
                      </a:r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必須是 </a:t>
                      </a:r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long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119436490"/>
                  </a:ext>
                </a:extLst>
              </a:tr>
              <a:tr h="1009322"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多標籤分類（可同時多個類，</a:t>
                      </a:r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multi-hot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torch.float32（multi-hot 0/1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或機率）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BCEWithLogitsLoss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每個類別獨立二分類；</a:t>
                      </a:r>
                      <a:endParaRPr lang="en-US" altLang="zh-TW" sz="2400" kern="12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  <a:cs typeface="+mn-cs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是浮點。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4288434370"/>
                  </a:ext>
                </a:extLst>
              </a:tr>
              <a:tr h="1464570"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二分類（單輸出 </a:t>
                      </a:r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logit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torch.float32（0/1）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BCEWithLogitsLoss</a:t>
                      </a:r>
                      <a:endParaRPr lang="en-US" sz="2400" kern="12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  <a:cs typeface="+mn-cs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logit → sigmoid 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內建在 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loss 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裡，不要先做 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sigmoid。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626580261"/>
                  </a:ext>
                </a:extLst>
              </a:tr>
              <a:tr h="1009322"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回歸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MSELoss/L1Loss/Huber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連續值預測；</a:t>
                      </a:r>
                      <a:endParaRPr lang="en-US" altLang="zh-TW" sz="2400" kern="12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  <a:cs typeface="+mn-cs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是浮點。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570631597"/>
                  </a:ext>
                </a:extLst>
              </a:tr>
              <a:tr h="1009322"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知識蒸餾 </a:t>
                      </a:r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/ 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軟標籤分佈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（和類別數同長的分佈）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KLDivLoss + log_softmax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是機率分佈。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968554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338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5180-FA29-EDA3-5966-75BF66DB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416A44-242B-48FB-A6AB-7E81440294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C7C0CC-C344-85CA-B141-DCFF28C0A8E3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0567D9-1753-839B-B767-969E4E16D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922A0C1-3E82-DEEF-3752-8AF8EE3E67AE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9D0A7BB-33EC-354A-06A5-D494754E0E57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842A0DF-4F56-8A0F-16D0-E09D92E192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867323"/>
            <a:ext cx="10754245" cy="804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7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5180-FA29-EDA3-5966-75BF66DB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416A44-242B-48FB-A6AB-7E81440294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C7C0CC-C344-85CA-B141-DCFF28C0A8E3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0567D9-1753-839B-B767-969E4E16D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922A0C1-3E82-DEEF-3752-8AF8EE3E67AE}"/>
              </a:ext>
            </a:extLst>
          </p:cNvPr>
          <p:cNvSpPr txBox="1"/>
          <p:nvPr/>
        </p:nvSpPr>
        <p:spPr>
          <a:xfrm>
            <a:off x="2227748" y="2294444"/>
            <a:ext cx="15450652" cy="6376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CrossEntropyLoss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的計算步驟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假設場景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有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 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個類別（例如：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0=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setosa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, 1=versicolor, 2=virginica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）。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一個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batch 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有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 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筆樣本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logits =[[ 2.0,  0.5, -1.0],   #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的三類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raw score</a:t>
            </a:r>
            <a:b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</a:b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              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[-1.0,  1.0,  3.0]]  #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的三類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raw score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targets = [0, 2]   #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的真實類別是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的真實類別是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9D0A7BB-33EC-354A-06A5-D494754E0E57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57848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5180-FA29-EDA3-5966-75BF66DB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416A44-242B-48FB-A6AB-7E81440294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C7C0CC-C344-85CA-B141-DCFF28C0A8E3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0567D9-1753-839B-B767-969E4E16D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922A0C1-3E82-DEEF-3752-8AF8EE3E67AE}"/>
              </a:ext>
            </a:extLst>
          </p:cNvPr>
          <p:cNvSpPr txBox="1"/>
          <p:nvPr/>
        </p:nvSpPr>
        <p:spPr>
          <a:xfrm>
            <a:off x="2227748" y="2294444"/>
            <a:ext cx="15450652" cy="222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CrossEntropyLoss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的計算步驟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「挑出正確類別的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logit → 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softmax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→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取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log →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取負號」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9D0A7BB-33EC-354A-06A5-D494754E0E57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6465F0-6F2D-44DF-B7A3-69F4C0F8D57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60005"/>
          <a:stretch/>
        </p:blipFill>
        <p:spPr>
          <a:xfrm>
            <a:off x="1442439" y="5143501"/>
            <a:ext cx="7331939" cy="303011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D262CB2-76B4-447F-B230-6CAA95A0009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3648" b="16357"/>
          <a:stretch/>
        </p:blipFill>
        <p:spPr>
          <a:xfrm>
            <a:off x="9513624" y="5143500"/>
            <a:ext cx="7331942" cy="303011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C99E0B9-FA64-45FF-9EA9-562D55F81A0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88740" b="966"/>
          <a:stretch/>
        </p:blipFill>
        <p:spPr>
          <a:xfrm>
            <a:off x="5629311" y="8801099"/>
            <a:ext cx="7029375" cy="74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56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CF4F-5A50-9F17-A571-6506DCE6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367221-3E95-938C-9971-EB5B6C5575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647CC8E-3B65-803B-B685-BA99B058BCA7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7766843-0687-5A04-527C-3993EB7A9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106BD5C-8B44-FB59-8D4C-B45662C08535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Step6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C02926F-2769-92BD-E065-4C56E167E7C2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BFDCB8-9251-7D73-1305-29B2C5C9C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4989" y="3122675"/>
            <a:ext cx="9798019" cy="604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6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BA6D-0AD5-7C4F-2A89-29B07ACA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0DE9C5-2052-1E64-A297-2B30A2C8C2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48BA8C8-B487-A137-CD32-B8FF61253FC0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E2F6021-11BE-9EB7-0764-992FE5656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E0B8BA97-530B-12F8-7A2C-6403CE541401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Step6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BC257F7-DBFA-6E09-274E-A1DAE69E5382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26E6DC-AC81-6E97-0895-6EB3431D07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2295136"/>
            <a:ext cx="11887200" cy="644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47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7300-DFB5-2616-EAC6-4F0E71CF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40AA41-C2B0-37AA-5B26-047BD34E48E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D6E9900-B08C-562C-B6BF-F36B54DDA8DA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4F9A6A-CB8F-A41F-F868-D078D1707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F53C4853-55AD-F3E1-670A-394D2A49846F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Step6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C22E9BB-D482-7DC8-173F-ADB2B2C1A747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2BB1DB9-F448-416A-1AFC-11E7303D18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5392" y="3042341"/>
            <a:ext cx="11137214" cy="586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74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753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Step7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2F976C2-A12D-7EAC-E2F1-0FD4B0634D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3225" y="1435056"/>
            <a:ext cx="8911148" cy="812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21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AD6D-E286-61E8-95EA-CD1B8280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D27242-DC70-AC82-6FEF-5A81A2D1B0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D9ABC57-5C49-FA83-4611-4E9DB54163FE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47DFAD-2926-825A-6307-399C5F7C5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C696D670-6E94-858C-6747-63C90B8DB8D6}"/>
              </a:ext>
            </a:extLst>
          </p:cNvPr>
          <p:cNvSpPr txBox="1"/>
          <p:nvPr/>
        </p:nvSpPr>
        <p:spPr>
          <a:xfrm>
            <a:off x="2227748" y="2294444"/>
            <a:ext cx="15450652" cy="753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結果圖：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8FD55E2-BC58-2034-3043-41ED69C995BE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60B8A0E-100B-067A-413E-EA57CDEA19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122" y="3314851"/>
            <a:ext cx="12125754" cy="606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5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796B-8D7A-2E12-1A24-FAA66A1E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5E29FC-8857-0A82-C9C0-7A15DB43A6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330761E-4523-F393-F9DF-F8BF2FD6AA2D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050A14-3A42-A127-2F15-B096D2967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0E30F770-E39F-5870-B165-2B9011F95BB3}"/>
              </a:ext>
            </a:extLst>
          </p:cNvPr>
          <p:cNvSpPr txBox="1"/>
          <p:nvPr/>
        </p:nvSpPr>
        <p:spPr>
          <a:xfrm>
            <a:off x="2227748" y="2294444"/>
            <a:ext cx="15450652" cy="753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混淆矩陣：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176160AC-DBA1-6047-4DA8-618CD1D8E683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571549-7905-05B1-B4D9-AC3BBDAAF0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262" y="1960841"/>
            <a:ext cx="8382000" cy="745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31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411885" y="3296841"/>
            <a:ext cx="11464230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D</a:t>
            </a:r>
            <a:r>
              <a:rPr lang="en-US" sz="12000" spc="-672" dirty="0">
                <a:solidFill>
                  <a:srgbClr val="5B1C14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8E2423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DBCB7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029316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2000" spc="-672" dirty="0">
                <a:solidFill>
                  <a:srgbClr val="64331F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B2662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C13E27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</a:p>
          <a:p>
            <a:pPr marL="0" lvl="0" indent="0" algn="ctr"/>
            <a:r>
              <a:rPr lang="en-US" sz="12000" spc="-672" dirty="0">
                <a:solidFill>
                  <a:srgbClr val="AE6428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2000" spc="-672" dirty="0">
                <a:solidFill>
                  <a:srgbClr val="A42B2B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556458"/>
                </a:solidFill>
                <a:latin typeface="Lazydog"/>
                <a:ea typeface="Lazydog"/>
                <a:cs typeface="Lazydog"/>
                <a:sym typeface="Lazydog"/>
              </a:rPr>
              <a:t>v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66753"/>
                </a:solidFill>
                <a:latin typeface="Lazydog"/>
                <a:ea typeface="Lazydog"/>
                <a:cs typeface="Lazydog"/>
                <a:sym typeface="Lazydog"/>
              </a:rPr>
              <a:t>q</a:t>
            </a:r>
            <a:r>
              <a:rPr lang="en-US" sz="12000" spc="-672" dirty="0">
                <a:solidFill>
                  <a:srgbClr val="009200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2E1B5B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58585B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2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i</a:t>
            </a:r>
            <a:r>
              <a:rPr lang="en-US" sz="12000" spc="-672" dirty="0">
                <a:solidFill>
                  <a:srgbClr val="76482E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5E1815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7DADC5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ACD03C"/>
                </a:solidFill>
                <a:latin typeface="Lazydog"/>
                <a:ea typeface="Lazydog"/>
                <a:cs typeface="Lazydog"/>
                <a:sym typeface="Lazydog"/>
              </a:rPr>
              <a:t>?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664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題目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：改變模型架構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(64,32) → (32,16)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修改 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IrisMLP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隱藏層大小，減少模型容量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觀察結果：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訓練曲線仍能收斂，但略不平滑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測試集準確率略降（約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0.90~0.95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重點：模型太小 → 容量不足 → 準確率下降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CB707FA3-6916-433F-B17E-7E9A20E98148}"/>
              </a:ext>
            </a:extLst>
          </p:cNvPr>
          <p:cNvSpPr>
            <a:spLocks noChangeAspect="1"/>
          </p:cNvSpPr>
          <p:nvPr/>
        </p:nvSpPr>
        <p:spPr>
          <a:xfrm>
            <a:off x="15752909" y="9310170"/>
            <a:ext cx="2535091" cy="262086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46313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571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題目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：調整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Dropout (0.2 → 0.5)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將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Dropout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率加大，讓模型更正歸化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觀察結果：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訓練曲線下降變慢，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train_acc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上升慢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val_acc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維持在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~0.9~0.95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，收斂較平穩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重點：高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Dropout →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訓練變慢 → 減少過擬合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CB707FA3-6916-433F-B17E-7E9A20E98148}"/>
              </a:ext>
            </a:extLst>
          </p:cNvPr>
          <p:cNvSpPr>
            <a:spLocks noChangeAspect="1"/>
          </p:cNvSpPr>
          <p:nvPr/>
        </p:nvSpPr>
        <p:spPr>
          <a:xfrm>
            <a:off x="15752909" y="9310170"/>
            <a:ext cx="2535091" cy="262086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60894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5728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題目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：改變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Optimizer (Adam → SGD)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將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Adam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改為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SGD (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lr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=0.01, momentum=0.9)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。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觀察結果：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Adam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收斂快，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loss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前幾個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epoch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就下降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SGD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收斂較慢，但曲線較平滑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重點：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Adam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快但可能過擬合，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SGD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慢但穩定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CB707FA3-6916-433F-B17E-7E9A20E98148}"/>
              </a:ext>
            </a:extLst>
          </p:cNvPr>
          <p:cNvSpPr>
            <a:spLocks noChangeAspect="1"/>
          </p:cNvSpPr>
          <p:nvPr/>
        </p:nvSpPr>
        <p:spPr>
          <a:xfrm>
            <a:off x="15752909" y="9310170"/>
            <a:ext cx="2535091" cy="262086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91786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590580" y="2681288"/>
            <a:ext cx="7106841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16000" spc="-672" dirty="0">
                <a:solidFill>
                  <a:srgbClr val="891942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6000" spc="-672" dirty="0">
                <a:solidFill>
                  <a:srgbClr val="9F2A22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6000" spc="-672" dirty="0">
                <a:solidFill>
                  <a:srgbClr val="BC5E28"/>
                </a:solidFill>
                <a:latin typeface="Lazydog"/>
                <a:ea typeface="Lazydog"/>
                <a:cs typeface="Lazydog"/>
                <a:sym typeface="Lazydog"/>
              </a:rPr>
              <a:t>k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6000" spc="-672" dirty="0">
                <a:solidFill>
                  <a:srgbClr val="175C71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6000" spc="-672" dirty="0">
                <a:solidFill>
                  <a:srgbClr val="2FBCB7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5538</TotalTime>
  <Words>1333</Words>
  <Application>Microsoft Office PowerPoint</Application>
  <PresentationFormat>自訂</PresentationFormat>
  <Paragraphs>224</Paragraphs>
  <Slides>32</Slides>
  <Notes>25</Notes>
  <HiddenSlides>3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42" baseType="lpstr">
      <vt:lpstr>Wingdings</vt:lpstr>
      <vt:lpstr>Chiron GoRound TC ExtraBold</vt:lpstr>
      <vt:lpstr>Lazydog</vt:lpstr>
      <vt:lpstr>Noto Sans HK DemiLight</vt:lpstr>
      <vt:lpstr>Zen Maru Gothic Black</vt:lpstr>
      <vt:lpstr>Noto Sans SC Medium</vt:lpstr>
      <vt:lpstr>Cambria Math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Blue and Red Playful Monsters Team Presentation</dc:title>
  <dc:creator>user</dc:creator>
  <cp:lastModifiedBy>予謀 柳</cp:lastModifiedBy>
  <cp:revision>72</cp:revision>
  <dcterms:created xsi:type="dcterms:W3CDTF">2006-08-16T00:00:00Z</dcterms:created>
  <dcterms:modified xsi:type="dcterms:W3CDTF">2026-09-14T08:53:00Z</dcterms:modified>
  <dc:identifier>DAGxjVAmauM</dc:identifier>
</cp:coreProperties>
</file>