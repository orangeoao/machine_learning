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89" r:id="rId2"/>
    <p:sldId id="267" r:id="rId3"/>
    <p:sldId id="288" r:id="rId4"/>
    <p:sldId id="287" r:id="rId5"/>
    <p:sldId id="296" r:id="rId6"/>
    <p:sldId id="290" r:id="rId7"/>
    <p:sldId id="297" r:id="rId8"/>
    <p:sldId id="291" r:id="rId9"/>
    <p:sldId id="292" r:id="rId10"/>
    <p:sldId id="299" r:id="rId11"/>
    <p:sldId id="298" r:id="rId12"/>
    <p:sldId id="300" r:id="rId13"/>
    <p:sldId id="303" r:id="rId14"/>
    <p:sldId id="304" r:id="rId15"/>
    <p:sldId id="305" r:id="rId16"/>
    <p:sldId id="306" r:id="rId17"/>
    <p:sldId id="307" r:id="rId18"/>
    <p:sldId id="308" r:id="rId19"/>
    <p:sldId id="310" r:id="rId20"/>
    <p:sldId id="311" r:id="rId21"/>
    <p:sldId id="315" r:id="rId22"/>
    <p:sldId id="313" r:id="rId23"/>
    <p:sldId id="314" r:id="rId24"/>
    <p:sldId id="317" r:id="rId25"/>
    <p:sldId id="318" r:id="rId26"/>
    <p:sldId id="265" r:id="rId27"/>
    <p:sldId id="319" r:id="rId28"/>
    <p:sldId id="320" r:id="rId29"/>
    <p:sldId id="266" r:id="rId30"/>
  </p:sldIdLst>
  <p:sldSz cx="18288000" cy="10287000"/>
  <p:notesSz cx="6858000" cy="9144000"/>
  <p:embeddedFontLst>
    <p:embeddedFont>
      <p:font typeface="Chiron GoRound TC ExtraBold" panose="02020500000000000000" charset="-120"/>
      <p:bold r:id="rId32"/>
    </p:embeddedFont>
    <p:embeddedFont>
      <p:font typeface="Zen Maru Gothic Black" panose="02020500000000000000" charset="-12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Lazydog" panose="02020500000000000000" charset="0"/>
      <p:regular r:id="rId39"/>
    </p:embeddedFont>
    <p:embeddedFont>
      <p:font typeface="Noto Sans HK DemiLight" panose="020B0200000000000000" pitchFamily="34" charset="-120"/>
      <p:regular r:id="rId40"/>
    </p:embeddedFont>
    <p:embeddedFont>
      <p:font typeface="Noto Sans SC Medium" panose="020B0200000000000000" pitchFamily="34" charset="-128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3C27"/>
    <a:srgbClr val="E97525"/>
    <a:srgbClr val="D86625"/>
    <a:srgbClr val="3F2619"/>
    <a:srgbClr val="764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6318" autoAdjust="0"/>
  </p:normalViewPr>
  <p:slideViewPr>
    <p:cSldViewPr>
      <p:cViewPr varScale="1">
        <p:scale>
          <a:sx n="76" d="100"/>
          <a:sy n="76" d="100"/>
        </p:scale>
        <p:origin x="4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A47F2-E1EF-4A4C-9460-4BD067BB4786}" type="datetimeFigureOut">
              <a:rPr lang="zh-TW" altLang="en-US" smtClean="0"/>
              <a:t>2026/9/8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52B6F-3CE0-4C1B-84C2-0AC5D1D167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44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52B6F-3CE0-4C1B-84C2-0AC5D1D1676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0504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MAE</a:t>
            </a:r>
            <a:br>
              <a:rPr lang="en-US" altLang="zh-TW" dirty="0"/>
            </a:br>
            <a:r>
              <a:rPr lang="en-US" altLang="zh-TW" dirty="0"/>
              <a:t>|</a:t>
            </a:r>
            <a:r>
              <a:rPr lang="zh-TW" altLang="en-US" dirty="0"/>
              <a:t>實際值</a:t>
            </a:r>
            <a:r>
              <a:rPr lang="en-US" altLang="zh-TW" dirty="0"/>
              <a:t>-</a:t>
            </a:r>
            <a:r>
              <a:rPr lang="zh-TW" altLang="en-US" dirty="0"/>
              <a:t>預測值</a:t>
            </a:r>
            <a:r>
              <a:rPr lang="en-US" altLang="zh-TW" dirty="0"/>
              <a:t>|</a:t>
            </a:r>
            <a:r>
              <a:rPr lang="zh-TW" altLang="en-US" dirty="0"/>
              <a:t>，相加後平均</a:t>
            </a:r>
            <a:br>
              <a:rPr lang="en-US" altLang="zh-TW" dirty="0"/>
            </a:br>
            <a:br>
              <a:rPr lang="en-US" altLang="zh-TW" dirty="0"/>
            </a:br>
            <a:br>
              <a:rPr lang="en-US" altLang="zh-TW" dirty="0"/>
            </a:br>
            <a:r>
              <a:rPr lang="en-US" altLang="zh-CN" sz="1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MSE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實際值</a:t>
            </a:r>
            <a:r>
              <a:rPr lang="en-US" altLang="zh-TW" dirty="0"/>
              <a:t>-</a:t>
            </a:r>
            <a:r>
              <a:rPr lang="zh-TW" altLang="en-US" dirty="0"/>
              <a:t>預測值</a:t>
            </a:r>
            <a:r>
              <a:rPr lang="en-US" altLang="zh-TW" dirty="0"/>
              <a:t>)</a:t>
            </a:r>
            <a:r>
              <a:rPr lang="zh-TW" altLang="en-US" dirty="0"/>
              <a:t>的平方，相加後平均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52B6F-3CE0-4C1B-84C2-0AC5D1D1676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65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52B6F-3CE0-4C1B-84C2-0AC5D1D1676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6014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52B6F-3CE0-4C1B-84C2-0AC5D1D1676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6982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sv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45" Type="http://schemas.openxmlformats.org/officeDocument/2006/relationships/image" Target="../media/image43.svg"/><Relationship Id="rId53" Type="http://schemas.openxmlformats.org/officeDocument/2006/relationships/image" Target="../media/image51.svg"/><Relationship Id="rId58" Type="http://schemas.openxmlformats.org/officeDocument/2006/relationships/image" Target="../media/image56.png"/><Relationship Id="rId5" Type="http://schemas.openxmlformats.org/officeDocument/2006/relationships/image" Target="../media/image3.sv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43" Type="http://schemas.openxmlformats.org/officeDocument/2006/relationships/image" Target="../media/image41.svg"/><Relationship Id="rId48" Type="http://schemas.openxmlformats.org/officeDocument/2006/relationships/image" Target="../media/image46.png"/><Relationship Id="rId56" Type="http://schemas.openxmlformats.org/officeDocument/2006/relationships/image" Target="../media/image54.png"/><Relationship Id="rId8" Type="http://schemas.openxmlformats.org/officeDocument/2006/relationships/image" Target="../media/image6.png"/><Relationship Id="rId51" Type="http://schemas.openxmlformats.org/officeDocument/2006/relationships/image" Target="../media/image49.svg"/><Relationship Id="rId3" Type="http://schemas.openxmlformats.org/officeDocument/2006/relationships/image" Target="../media/image1.jpe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59" Type="http://schemas.microsoft.com/office/2007/relationships/hdphoto" Target="../media/hdphoto1.wdp"/><Relationship Id="rId20" Type="http://schemas.openxmlformats.org/officeDocument/2006/relationships/image" Target="../media/image18.png"/><Relationship Id="rId41" Type="http://schemas.openxmlformats.org/officeDocument/2006/relationships/image" Target="../media/image39.sv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svg"/><Relationship Id="rId57" Type="http://schemas.openxmlformats.org/officeDocument/2006/relationships/image" Target="../media/image55.svg"/><Relationship Id="rId10" Type="http://schemas.openxmlformats.org/officeDocument/2006/relationships/image" Target="../media/image8.png"/><Relationship Id="rId31" Type="http://schemas.openxmlformats.org/officeDocument/2006/relationships/image" Target="../media/image29.svg"/><Relationship Id="rId44" Type="http://schemas.openxmlformats.org/officeDocument/2006/relationships/image" Target="../media/image42.png"/><Relationship Id="rId52" Type="http://schemas.openxmlformats.org/officeDocument/2006/relationships/image" Target="../media/image5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2.png"/><Relationship Id="rId7" Type="http://schemas.openxmlformats.org/officeDocument/2006/relationships/image" Target="../media/image5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3.svg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2.png"/><Relationship Id="rId7" Type="http://schemas.openxmlformats.org/officeDocument/2006/relationships/image" Target="../media/image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10" Type="http://schemas.openxmlformats.org/officeDocument/2006/relationships/image" Target="../media/image63.png"/><Relationship Id="rId4" Type="http://schemas.openxmlformats.org/officeDocument/2006/relationships/image" Target="../media/image13.svg"/><Relationship Id="rId9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2.png"/><Relationship Id="rId7" Type="http://schemas.openxmlformats.org/officeDocument/2006/relationships/image" Target="../media/image6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2.png"/><Relationship Id="rId7" Type="http://schemas.openxmlformats.org/officeDocument/2006/relationships/image" Target="../media/image6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2.png"/><Relationship Id="rId7" Type="http://schemas.openxmlformats.org/officeDocument/2006/relationships/image" Target="../media/image7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Relationship Id="rId9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2.png"/><Relationship Id="rId7" Type="http://schemas.openxmlformats.org/officeDocument/2006/relationships/image" Target="../media/image7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2.png"/><Relationship Id="rId7" Type="http://schemas.openxmlformats.org/officeDocument/2006/relationships/image" Target="../media/image7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7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4.png"/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12" Type="http://schemas.openxmlformats.org/officeDocument/2006/relationships/image" Target="../media/image8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81.png"/><Relationship Id="rId5" Type="http://schemas.openxmlformats.org/officeDocument/2006/relationships/image" Target="../media/image13.svg"/><Relationship Id="rId10" Type="http://schemas.openxmlformats.org/officeDocument/2006/relationships/image" Target="../media/image80.svg"/><Relationship Id="rId4" Type="http://schemas.openxmlformats.org/officeDocument/2006/relationships/image" Target="../media/image12.png"/><Relationship Id="rId9" Type="http://schemas.openxmlformats.org/officeDocument/2006/relationships/image" Target="../media/image7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2.svg"/><Relationship Id="rId3" Type="http://schemas.openxmlformats.org/officeDocument/2006/relationships/image" Target="../media/image12.png"/><Relationship Id="rId7" Type="http://schemas.openxmlformats.org/officeDocument/2006/relationships/image" Target="../media/image83.png"/><Relationship Id="rId12" Type="http://schemas.openxmlformats.org/officeDocument/2006/relationships/image" Target="../media/image8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80.svg"/><Relationship Id="rId5" Type="http://schemas.openxmlformats.org/officeDocument/2006/relationships/image" Target="../media/image56.png"/><Relationship Id="rId10" Type="http://schemas.openxmlformats.org/officeDocument/2006/relationships/image" Target="../media/image79.png"/><Relationship Id="rId4" Type="http://schemas.openxmlformats.org/officeDocument/2006/relationships/image" Target="../media/image13.svg"/><Relationship Id="rId9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12.png"/><Relationship Id="rId7" Type="http://schemas.openxmlformats.org/officeDocument/2006/relationships/image" Target="../media/image8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png"/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89.png"/><Relationship Id="rId5" Type="http://schemas.openxmlformats.org/officeDocument/2006/relationships/image" Target="../media/image13.svg"/><Relationship Id="rId10" Type="http://schemas.openxmlformats.org/officeDocument/2006/relationships/image" Target="../media/image87.png"/><Relationship Id="rId4" Type="http://schemas.openxmlformats.org/officeDocument/2006/relationships/image" Target="../media/image12.png"/><Relationship Id="rId9" Type="http://schemas.openxmlformats.org/officeDocument/2006/relationships/image" Target="../media/image8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12.png"/><Relationship Id="rId7" Type="http://schemas.openxmlformats.org/officeDocument/2006/relationships/image" Target="../media/image9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96.png"/><Relationship Id="rId5" Type="http://schemas.openxmlformats.org/officeDocument/2006/relationships/image" Target="../media/image56.png"/><Relationship Id="rId10" Type="http://schemas.openxmlformats.org/officeDocument/2006/relationships/image" Target="../media/image95.png"/><Relationship Id="rId4" Type="http://schemas.openxmlformats.org/officeDocument/2006/relationships/image" Target="../media/image13.svg"/><Relationship Id="rId9" Type="http://schemas.openxmlformats.org/officeDocument/2006/relationships/image" Target="../media/image9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2.png"/><Relationship Id="rId7" Type="http://schemas.openxmlformats.org/officeDocument/2006/relationships/image" Target="../media/image9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2.png"/><Relationship Id="rId7" Type="http://schemas.openxmlformats.org/officeDocument/2006/relationships/image" Target="../media/image10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12.png"/><Relationship Id="rId7" Type="http://schemas.openxmlformats.org/officeDocument/2006/relationships/image" Target="../media/image10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sv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2.png"/><Relationship Id="rId7" Type="http://schemas.openxmlformats.org/officeDocument/2006/relationships/image" Target="../media/image10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6.png"/><Relationship Id="rId4" Type="http://schemas.openxmlformats.org/officeDocument/2006/relationships/image" Target="../media/image13.sv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32" Type="http://schemas.openxmlformats.org/officeDocument/2006/relationships/image" Target="../media/image31.sv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52" Type="http://schemas.openxmlformats.org/officeDocument/2006/relationships/image" Target="../media/image51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5.svg"/><Relationship Id="rId8" Type="http://schemas.openxmlformats.org/officeDocument/2006/relationships/image" Target="../media/image7.sv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svg"/><Relationship Id="rId20" Type="http://schemas.openxmlformats.org/officeDocument/2006/relationships/image" Target="../media/image19.svg"/><Relationship Id="rId41" Type="http://schemas.openxmlformats.org/officeDocument/2006/relationships/image" Target="../media/image40.png"/><Relationship Id="rId54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>
            <a:spLocks noChangeAspect="1"/>
          </p:cNvSpPr>
          <p:nvPr/>
        </p:nvSpPr>
        <p:spPr>
          <a:xfrm>
            <a:off x="-533400" y="8159695"/>
            <a:ext cx="3536752" cy="377711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>
            <a:spLocks noChangeAspect="1"/>
          </p:cNvSpPr>
          <p:nvPr/>
        </p:nvSpPr>
        <p:spPr>
          <a:xfrm>
            <a:off x="2009311" y="8216911"/>
            <a:ext cx="2678318" cy="377711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>
            <a:spLocks noChangeAspect="1"/>
          </p:cNvSpPr>
          <p:nvPr/>
        </p:nvSpPr>
        <p:spPr>
          <a:xfrm>
            <a:off x="3528819" y="8322696"/>
            <a:ext cx="5340393" cy="377711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>
            <a:spLocks noChangeAspect="1"/>
          </p:cNvSpPr>
          <p:nvPr/>
        </p:nvSpPr>
        <p:spPr>
          <a:xfrm rot="5400000">
            <a:off x="-2279888" y="4070271"/>
            <a:ext cx="3822643" cy="4724614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>
            <a:spLocks noChangeAspect="1"/>
          </p:cNvSpPr>
          <p:nvPr/>
        </p:nvSpPr>
        <p:spPr>
          <a:xfrm rot="5400000">
            <a:off x="-2229959" y="1305353"/>
            <a:ext cx="3753923" cy="4724617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10800000">
            <a:off x="-772606" y="-1651738"/>
            <a:ext cx="2971122" cy="3826973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>
            <a:spLocks noChangeAspect="1"/>
          </p:cNvSpPr>
          <p:nvPr/>
        </p:nvSpPr>
        <p:spPr>
          <a:xfrm rot="10800000">
            <a:off x="1165817" y="-1651738"/>
            <a:ext cx="3701728" cy="3826974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>
            <a:spLocks noChangeAspect="1"/>
          </p:cNvSpPr>
          <p:nvPr/>
        </p:nvSpPr>
        <p:spPr>
          <a:xfrm rot="10800000">
            <a:off x="3332003" y="-1651738"/>
            <a:ext cx="4047760" cy="3826974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>
            <a:spLocks noChangeAspect="1"/>
          </p:cNvSpPr>
          <p:nvPr/>
        </p:nvSpPr>
        <p:spPr>
          <a:xfrm rot="10800000">
            <a:off x="5691776" y="-1651738"/>
            <a:ext cx="4595711" cy="3826974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>
            <a:spLocks noChangeAspect="1"/>
          </p:cNvSpPr>
          <p:nvPr/>
        </p:nvSpPr>
        <p:spPr>
          <a:xfrm rot="10800000">
            <a:off x="9305552" y="-1651738"/>
            <a:ext cx="2581467" cy="3826973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>
            <a:spLocks noChangeAspect="1"/>
          </p:cNvSpPr>
          <p:nvPr/>
        </p:nvSpPr>
        <p:spPr>
          <a:xfrm rot="10800000">
            <a:off x="11091378" y="-1651738"/>
            <a:ext cx="2623217" cy="3826973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>
            <a:spLocks noChangeAspect="1"/>
          </p:cNvSpPr>
          <p:nvPr/>
        </p:nvSpPr>
        <p:spPr>
          <a:xfrm rot="10800000">
            <a:off x="12835164" y="-1651738"/>
            <a:ext cx="3353821" cy="3826974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>
            <a:spLocks noChangeAspect="1"/>
          </p:cNvSpPr>
          <p:nvPr/>
        </p:nvSpPr>
        <p:spPr>
          <a:xfrm rot="10800000">
            <a:off x="14991814" y="-1651738"/>
            <a:ext cx="4278121" cy="3826974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>
            <a:spLocks noChangeAspect="1"/>
          </p:cNvSpPr>
          <p:nvPr/>
        </p:nvSpPr>
        <p:spPr>
          <a:xfrm rot="16200000">
            <a:off x="15896218" y="1860596"/>
            <a:ext cx="3616415" cy="3781423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>
            <a:spLocks noChangeAspect="1"/>
          </p:cNvSpPr>
          <p:nvPr/>
        </p:nvSpPr>
        <p:spPr>
          <a:xfrm rot="16200000">
            <a:off x="15866393" y="4881027"/>
            <a:ext cx="3753922" cy="3781423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>
            <a:spLocks noChangeAspect="1"/>
          </p:cNvSpPr>
          <p:nvPr/>
        </p:nvSpPr>
        <p:spPr>
          <a:xfrm>
            <a:off x="6913094" y="8322696"/>
            <a:ext cx="3145306" cy="377711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>
            <a:spLocks noChangeAspect="1"/>
          </p:cNvSpPr>
          <p:nvPr/>
        </p:nvSpPr>
        <p:spPr>
          <a:xfrm>
            <a:off x="8572313" y="8322696"/>
            <a:ext cx="3861363" cy="377711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>
            <a:spLocks noChangeAspect="1"/>
          </p:cNvSpPr>
          <p:nvPr/>
        </p:nvSpPr>
        <p:spPr>
          <a:xfrm>
            <a:off x="10591800" y="8322696"/>
            <a:ext cx="3777115" cy="377711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>
            <a:spLocks noChangeAspect="1"/>
          </p:cNvSpPr>
          <p:nvPr/>
        </p:nvSpPr>
        <p:spPr>
          <a:xfrm>
            <a:off x="13116607" y="8392602"/>
            <a:ext cx="4256993" cy="3777114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>
            <a:spLocks noChangeAspect="1"/>
          </p:cNvSpPr>
          <p:nvPr/>
        </p:nvSpPr>
        <p:spPr>
          <a:xfrm>
            <a:off x="15472991" y="8322696"/>
            <a:ext cx="2891209" cy="377711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393657" y="6250349"/>
            <a:ext cx="10025896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0"/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授課老師：謝易錚 </a:t>
            </a:r>
            <a:r>
              <a:rPr lang="en-US" altLang="zh-CN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(yzshieh@mail.ntust.edu.tw)</a:t>
            </a:r>
          </a:p>
          <a:p>
            <a:pPr algn="just" rtl="0"/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助</a:t>
            </a:r>
            <a:r>
              <a:rPr lang="zh-TW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         </a:t>
            </a:r>
            <a:r>
              <a:rPr lang="zh-CN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教：</a:t>
            </a:r>
            <a:r>
              <a:rPr lang="zh-TW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李易 </a:t>
            </a:r>
            <a:r>
              <a:rPr lang="en-US" altLang="zh-CN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(</a:t>
            </a:r>
            <a:r>
              <a:rPr lang="en-US" altLang="zh-TW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D11507002@mail.ntust.edu.tw)</a:t>
            </a:r>
            <a:endParaRPr lang="en-US" altLang="zh-CN" sz="3200" b="1" dirty="0">
              <a:latin typeface="Noto Sans HK DemiLight" panose="020B0200000000000000" pitchFamily="34" charset="-120"/>
              <a:ea typeface="Noto Sans HK DemiLight" panose="020B0200000000000000" pitchFamily="34" charset="-120"/>
              <a:cs typeface="Microsoft Himalaya" panose="01010100010101010101" pitchFamily="2" charset="0"/>
            </a:endParaRPr>
          </a:p>
        </p:txBody>
      </p:sp>
      <p:sp>
        <p:nvSpPr>
          <p:cNvPr id="25" name="Freeform 25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>
            <a:spLocks noChangeAspect="1"/>
          </p:cNvSpPr>
          <p:nvPr/>
        </p:nvSpPr>
        <p:spPr>
          <a:xfrm rot="5400000">
            <a:off x="1137752" y="1958600"/>
            <a:ext cx="292492" cy="292492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C6248F2-D217-4DF5-95FF-5D5709EC7E54}"/>
              </a:ext>
            </a:extLst>
          </p:cNvPr>
          <p:cNvSpPr txBox="1"/>
          <p:nvPr/>
        </p:nvSpPr>
        <p:spPr>
          <a:xfrm>
            <a:off x="2905656" y="3467942"/>
            <a:ext cx="1247668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0000" dirty="0">
                <a:solidFill>
                  <a:srgbClr val="F1A988"/>
                </a:solidFill>
                <a:latin typeface="Zen Maru Gothic Black" pitchFamily="2" charset="-120"/>
                <a:ea typeface="Zen Maru Gothic Black" pitchFamily="2" charset="-120"/>
              </a:rPr>
              <a:t>機</a:t>
            </a:r>
            <a:r>
              <a:rPr lang="zh-TW" altLang="en-US" sz="10000" dirty="0">
                <a:solidFill>
                  <a:srgbClr val="2FBCB7"/>
                </a:solidFill>
                <a:latin typeface="Zen Maru Gothic Black" pitchFamily="2" charset="-120"/>
                <a:ea typeface="Zen Maru Gothic Black" pitchFamily="2" charset="-120"/>
              </a:rPr>
              <a:t>器</a:t>
            </a:r>
            <a:r>
              <a:rPr lang="zh-TW" altLang="en-US" sz="10000" dirty="0">
                <a:solidFill>
                  <a:srgbClr val="3BADE3"/>
                </a:solidFill>
                <a:latin typeface="Zen Maru Gothic Black" pitchFamily="2" charset="-120"/>
                <a:ea typeface="Zen Maru Gothic Black" pitchFamily="2" charset="-120"/>
              </a:rPr>
              <a:t>學</a:t>
            </a:r>
            <a:r>
              <a:rPr lang="zh-TW" altLang="en-US" sz="10000" dirty="0">
                <a:solidFill>
                  <a:srgbClr val="94BC3D"/>
                </a:solidFill>
                <a:latin typeface="Zen Maru Gothic Black" pitchFamily="2" charset="-120"/>
                <a:ea typeface="Zen Maru Gothic Black" pitchFamily="2" charset="-120"/>
              </a:rPr>
              <a:t>習</a:t>
            </a:r>
            <a:r>
              <a:rPr lang="zh-TW" altLang="en-US" sz="10000" dirty="0">
                <a:solidFill>
                  <a:srgbClr val="9F2A22"/>
                </a:solidFill>
                <a:latin typeface="Zen Maru Gothic Black" pitchFamily="2" charset="-120"/>
                <a:ea typeface="Zen Maru Gothic Black" pitchFamily="2" charset="-120"/>
              </a:rPr>
              <a:t>與</a:t>
            </a:r>
            <a:r>
              <a:rPr lang="en-US" altLang="zh-TW" sz="10000" dirty="0" err="1">
                <a:solidFill>
                  <a:srgbClr val="CF8A29"/>
                </a:solidFill>
                <a:latin typeface="Lazydog"/>
              </a:rPr>
              <a:t>P</a:t>
            </a:r>
            <a:r>
              <a:rPr lang="en-US" altLang="zh-TW" sz="10000" dirty="0" err="1">
                <a:solidFill>
                  <a:srgbClr val="8D95B5"/>
                </a:solidFill>
                <a:latin typeface="Lazydog"/>
              </a:rPr>
              <a:t>y</a:t>
            </a:r>
            <a:r>
              <a:rPr lang="en-US" altLang="zh-TW" sz="10000" dirty="0" err="1">
                <a:solidFill>
                  <a:srgbClr val="5B1C14"/>
                </a:solidFill>
                <a:latin typeface="Lazydog"/>
              </a:rPr>
              <a:t>T</a:t>
            </a:r>
            <a:r>
              <a:rPr lang="en-US" altLang="zh-TW" sz="10000" dirty="0" err="1">
                <a:solidFill>
                  <a:srgbClr val="FBB116"/>
                </a:solidFill>
                <a:latin typeface="Lazydog"/>
              </a:rPr>
              <a:t>o</a:t>
            </a:r>
            <a:r>
              <a:rPr lang="en-US" altLang="zh-TW" sz="10000" dirty="0" err="1">
                <a:solidFill>
                  <a:srgbClr val="E25026"/>
                </a:solidFill>
                <a:latin typeface="Lazydog"/>
              </a:rPr>
              <a:t>r</a:t>
            </a:r>
            <a:r>
              <a:rPr lang="en-US" altLang="zh-TW" sz="10000" dirty="0" err="1">
                <a:solidFill>
                  <a:srgbClr val="BA254F"/>
                </a:solidFill>
                <a:latin typeface="Lazydog"/>
              </a:rPr>
              <a:t>c</a:t>
            </a:r>
            <a:r>
              <a:rPr lang="en-US" altLang="zh-TW" sz="10000" dirty="0" err="1">
                <a:solidFill>
                  <a:srgbClr val="4E893F"/>
                </a:solidFill>
                <a:latin typeface="Lazydog"/>
              </a:rPr>
              <a:t>h</a:t>
            </a:r>
            <a:endParaRPr lang="zh-TW" altLang="en-US" sz="10000" dirty="0">
              <a:solidFill>
                <a:srgbClr val="4E893F"/>
              </a:solidFill>
              <a:latin typeface="Lazydog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FE3CF519-886C-4654-A907-351F1F75BB62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05656" y="5272221"/>
            <a:ext cx="2162095" cy="2162095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DBDCD6E9-0F23-46D0-B26A-7A4A2B7941B7}"/>
              </a:ext>
            </a:extLst>
          </p:cNvPr>
          <p:cNvSpPr txBox="1"/>
          <p:nvPr/>
        </p:nvSpPr>
        <p:spPr>
          <a:xfrm>
            <a:off x="7321289" y="7185245"/>
            <a:ext cx="111832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柳予謀 </a:t>
            </a:r>
            <a:r>
              <a:rPr lang="en-US" altLang="zh-CN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(</a:t>
            </a:r>
            <a:r>
              <a:rPr lang="en-US" altLang="zh-TW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D11507005@mail.ntust.edu.tw</a:t>
            </a:r>
            <a:r>
              <a:rPr lang="en-US" altLang="zh-CN" sz="3200" b="1" dirty="0">
                <a:latin typeface="Noto Sans HK DemiLight" panose="020B0200000000000000" pitchFamily="34" charset="-120"/>
                <a:ea typeface="Noto Sans HK DemiLight" panose="020B0200000000000000" pitchFamily="34" charset="-120"/>
                <a:cs typeface="Microsoft Himalaya" panose="01010100010101010101" pitchFamily="2" charset="0"/>
              </a:rPr>
              <a:t>)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0475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2776" y="153439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9" y="909271"/>
            <a:ext cx="5985346" cy="108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課程說明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9" y="2294444"/>
            <a:ext cx="15392400" cy="7690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簽到點名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10%</a:t>
            </a:r>
            <a:endParaRPr lang="en-US" altLang="zh-CN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課堂作業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30%</a:t>
            </a:r>
            <a:endParaRPr lang="en-US" altLang="zh-CN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原則上每週於課堂上完成作業或課堂練習，助教檢查後即可下課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若無法現場完成者，可回家繼續撰寫，並在規定時間內繳交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課堂上完成者，分數給予加分；課堂後繳交者，越早交分數越高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期中上機考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期中程式專案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15%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（不分組）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個人程式專案，需運用課堂所學自行選定主題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另需額外預約報告時間，現場執行程式並且說明程式碼內容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期末上機考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期末程式專案 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15%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（不分組）</a:t>
            </a: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個人程式專案，需運用課堂所學自行選定主題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4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另需額外預約報告時間，現場執行程式並且說明程式碼內容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87B86B4-BCF9-49C6-9018-40501133E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92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2776" y="153439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9" y="909271"/>
            <a:ext cx="5985346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請假方式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9" y="2294444"/>
            <a:ext cx="15392400" cy="571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需要自行再 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moodle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連結中填寫表單請假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https://forms.gle/ZUXe6BfdKQbr2GU68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>
              <a:lnSpc>
                <a:spcPct val="150000"/>
              </a:lnSpc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有回覆表示收到你的請假了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>
              <a:lnSpc>
                <a:spcPct val="150000"/>
              </a:lnSpc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A12657C-4716-421B-AA26-027CFF520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3351" y="380480"/>
            <a:ext cx="5459002" cy="952603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4D4E2CD-ED9E-425A-8B3C-8D1D09CBC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60" y="4726323"/>
            <a:ext cx="10413531" cy="152369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BD3CFEF-3FDB-45C2-8F90-0EB8E5942E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038" y="5733103"/>
            <a:ext cx="761847" cy="76184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25582B4-CBC8-46F9-84C7-BF51893EE1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3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10260645" y="689239"/>
            <a:ext cx="6916250" cy="8908521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課程大綱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8" y="2294444"/>
            <a:ext cx="7221051" cy="7289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環境安裝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了解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ML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與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DL 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的差異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Regression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Loss function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MAE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MSE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Gradient Descent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2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3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10800000">
            <a:off x="-685800" y="-2817595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環境安裝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583252" cy="571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使用到的套件與環境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Python 3.10.0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Pytorch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2.2.*(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學校電腦安裝的是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CPU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版本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Matplotlib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Numpy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Opencv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152493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10800000">
            <a:off x="-685800" y="-2817595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環境安裝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8" y="2294444"/>
            <a:ext cx="7144851" cy="570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8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VScode</a:t>
            </a:r>
            <a:endParaRPr lang="en-US" altLang="zh-TW" sz="24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FBE050C-80AB-4CF9-81EA-772FF5BB3C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8698" y="3551745"/>
            <a:ext cx="8364117" cy="524900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6D370CC-3307-43A9-8228-A5AB5874E8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5484" y="298678"/>
            <a:ext cx="5601482" cy="399153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A6B8A68-0ADA-457A-BDB8-8661BFB633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05492" y="3235396"/>
            <a:ext cx="5611008" cy="400105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6487BB2-3FF3-43FA-9391-5D01D85C22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96600" y="6093453"/>
            <a:ext cx="5601482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10800000">
            <a:off x="-685800" y="-2817595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環境安裝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8" y="2294444"/>
            <a:ext cx="13698052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Python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https://www.python.org/downloads/release/python-3100/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1F3F938-F9C4-4A04-8690-DFCD523022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819" y="3960596"/>
            <a:ext cx="16066360" cy="561581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E46EAA9-93E8-4785-A28A-B94DB81B1803}"/>
              </a:ext>
            </a:extLst>
          </p:cNvPr>
          <p:cNvSpPr/>
          <p:nvPr/>
        </p:nvSpPr>
        <p:spPr>
          <a:xfrm>
            <a:off x="1371600" y="6972300"/>
            <a:ext cx="15621000" cy="609600"/>
          </a:xfrm>
          <a:prstGeom prst="rect">
            <a:avLst/>
          </a:prstGeom>
          <a:noFill/>
          <a:ln w="76200">
            <a:solidFill>
              <a:srgbClr val="E97525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239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10800000">
            <a:off x="-685800" y="-2817595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環境安裝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7" y="2294444"/>
            <a:ext cx="12650965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Pytorch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HK DemiLight" panose="020B0200000000000000" pitchFamily="34" charset="-120"/>
                <a:ea typeface="Noto Sans HK DemiLight" panose="020B0200000000000000" pitchFamily="34" charset="-120"/>
              </a:rPr>
              <a:t>https://pytorch.org/get-started/previous-versions/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0322ED8-C5A3-4F96-8DD0-BB3C06E115E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67"/>
          <a:stretch/>
        </p:blipFill>
        <p:spPr>
          <a:xfrm>
            <a:off x="2818516" y="4160579"/>
            <a:ext cx="12650965" cy="581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4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10800000">
            <a:off x="-685800" y="-2817595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環境安裝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8783CD25-3D47-4753-B965-45088A27DAB1}"/>
              </a:ext>
            </a:extLst>
          </p:cNvPr>
          <p:cNvSpPr txBox="1"/>
          <p:nvPr/>
        </p:nvSpPr>
        <p:spPr>
          <a:xfrm>
            <a:off x="2227748" y="2294444"/>
            <a:ext cx="7144851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Matplotlib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pip install matplotlib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7" name="TextBox 30">
            <a:extLst>
              <a:ext uri="{FF2B5EF4-FFF2-40B4-BE49-F238E27FC236}">
                <a16:creationId xmlns:a16="http://schemas.microsoft.com/office/drawing/2014/main" id="{C656BAD3-B1A9-45E2-A651-A64E31B74980}"/>
              </a:ext>
            </a:extLst>
          </p:cNvPr>
          <p:cNvSpPr txBox="1"/>
          <p:nvPr/>
        </p:nvSpPr>
        <p:spPr>
          <a:xfrm>
            <a:off x="2227745" y="7632251"/>
            <a:ext cx="7144851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Pandas</a:t>
            </a: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pip install pandas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9" name="TextBox 30">
            <a:extLst>
              <a:ext uri="{FF2B5EF4-FFF2-40B4-BE49-F238E27FC236}">
                <a16:creationId xmlns:a16="http://schemas.microsoft.com/office/drawing/2014/main" id="{22D9FFB7-6AA7-4A56-8ADF-764FC0C1EEF3}"/>
              </a:ext>
            </a:extLst>
          </p:cNvPr>
          <p:cNvSpPr txBox="1"/>
          <p:nvPr/>
        </p:nvSpPr>
        <p:spPr>
          <a:xfrm>
            <a:off x="2227746" y="5852982"/>
            <a:ext cx="7144851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Opencv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pip install 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opencv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-python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FE10F563-374A-4A69-B3ED-9AC3A9BBF108}"/>
              </a:ext>
            </a:extLst>
          </p:cNvPr>
          <p:cNvSpPr txBox="1"/>
          <p:nvPr/>
        </p:nvSpPr>
        <p:spPr>
          <a:xfrm>
            <a:off x="2227747" y="4073713"/>
            <a:ext cx="7144851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Numpy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pip install </a:t>
            </a:r>
            <a:r>
              <a:rPr lang="en-US" altLang="zh-TW" sz="3600" dirty="0" err="1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numpy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1CC422B6-2B6D-4A13-A6E6-D8F8D833226C}"/>
              </a:ext>
            </a:extLst>
          </p:cNvPr>
          <p:cNvSpPr txBox="1"/>
          <p:nvPr/>
        </p:nvSpPr>
        <p:spPr>
          <a:xfrm>
            <a:off x="10571649" y="2294443"/>
            <a:ext cx="7144851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最後檢查是否都有安裝到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1028700" lvl="1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pip list</a:t>
            </a:r>
            <a:endParaRPr lang="en-US" altLang="zh-TW" sz="3600" dirty="0">
              <a:solidFill>
                <a:srgbClr val="3F2619"/>
              </a:solidFill>
              <a:latin typeface="Noto Sans HK DemiLight" panose="020B0200000000000000" pitchFamily="34" charset="-120"/>
              <a:ea typeface="Noto Sans HK DemiLight" panose="020B0200000000000000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BF40084-3AC6-468E-BC80-1FAB64938B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8509" y="4408513"/>
            <a:ext cx="4791744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878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5400000">
            <a:off x="-2505373" y="-595361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6916251" cy="1083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環境測試</a:t>
            </a:r>
            <a:r>
              <a:rPr lang="en-US" altLang="zh-TW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-torch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78306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code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F00F60-0FBD-4281-ACAF-2D75CF42B5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7748" y="7846507"/>
            <a:ext cx="14741207" cy="181932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228E32E-7644-47EB-A7DA-792CD79BD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7748" y="3033593"/>
            <a:ext cx="8071255" cy="3968646"/>
          </a:xfrm>
          <a:prstGeom prst="rect">
            <a:avLst/>
          </a:prstGeom>
        </p:spPr>
      </p:pic>
      <p:sp>
        <p:nvSpPr>
          <p:cNvPr id="12" name="TextBox 30">
            <a:extLst>
              <a:ext uri="{FF2B5EF4-FFF2-40B4-BE49-F238E27FC236}">
                <a16:creationId xmlns:a16="http://schemas.microsoft.com/office/drawing/2014/main" id="{1B213290-7BE8-46EB-A468-10CAEF0AC914}"/>
              </a:ext>
            </a:extLst>
          </p:cNvPr>
          <p:cNvSpPr txBox="1"/>
          <p:nvPr/>
        </p:nvSpPr>
        <p:spPr>
          <a:xfrm>
            <a:off x="2227748" y="7113036"/>
            <a:ext cx="78306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2762058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5400000">
            <a:off x="-2505373" y="-595361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環境</a:t>
            </a:r>
            <a:r>
              <a:rPr lang="zh-TW" altLang="en-US" sz="7200" u="none" strike="noStrike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測試</a:t>
            </a:r>
            <a:r>
              <a:rPr lang="en-US" altLang="zh-TW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-</a:t>
            </a:r>
            <a:r>
              <a:rPr lang="en-US" altLang="zh-TW" sz="7200" u="none" strike="noStrike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numpy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78306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code</a:t>
            </a: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1B213290-7BE8-46EB-A468-10CAEF0AC914}"/>
              </a:ext>
            </a:extLst>
          </p:cNvPr>
          <p:cNvSpPr txBox="1"/>
          <p:nvPr/>
        </p:nvSpPr>
        <p:spPr>
          <a:xfrm>
            <a:off x="2227748" y="7113036"/>
            <a:ext cx="78306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result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8A20D8EA-5D75-4433-95AE-830B8B910F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5694" y="7846506"/>
            <a:ext cx="14293192" cy="133559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B1E00D8-C1AE-44BC-9A90-456BFF40EE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7748" y="3023887"/>
            <a:ext cx="8843667" cy="340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86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 rot="5400000">
            <a:off x="-2505373" y="-595361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8157"/>
              </a:lnSpc>
              <a:spcBef>
                <a:spcPct val="0"/>
              </a:spcBef>
            </a:pPr>
            <a:r>
              <a:rPr lang="zh-TW" altLang="en-US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環境測試</a:t>
            </a:r>
            <a:r>
              <a:rPr lang="en-US" altLang="zh-TW" sz="7200" u="none" strike="noStrike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-</a:t>
            </a:r>
            <a:r>
              <a:rPr lang="en-US" altLang="zh-TW" sz="7200" u="none" strike="noStrike" dirty="0" err="1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  <a:cs typeface="Lazydog"/>
                <a:sym typeface="Lazydog"/>
              </a:rPr>
              <a:t>opencv</a:t>
            </a:r>
            <a:endParaRPr lang="en-US" sz="7200" u="none" strike="noStrike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  <a:cs typeface="Lazydog"/>
              <a:sym typeface="Lazydog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78306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code</a:t>
            </a: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1B213290-7BE8-46EB-A468-10CAEF0AC914}"/>
              </a:ext>
            </a:extLst>
          </p:cNvPr>
          <p:cNvSpPr txBox="1"/>
          <p:nvPr/>
        </p:nvSpPr>
        <p:spPr>
          <a:xfrm>
            <a:off x="2227748" y="7113036"/>
            <a:ext cx="78306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result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709D3F-FF7E-4637-9F5F-540F1FDCB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7748" y="3023887"/>
            <a:ext cx="7943834" cy="376995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6B8E09E-D13B-4E3D-893C-B62E7DC468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7748" y="7966547"/>
            <a:ext cx="11453428" cy="73347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7A99E0F-296B-416D-9A19-1A97C8F101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83257" y="5744764"/>
            <a:ext cx="3651333" cy="420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89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239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TW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目標：用一條線抓住資料的趨勢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TW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回歸：找函數貼近特徵，輸出一個數值</a:t>
            </a: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zh-TW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線性模型：y = w·x + b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FE6A51-A8CC-4B8B-A8FB-46C0020629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0150" y="4241592"/>
            <a:ext cx="7048500" cy="523505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06949A4-781E-4DA1-BF07-9742DD877C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3600" y="4896311"/>
            <a:ext cx="6107108" cy="458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82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1564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STEP1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</a:t>
            </a:r>
            <a:b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</a:b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建立資料並且畫出來</a:t>
            </a: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06949A4-781E-4DA1-BF07-9742DD877C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4176792"/>
            <a:ext cx="6107108" cy="4580331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5C74EF1-1D1E-41E3-A947-ED0D573131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800" y="2294444"/>
            <a:ext cx="9154507" cy="764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42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STEP1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：建立模型訓練出 好的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w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、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b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參數</a:t>
            </a: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8840A5F-AEB2-43A7-999B-ACBBA445F1EC}"/>
              </a:ext>
            </a:extLst>
          </p:cNvPr>
          <p:cNvSpPr txBox="1"/>
          <p:nvPr/>
        </p:nvSpPr>
        <p:spPr>
          <a:xfrm>
            <a:off x="2321632" y="3725102"/>
            <a:ext cx="65117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Input data : x</a:t>
            </a:r>
          </a:p>
          <a:p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Output : y = 3 + 10x+random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D638199-051E-491A-804D-AC9EB06F7085}"/>
              </a:ext>
            </a:extLst>
          </p:cNvPr>
          <p:cNvSpPr txBox="1"/>
          <p:nvPr/>
        </p:nvSpPr>
        <p:spPr>
          <a:xfrm>
            <a:off x="9530850" y="8249255"/>
            <a:ext cx="3231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Linear model: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cxnSp>
        <p:nvCxnSpPr>
          <p:cNvPr id="18" name="肘形接點 9">
            <a:extLst>
              <a:ext uri="{FF2B5EF4-FFF2-40B4-BE49-F238E27FC236}">
                <a16:creationId xmlns:a16="http://schemas.microsoft.com/office/drawing/2014/main" id="{458904F0-9743-4668-9601-806554A521F2}"/>
              </a:ext>
            </a:extLst>
          </p:cNvPr>
          <p:cNvCxnSpPr>
            <a:cxnSpLocks/>
            <a:stCxn id="12" idx="2"/>
            <a:endCxn id="17" idx="1"/>
          </p:cNvCxnSpPr>
          <p:nvPr/>
        </p:nvCxnSpPr>
        <p:spPr>
          <a:xfrm rot="16200000" flipH="1">
            <a:off x="5730676" y="4772247"/>
            <a:ext cx="3646990" cy="3953358"/>
          </a:xfrm>
          <a:prstGeom prst="bentConnector2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FCA218E-459C-4A40-9160-C22E02C648A3}"/>
                  </a:ext>
                </a:extLst>
              </p:cNvPr>
              <p:cNvSpPr txBox="1"/>
              <p:nvPr/>
            </p:nvSpPr>
            <p:spPr>
              <a:xfrm>
                <a:off x="12991425" y="7901659"/>
                <a:ext cx="3310137" cy="1341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𝑦</m:t>
                      </m:r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=</m:t>
                      </m:r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𝑏</m:t>
                      </m:r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bPr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FCA218E-459C-4A40-9160-C22E02C64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1425" y="7901659"/>
                <a:ext cx="3310137" cy="13415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A9A5E7D0-1FC7-4181-A3AC-3E083D8F7F1B}"/>
              </a:ext>
            </a:extLst>
          </p:cNvPr>
          <p:cNvGrpSpPr/>
          <p:nvPr/>
        </p:nvGrpSpPr>
        <p:grpSpPr>
          <a:xfrm>
            <a:off x="6034867" y="5711960"/>
            <a:ext cx="3038606" cy="2073932"/>
            <a:chOff x="1828800" y="2093775"/>
            <a:chExt cx="1454727" cy="1978272"/>
          </a:xfrm>
          <a:solidFill>
            <a:srgbClr val="E97525"/>
          </a:solidFill>
        </p:grpSpPr>
        <p:sp>
          <p:nvSpPr>
            <p:cNvPr id="20" name="流程圖: 磁碟 19">
              <a:extLst>
                <a:ext uri="{FF2B5EF4-FFF2-40B4-BE49-F238E27FC236}">
                  <a16:creationId xmlns:a16="http://schemas.microsoft.com/office/drawing/2014/main" id="{F2576710-86D0-4ABE-B3E7-4F377FC73190}"/>
                </a:ext>
              </a:extLst>
            </p:cNvPr>
            <p:cNvSpPr/>
            <p:nvPr/>
          </p:nvSpPr>
          <p:spPr>
            <a:xfrm>
              <a:off x="1828800" y="2093775"/>
              <a:ext cx="1454727" cy="1978272"/>
            </a:xfrm>
            <a:prstGeom prst="flowChartMagneticDisk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42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BE8F6969-6CD0-4755-9C46-5D04713BA894}"/>
                </a:ext>
              </a:extLst>
            </p:cNvPr>
            <p:cNvSpPr txBox="1"/>
            <p:nvPr/>
          </p:nvSpPr>
          <p:spPr>
            <a:xfrm>
              <a:off x="2028999" y="2758804"/>
              <a:ext cx="1054330" cy="1144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rPr>
                <a:t>A set of function</a:t>
              </a:r>
              <a:endPara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0461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STEP1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：建立模型訓練出好的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w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、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b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參數</a:t>
            </a: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E555CD7-7B6B-40B0-BB7A-CF1605621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3429" y="3361518"/>
            <a:ext cx="8941141" cy="555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92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STEP2 : Goodness of Function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A27E732-F1C7-4A9B-80B9-AC56AB5DAF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200" y="3808018"/>
            <a:ext cx="3888334" cy="2916251"/>
          </a:xfrm>
          <a:prstGeom prst="rect">
            <a:avLst/>
          </a:prstGeom>
        </p:spPr>
      </p:pic>
      <p:pic>
        <p:nvPicPr>
          <p:cNvPr id="4" name="圖形 3" descr="硬幣 以實心填滿">
            <a:extLst>
              <a:ext uri="{FF2B5EF4-FFF2-40B4-BE49-F238E27FC236}">
                <a16:creationId xmlns:a16="http://schemas.microsoft.com/office/drawing/2014/main" id="{D15B021A-3B10-40EC-BE22-FE12026E96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6000" y="3283139"/>
            <a:ext cx="914400" cy="914400"/>
          </a:xfrm>
          <a:prstGeom prst="rect">
            <a:avLst/>
          </a:prstGeom>
        </p:spPr>
      </p:pic>
      <p:pic>
        <p:nvPicPr>
          <p:cNvPr id="10" name="圖形 9" descr="汽車 以實心填滿">
            <a:extLst>
              <a:ext uri="{FF2B5EF4-FFF2-40B4-BE49-F238E27FC236}">
                <a16:creationId xmlns:a16="http://schemas.microsoft.com/office/drawing/2014/main" id="{5596510B-AC0F-4044-95E9-1201A26CF8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12909" y="6252911"/>
            <a:ext cx="914400" cy="9144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37C9933-F0EC-4407-A4A1-14196A430B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63600" y="3808017"/>
            <a:ext cx="3888334" cy="2887937"/>
          </a:xfrm>
          <a:prstGeom prst="rect">
            <a:avLst/>
          </a:prstGeom>
        </p:spPr>
      </p:pic>
      <p:sp>
        <p:nvSpPr>
          <p:cNvPr id="14" name="圓角矩形 4">
            <a:extLst>
              <a:ext uri="{FF2B5EF4-FFF2-40B4-BE49-F238E27FC236}">
                <a16:creationId xmlns:a16="http://schemas.microsoft.com/office/drawing/2014/main" id="{D1C72B42-0CFB-42C4-8ED1-57BFA841BB1B}"/>
              </a:ext>
            </a:extLst>
          </p:cNvPr>
          <p:cNvSpPr/>
          <p:nvPr/>
        </p:nvSpPr>
        <p:spPr>
          <a:xfrm>
            <a:off x="7893807" y="4291865"/>
            <a:ext cx="3017520" cy="19202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Function</a:t>
            </a:r>
            <a:endParaRPr lang="zh-TW" altLang="en-US" sz="36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E08A2A8-6D5E-4848-8506-05AC4BD42457}"/>
              </a:ext>
            </a:extLst>
          </p:cNvPr>
          <p:cNvSpPr txBox="1"/>
          <p:nvPr/>
        </p:nvSpPr>
        <p:spPr>
          <a:xfrm>
            <a:off x="7834669" y="7166753"/>
            <a:ext cx="3135795" cy="8258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600" dirty="0">
                <a:solidFill>
                  <a:srgbClr val="FF0000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Loss function</a:t>
            </a:r>
            <a:endParaRPr lang="zh-TW" altLang="en-US" sz="3600" dirty="0">
              <a:solidFill>
                <a:srgbClr val="FF0000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0CB349B-17A2-469F-8604-4BB850E00684}"/>
              </a:ext>
            </a:extLst>
          </p:cNvPr>
          <p:cNvCxnSpPr>
            <a:stCxn id="9" idx="3"/>
            <a:endCxn id="14" idx="1"/>
          </p:cNvCxnSpPr>
          <p:nvPr/>
        </p:nvCxnSpPr>
        <p:spPr>
          <a:xfrm flipV="1">
            <a:off x="5241534" y="5251985"/>
            <a:ext cx="2652273" cy="14159"/>
          </a:xfrm>
          <a:prstGeom prst="straightConnector1">
            <a:avLst/>
          </a:prstGeom>
          <a:ln w="57150" cap="flat" cmpd="sng" algn="ctr">
            <a:solidFill>
              <a:srgbClr val="653C27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7B39262-D908-4D23-BCD7-E2CD48CFB213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10911327" y="5251985"/>
            <a:ext cx="2652273" cy="1"/>
          </a:xfrm>
          <a:prstGeom prst="straightConnector1">
            <a:avLst/>
          </a:prstGeom>
          <a:ln w="57150" cap="flat" cmpd="sng" algn="ctr">
            <a:solidFill>
              <a:srgbClr val="653C27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B1D2C50E-E1B6-44A1-987E-1B4630CC50FE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402567" y="6212105"/>
            <a:ext cx="0" cy="954648"/>
          </a:xfrm>
          <a:prstGeom prst="straightConnector1">
            <a:avLst/>
          </a:prstGeom>
          <a:ln w="57150" cap="flat" cmpd="sng" algn="ctr">
            <a:solidFill>
              <a:srgbClr val="653C27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BB5140D-D7C6-43AA-8099-0AA40BC56BCB}"/>
              </a:ext>
            </a:extLst>
          </p:cNvPr>
          <p:cNvSpPr txBox="1"/>
          <p:nvPr/>
        </p:nvSpPr>
        <p:spPr>
          <a:xfrm>
            <a:off x="5818892" y="8298950"/>
            <a:ext cx="71673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     </a:t>
            </a:r>
            <a:r>
              <a:rPr lang="en-US" altLang="zh-CN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MAE</a:t>
            </a:r>
            <a:r>
              <a:rPr lang="zh-CN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（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Mean Absolute Error</a:t>
            </a:r>
            <a:r>
              <a:rPr lang="zh-CN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</a:t>
            </a:r>
            <a:endParaRPr lang="en-US" altLang="zh-CN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altLang="zh-CN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MSE</a:t>
            </a:r>
            <a:r>
              <a:rPr lang="zh-CN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（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Mean Squared Error</a:t>
            </a:r>
            <a:r>
              <a:rPr lang="zh-CN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2817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1684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STEP2 : Goodness of Function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Loss</a:t>
            </a:r>
            <a:r>
              <a:rPr lang="en-US" altLang="zh-TW" sz="4200" dirty="0">
                <a:latin typeface="Times New Roman" panose="02020603050405020304" pitchFamily="18" charset="0"/>
              </a:rPr>
              <a:t> 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function L (</a:t>
            </a:r>
            <a:r>
              <a:rPr lang="en-US" altLang="zh-CN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MSE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):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FB90497-9959-406C-A6B0-98AF4B709500}"/>
                  </a:ext>
                </a:extLst>
              </p:cNvPr>
              <p:cNvSpPr txBox="1"/>
              <p:nvPr/>
            </p:nvSpPr>
            <p:spPr>
              <a:xfrm>
                <a:off x="2227748" y="4577775"/>
                <a:ext cx="5600123" cy="1571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smtClean="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d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𝑓</m:t>
                          </m:r>
                        </m:e>
                      </m:d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=</m:t>
                      </m:r>
                      <m:f>
                        <m:fPr>
                          <m:ctrlPr>
                            <a:rPr lang="en-US" altLang="zh-TW" sz="3600" i="1" smtClean="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fPr>
                        <m:num>
                          <m:r>
                            <a:rPr lang="en-US" altLang="zh-TW" sz="3600" b="0" i="1" smtClean="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b="0" i="1" smtClean="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𝑛</m:t>
                          </m:r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100</m:t>
                          </m:r>
                        </m:sup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 b="0" i="0" smtClean="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y</m:t>
                              </m:r>
                            </m:e>
                            <m:sup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−</m:t>
                          </m:r>
                          <m:r>
                            <a:rPr lang="en-US" altLang="zh-TW" sz="36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𝑓</m:t>
                          </m:r>
                          <m:r>
                            <a:rPr lang="en-US" altLang="zh-TW" sz="36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TW" sz="3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lang="en-US" altLang="zh-TW" sz="3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TW" sz="36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 </m:t>
                      </m:r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FB90497-9959-406C-A6B0-98AF4B709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748" y="4577775"/>
                <a:ext cx="5600123" cy="15711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8CEC295-1FAE-4D08-827F-D6C65711E99E}"/>
                  </a:ext>
                </a:extLst>
              </p:cNvPr>
              <p:cNvSpPr txBox="1"/>
              <p:nvPr/>
            </p:nvSpPr>
            <p:spPr>
              <a:xfrm>
                <a:off x="2216318" y="6863403"/>
                <a:ext cx="7600799" cy="1571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d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𝑤</m:t>
                          </m:r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,</m:t>
                          </m:r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𝑏</m:t>
                          </m:r>
                        </m:e>
                      </m:d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=</m:t>
                      </m:r>
                      <m:f>
                        <m:f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fPr>
                        <m:num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𝑛</m:t>
                          </m:r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100</m:t>
                          </m:r>
                        </m:sup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y</m:t>
                              </m:r>
                            </m:e>
                            <m:sup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−</m:t>
                          </m:r>
                          <m:r>
                            <a:rPr lang="en-US" altLang="zh-TW" sz="36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𝑓</m:t>
                          </m:r>
                          <m:r>
                            <a:rPr lang="en-US" altLang="zh-TW" sz="36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(</m:t>
                          </m:r>
                          <m:r>
                            <a:rPr lang="en-US" altLang="zh-TW" sz="36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𝑏</m:t>
                          </m:r>
                          <m:r>
                            <a:rPr lang="en-US" altLang="zh-TW" sz="36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+</m:t>
                          </m:r>
                          <m:r>
                            <a:rPr lang="en-US" altLang="zh-TW" sz="36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𝑤</m:t>
                          </m:r>
                          <m:r>
                            <a:rPr lang="en-US" altLang="zh-TW" sz="36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TW" sz="3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lang="en-US" altLang="zh-TW" sz="3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36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TW" sz="36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 </m:t>
                      </m:r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8CEC295-1FAE-4D08-827F-D6C65711E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318" y="6863403"/>
                <a:ext cx="7600799" cy="1571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5DE0082B-6176-4208-96A2-C7D64B3F32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4781" y="3434859"/>
            <a:ext cx="7241134" cy="5378123"/>
          </a:xfrm>
          <a:prstGeom prst="rect">
            <a:avLst/>
          </a:prstGeom>
        </p:spPr>
      </p:pic>
      <p:pic>
        <p:nvPicPr>
          <p:cNvPr id="13" name="圖形 12" descr="硬幣 以實心填滿">
            <a:extLst>
              <a:ext uri="{FF2B5EF4-FFF2-40B4-BE49-F238E27FC236}">
                <a16:creationId xmlns:a16="http://schemas.microsoft.com/office/drawing/2014/main" id="{82B95D4A-B5EC-4109-98EA-B4191406D3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83122" y="3034888"/>
            <a:ext cx="914400" cy="914400"/>
          </a:xfrm>
          <a:prstGeom prst="rect">
            <a:avLst/>
          </a:prstGeom>
        </p:spPr>
      </p:pic>
      <p:pic>
        <p:nvPicPr>
          <p:cNvPr id="14" name="圖形 13" descr="汽車 以實心填滿">
            <a:extLst>
              <a:ext uri="{FF2B5EF4-FFF2-40B4-BE49-F238E27FC236}">
                <a16:creationId xmlns:a16="http://schemas.microsoft.com/office/drawing/2014/main" id="{9A33C801-1C4D-483A-B687-940A69587C7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545410" y="83557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04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73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STEP3 : Best Function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9D7AB721-D057-45C1-83FA-668197579129}"/>
              </a:ext>
            </a:extLst>
          </p:cNvPr>
          <p:cNvGrpSpPr/>
          <p:nvPr/>
        </p:nvGrpSpPr>
        <p:grpSpPr>
          <a:xfrm>
            <a:off x="2298317" y="3485900"/>
            <a:ext cx="3038606" cy="2073932"/>
            <a:chOff x="1828800" y="2093775"/>
            <a:chExt cx="1454727" cy="1978272"/>
          </a:xfrm>
          <a:solidFill>
            <a:srgbClr val="E97525"/>
          </a:solidFill>
        </p:grpSpPr>
        <p:sp>
          <p:nvSpPr>
            <p:cNvPr id="9" name="流程圖: 磁碟 8">
              <a:extLst>
                <a:ext uri="{FF2B5EF4-FFF2-40B4-BE49-F238E27FC236}">
                  <a16:creationId xmlns:a16="http://schemas.microsoft.com/office/drawing/2014/main" id="{27F968CA-E08A-4F0D-8EDF-D7234F22A013}"/>
                </a:ext>
              </a:extLst>
            </p:cNvPr>
            <p:cNvSpPr/>
            <p:nvPr/>
          </p:nvSpPr>
          <p:spPr>
            <a:xfrm>
              <a:off x="1828800" y="2093775"/>
              <a:ext cx="1454727" cy="1978272"/>
            </a:xfrm>
            <a:prstGeom prst="flowChartMagneticDisk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42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69706ECB-09D0-48A5-B6AB-7DEDDA8DD016}"/>
                </a:ext>
              </a:extLst>
            </p:cNvPr>
            <p:cNvSpPr txBox="1"/>
            <p:nvPr/>
          </p:nvSpPr>
          <p:spPr>
            <a:xfrm>
              <a:off x="2028999" y="2758804"/>
              <a:ext cx="1054330" cy="1144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rPr>
                <a:t>A set of function</a:t>
              </a:r>
              <a:endPara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endParaRPr>
            </a:p>
          </p:txBody>
        </p:sp>
      </p:grpSp>
      <p:sp>
        <p:nvSpPr>
          <p:cNvPr id="12" name="圓角矩形 4">
            <a:extLst>
              <a:ext uri="{FF2B5EF4-FFF2-40B4-BE49-F238E27FC236}">
                <a16:creationId xmlns:a16="http://schemas.microsoft.com/office/drawing/2014/main" id="{53A1C85E-2667-4649-AA8B-AF82C0E1B5BE}"/>
              </a:ext>
            </a:extLst>
          </p:cNvPr>
          <p:cNvSpPr/>
          <p:nvPr/>
        </p:nvSpPr>
        <p:spPr>
          <a:xfrm>
            <a:off x="7635240" y="3584970"/>
            <a:ext cx="3017520" cy="19202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Best</a:t>
            </a:r>
          </a:p>
          <a:p>
            <a:pPr algn="ctr"/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Function</a:t>
            </a:r>
            <a:endParaRPr lang="zh-TW" altLang="en-US" sz="3600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7C8CFAD-DBA4-4543-AEFD-2F59959A22C0}"/>
              </a:ext>
            </a:extLst>
          </p:cNvPr>
          <p:cNvGrpSpPr/>
          <p:nvPr/>
        </p:nvGrpSpPr>
        <p:grpSpPr>
          <a:xfrm>
            <a:off x="12951077" y="3516380"/>
            <a:ext cx="3038606" cy="2073932"/>
            <a:chOff x="1828800" y="2093775"/>
            <a:chExt cx="1454727" cy="1978272"/>
          </a:xfrm>
          <a:solidFill>
            <a:srgbClr val="E97525"/>
          </a:solidFill>
        </p:grpSpPr>
        <p:sp>
          <p:nvSpPr>
            <p:cNvPr id="14" name="流程圖: 磁碟 13">
              <a:extLst>
                <a:ext uri="{FF2B5EF4-FFF2-40B4-BE49-F238E27FC236}">
                  <a16:creationId xmlns:a16="http://schemas.microsoft.com/office/drawing/2014/main" id="{B5AB8930-4B3C-4879-9B1B-87CED4393D6C}"/>
                </a:ext>
              </a:extLst>
            </p:cNvPr>
            <p:cNvSpPr/>
            <p:nvPr/>
          </p:nvSpPr>
          <p:spPr>
            <a:xfrm>
              <a:off x="1828800" y="2093775"/>
              <a:ext cx="1454727" cy="1978272"/>
            </a:xfrm>
            <a:prstGeom prst="flowChartMagneticDisk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4200" dirty="0">
                <a:latin typeface="Times New Roman" panose="02020603050405020304" pitchFamily="18" charset="0"/>
                <a:ea typeface="標楷體" panose="03000509000000000000" pitchFamily="65" charset="-12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3CC6749A-4243-4E67-96F8-78633B7F9432}"/>
                </a:ext>
              </a:extLst>
            </p:cNvPr>
            <p:cNvSpPr txBox="1"/>
            <p:nvPr/>
          </p:nvSpPr>
          <p:spPr>
            <a:xfrm>
              <a:off x="2028999" y="2758804"/>
              <a:ext cx="1054330" cy="1144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rPr>
                <a:t>Training</a:t>
              </a:r>
            </a:p>
            <a:p>
              <a:pPr algn="ctr"/>
              <a:r>
                <a: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rPr>
                <a:t>Data</a:t>
              </a:r>
              <a:endPara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endParaRPr>
            </a:p>
          </p:txBody>
        </p:sp>
      </p:grp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E4BBD98-5F96-46ED-BFC0-EA00FFFCEAF6}"/>
              </a:ext>
            </a:extLst>
          </p:cNvPr>
          <p:cNvCxnSpPr>
            <a:cxnSpLocks/>
            <a:stCxn id="9" idx="4"/>
            <a:endCxn id="12" idx="1"/>
          </p:cNvCxnSpPr>
          <p:nvPr/>
        </p:nvCxnSpPr>
        <p:spPr>
          <a:xfrm>
            <a:off x="5336923" y="4522866"/>
            <a:ext cx="2298317" cy="22224"/>
          </a:xfrm>
          <a:prstGeom prst="straightConnector1">
            <a:avLst/>
          </a:prstGeom>
          <a:ln w="57150" cap="flat" cmpd="sng" algn="ctr">
            <a:solidFill>
              <a:srgbClr val="653C27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9A153D46-64B8-44F7-B5E2-C28A00176798}"/>
              </a:ext>
            </a:extLst>
          </p:cNvPr>
          <p:cNvCxnSpPr>
            <a:cxnSpLocks/>
            <a:stCxn id="14" idx="2"/>
            <a:endCxn id="12" idx="3"/>
          </p:cNvCxnSpPr>
          <p:nvPr/>
        </p:nvCxnSpPr>
        <p:spPr>
          <a:xfrm flipH="1" flipV="1">
            <a:off x="10652760" y="4545090"/>
            <a:ext cx="2298317" cy="8256"/>
          </a:xfrm>
          <a:prstGeom prst="straightConnector1">
            <a:avLst/>
          </a:prstGeom>
          <a:ln w="57150" cap="flat" cmpd="sng" algn="ctr">
            <a:solidFill>
              <a:srgbClr val="653C27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AFE6DBB-9283-4C04-B9DB-E3796B7024C1}"/>
                  </a:ext>
                </a:extLst>
              </p:cNvPr>
              <p:cNvSpPr txBox="1"/>
              <p:nvPr/>
            </p:nvSpPr>
            <p:spPr>
              <a:xfrm>
                <a:off x="7321449" y="7693581"/>
                <a:ext cx="3645100" cy="7917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p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𝑓</m:t>
                          </m:r>
                        </m:e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∗</m:t>
                          </m:r>
                        </m:sup>
                      </m:sSup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=</m:t>
                      </m:r>
                      <m:func>
                        <m:func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3600" i="1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3600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TW" sz="3600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  <m:t>𝑓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𝐿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(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𝑓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AFE6DBB-9283-4C04-B9DB-E3796B702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449" y="7693581"/>
                <a:ext cx="3645100" cy="7917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FCCE914-1BBF-4335-8511-8D0A1956807A}"/>
                  </a:ext>
                </a:extLst>
              </p:cNvPr>
              <p:cNvSpPr txBox="1"/>
              <p:nvPr/>
            </p:nvSpPr>
            <p:spPr>
              <a:xfrm>
                <a:off x="6709583" y="8853194"/>
                <a:ext cx="4868832" cy="7636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p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∗</m:t>
                          </m:r>
                        </m:sup>
                      </m:sSup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,</m:t>
                      </m:r>
                      <m:sSup>
                        <m:sSup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p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∗</m:t>
                          </m:r>
                        </m:sup>
                      </m:sSup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=</m:t>
                      </m:r>
                      <m:func>
                        <m:func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3600" i="1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3600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TW" sz="3600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  <m:t>𝑤</m:t>
                                  </m:r>
                                  <m:r>
                                    <a:rPr lang="en-US" altLang="zh-TW" sz="3600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  <m:t>,</m:t>
                                  </m:r>
                                  <m:r>
                                    <a:rPr lang="en-US" altLang="zh-TW" sz="3600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  <m:t>𝑏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𝐿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(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𝑤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,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𝑏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3FCCE914-1BBF-4335-8511-8D0A19568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583" y="8853194"/>
                <a:ext cx="4868832" cy="7636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66E914BE-4CAF-43BB-B220-80996D2DC24F}"/>
              </a:ext>
            </a:extLst>
          </p:cNvPr>
          <p:cNvSpPr txBox="1"/>
          <p:nvPr/>
        </p:nvSpPr>
        <p:spPr>
          <a:xfrm>
            <a:off x="7144093" y="6327543"/>
            <a:ext cx="3999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Gradient Descent</a:t>
            </a:r>
            <a:endParaRPr lang="zh-TW" altLang="en-US" sz="3600" dirty="0">
              <a:solidFill>
                <a:srgbClr val="FF0000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C06E4580-B6B2-400A-AC3E-9EF069E2DB20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>
            <a:off x="9144000" y="5505210"/>
            <a:ext cx="0" cy="822333"/>
          </a:xfrm>
          <a:prstGeom prst="straightConnector1">
            <a:avLst/>
          </a:prstGeom>
          <a:ln w="57150" cap="flat" cmpd="sng" algn="ctr">
            <a:solidFill>
              <a:srgbClr val="653C27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445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3545652" cy="4057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STEP3 : Best Function</a:t>
            </a:r>
          </a:p>
          <a:p>
            <a:pPr marL="742950" lvl="1" indent="-2857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Consider loss function L(w) with one parameter w:</a:t>
            </a:r>
            <a:endParaRPr lang="zh-TW" altLang="en-US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1B47947-8797-4FCE-BFFC-8C7041388A5A}"/>
                  </a:ext>
                </a:extLst>
              </p:cNvPr>
              <p:cNvSpPr txBox="1"/>
              <p:nvPr/>
            </p:nvSpPr>
            <p:spPr>
              <a:xfrm>
                <a:off x="12206514" y="3768275"/>
                <a:ext cx="3821431" cy="7208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p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∗</m:t>
                          </m:r>
                        </m:sup>
                      </m:sSup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=</m:t>
                      </m:r>
                      <m:func>
                        <m:func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3600" i="1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3600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zh-TW" sz="3600">
                                      <a:solidFill>
                                        <a:srgbClr val="3F2619"/>
                                      </a:solidFill>
                                      <a:latin typeface="Cambria Math" panose="02040503050406030204" pitchFamily="18" charset="0"/>
                                      <a:ea typeface="Noto Sans SC Medium" panose="020B0200000000000000" pitchFamily="34" charset="-128"/>
                                    </a:rPr>
                                    <m:t>𝑤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𝐿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(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𝑤</m:t>
                              </m:r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1B47947-8797-4FCE-BFFC-8C7041388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6514" y="3768275"/>
                <a:ext cx="3821431" cy="7208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2475358-B597-4CA1-8E96-9BC69E5866BE}"/>
              </a:ext>
            </a:extLst>
          </p:cNvPr>
          <p:cNvCxnSpPr>
            <a:cxnSpLocks/>
          </p:cNvCxnSpPr>
          <p:nvPr/>
        </p:nvCxnSpPr>
        <p:spPr>
          <a:xfrm flipV="1">
            <a:off x="3553808" y="4009421"/>
            <a:ext cx="0" cy="5653277"/>
          </a:xfrm>
          <a:prstGeom prst="straightConnector1">
            <a:avLst/>
          </a:prstGeom>
          <a:ln w="57150">
            <a:solidFill>
              <a:srgbClr val="653C2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14E1C9CB-4BA2-429C-88C8-3B0D3E28DED5}"/>
              </a:ext>
            </a:extLst>
          </p:cNvPr>
          <p:cNvCxnSpPr>
            <a:cxnSpLocks/>
          </p:cNvCxnSpPr>
          <p:nvPr/>
        </p:nvCxnSpPr>
        <p:spPr>
          <a:xfrm>
            <a:off x="2433878" y="8807027"/>
            <a:ext cx="14863522" cy="0"/>
          </a:xfrm>
          <a:prstGeom prst="straightConnector1">
            <a:avLst/>
          </a:prstGeom>
          <a:ln w="57150">
            <a:solidFill>
              <a:srgbClr val="653C2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C89E791-637C-4D23-B140-249AF719429A}"/>
                  </a:ext>
                </a:extLst>
              </p:cNvPr>
              <p:cNvSpPr txBox="1"/>
              <p:nvPr/>
            </p:nvSpPr>
            <p:spPr>
              <a:xfrm>
                <a:off x="6135319" y="3787310"/>
                <a:ext cx="5587748" cy="1467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-428625">
                  <a:buFont typeface="Wingdings" panose="05000000000000000000" pitchFamily="2" charset="2"/>
                  <a:buChar char="Ø"/>
                </a:pPr>
                <a:r>
                  <a:rPr lang="en-US" altLang="zh-TW" sz="3600" dirty="0">
                    <a:solidFill>
                      <a:srgbClr val="3F2619"/>
                    </a:solidFill>
                    <a:latin typeface="Noto Sans SC Medium" panose="020B0200000000000000" pitchFamily="34" charset="-128"/>
                    <a:ea typeface="Noto Sans SC Medium" panose="020B0200000000000000" pitchFamily="34" charset="-128"/>
                  </a:rPr>
                  <a:t>Pick an initial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3600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  <m:t>w</m:t>
                        </m:r>
                      </m:e>
                      <m:sup>
                        <m:r>
                          <a:rPr lang="en-US" altLang="zh-TW" sz="3600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  <m:t>0</m:t>
                        </m:r>
                      </m:sup>
                    </m:sSup>
                  </m:oMath>
                </a14:m>
                <a:endPara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  <a:p>
                <a:pPr indent="-428625">
                  <a:buFont typeface="Wingdings" panose="05000000000000000000" pitchFamily="2" charset="2"/>
                  <a:buChar char="Ø"/>
                </a:pPr>
                <a:r>
                  <a:rPr lang="en-US" altLang="zh-TW" sz="3600" dirty="0">
                    <a:solidFill>
                      <a:srgbClr val="3F2619"/>
                    </a:solidFill>
                    <a:latin typeface="Noto Sans SC Medium" panose="020B0200000000000000" pitchFamily="34" charset="-128"/>
                    <a:ea typeface="Noto Sans SC Medium" panose="020B0200000000000000" pitchFamily="34" charset="-128"/>
                  </a:rPr>
                  <a:t>Compute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3600" i="1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</m:ctrlPr>
                      </m:fPr>
                      <m:num>
                        <m:r>
                          <a:rPr lang="en-US" altLang="zh-TW" sz="3600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  <m:t>𝑑𝐿</m:t>
                        </m:r>
                      </m:num>
                      <m:den>
                        <m:r>
                          <a:rPr lang="en-US" altLang="zh-TW" sz="3600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  <m:t>𝑑𝑤</m:t>
                        </m:r>
                      </m:den>
                    </m:f>
                    <m:sSub>
                      <m:sSubPr>
                        <m:ctrlPr>
                          <a:rPr lang="en-US" altLang="zh-TW" sz="3600" i="1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</m:ctrlPr>
                      </m:sSubPr>
                      <m:e>
                        <m:r>
                          <a:rPr lang="en-US" altLang="zh-TW" sz="3600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  <m:t>|</m:t>
                        </m:r>
                      </m:e>
                      <m:sub>
                        <m:r>
                          <a:rPr lang="en-US" altLang="zh-TW" sz="3600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  <m:t>𝑤</m:t>
                        </m:r>
                        <m:r>
                          <a:rPr lang="en-US" altLang="zh-TW" sz="3600">
                            <a:solidFill>
                              <a:srgbClr val="3F2619"/>
                            </a:solidFill>
                            <a:latin typeface="Cambria Math" panose="02040503050406030204" pitchFamily="18" charset="0"/>
                            <a:ea typeface="Noto Sans SC Medium" panose="020B0200000000000000" pitchFamily="34" charset="-128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3600" i="1">
                                <a:solidFill>
                                  <a:srgbClr val="3F2619"/>
                                </a:solidFill>
                                <a:latin typeface="Cambria Math" panose="02040503050406030204" pitchFamily="18" charset="0"/>
                                <a:ea typeface="Noto Sans SC Medium" panose="020B0200000000000000" pitchFamily="34" charset="-128"/>
                              </a:rPr>
                            </m:ctrlPr>
                          </m:sSupPr>
                          <m:e>
                            <m:r>
                              <a:rPr lang="en-US" altLang="zh-TW" sz="3600">
                                <a:solidFill>
                                  <a:srgbClr val="3F2619"/>
                                </a:solidFill>
                                <a:latin typeface="Cambria Math" panose="02040503050406030204" pitchFamily="18" charset="0"/>
                                <a:ea typeface="Noto Sans SC Medium" panose="020B0200000000000000" pitchFamily="34" charset="-128"/>
                              </a:rPr>
                              <m:t>𝑤</m:t>
                            </m:r>
                          </m:e>
                          <m:sup>
                            <m:r>
                              <a:rPr lang="en-US" altLang="zh-TW" sz="3600">
                                <a:solidFill>
                                  <a:srgbClr val="3F2619"/>
                                </a:solidFill>
                                <a:latin typeface="Cambria Math" panose="02040503050406030204" pitchFamily="18" charset="0"/>
                                <a:ea typeface="Noto Sans SC Medium" panose="020B0200000000000000" pitchFamily="34" charset="-128"/>
                              </a:rPr>
                              <m:t>0</m:t>
                            </m:r>
                          </m:sup>
                        </m:sSup>
                      </m:sub>
                    </m:sSub>
                  </m:oMath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C89E791-637C-4D23-B140-249AF7194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319" y="3787310"/>
                <a:ext cx="5587748" cy="1467261"/>
              </a:xfrm>
              <a:prstGeom prst="rect">
                <a:avLst/>
              </a:prstGeom>
              <a:blipFill>
                <a:blip r:embed="rId10"/>
                <a:stretch>
                  <a:fillRect l="-2944" t="-6224" b="-4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445A374-4C8A-4FE0-A60A-F0DD66051818}"/>
                  </a:ext>
                </a:extLst>
              </p:cNvPr>
              <p:cNvSpPr txBox="1"/>
              <p:nvPr/>
            </p:nvSpPr>
            <p:spPr>
              <a:xfrm>
                <a:off x="1905000" y="3183950"/>
                <a:ext cx="12817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>
                    <a:solidFill>
                      <a:srgbClr val="3F2619"/>
                    </a:solidFill>
                    <a:latin typeface="Noto Sans SC Medium" panose="020B0200000000000000" pitchFamily="34" charset="-128"/>
                    <a:ea typeface="Noto Sans SC Medium" panose="020B0200000000000000" pitchFamily="34" charset="-128"/>
                  </a:rPr>
                  <a:t>Loss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445A374-4C8A-4FE0-A60A-F0DD66051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183950"/>
                <a:ext cx="1281761" cy="1200329"/>
              </a:xfrm>
              <a:prstGeom prst="rect">
                <a:avLst/>
              </a:prstGeom>
              <a:blipFill>
                <a:blip r:embed="rId11"/>
                <a:stretch>
                  <a:fillRect l="-14762" t="-7614" r="-47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45D8E16-5217-4021-A815-85C8913F230C}"/>
                  </a:ext>
                </a:extLst>
              </p:cNvPr>
              <p:cNvSpPr txBox="1"/>
              <p:nvPr/>
            </p:nvSpPr>
            <p:spPr>
              <a:xfrm>
                <a:off x="4566086" y="8953638"/>
                <a:ext cx="777392" cy="566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p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45D8E16-5217-4021-A815-85C8913F2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086" y="8953638"/>
                <a:ext cx="777392" cy="5665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E35EEF87-D349-45C9-B68C-19B0D0070E53}"/>
              </a:ext>
            </a:extLst>
          </p:cNvPr>
          <p:cNvCxnSpPr>
            <a:cxnSpLocks/>
          </p:cNvCxnSpPr>
          <p:nvPr/>
        </p:nvCxnSpPr>
        <p:spPr>
          <a:xfrm>
            <a:off x="4804129" y="5597569"/>
            <a:ext cx="0" cy="3101860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>
            <a:extLst>
              <a:ext uri="{FF2B5EF4-FFF2-40B4-BE49-F238E27FC236}">
                <a16:creationId xmlns:a16="http://schemas.microsoft.com/office/drawing/2014/main" id="{59470C66-98F1-4CDC-A07A-2CC15C880676}"/>
              </a:ext>
            </a:extLst>
          </p:cNvPr>
          <p:cNvSpPr/>
          <p:nvPr/>
        </p:nvSpPr>
        <p:spPr>
          <a:xfrm>
            <a:off x="4697750" y="8699429"/>
            <a:ext cx="294592" cy="2249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sp>
        <p:nvSpPr>
          <p:cNvPr id="19" name="手繪多邊形: 圖案 28">
            <a:extLst>
              <a:ext uri="{FF2B5EF4-FFF2-40B4-BE49-F238E27FC236}">
                <a16:creationId xmlns:a16="http://schemas.microsoft.com/office/drawing/2014/main" id="{D957BB28-8694-4431-AD49-1B14C892721B}"/>
              </a:ext>
            </a:extLst>
          </p:cNvPr>
          <p:cNvSpPr/>
          <p:nvPr/>
        </p:nvSpPr>
        <p:spPr>
          <a:xfrm>
            <a:off x="2981426" y="2661550"/>
            <a:ext cx="12155469" cy="5872971"/>
          </a:xfrm>
          <a:custGeom>
            <a:avLst/>
            <a:gdLst>
              <a:gd name="connsiteX0" fmla="*/ 0 w 8279934"/>
              <a:gd name="connsiteY0" fmla="*/ 0 h 4412611"/>
              <a:gd name="connsiteX1" fmla="*/ 1241570 w 8279934"/>
              <a:gd name="connsiteY1" fmla="*/ 2130804 h 4412611"/>
              <a:gd name="connsiteX2" fmla="*/ 3850546 w 8279934"/>
              <a:gd name="connsiteY2" fmla="*/ 2768367 h 4412611"/>
              <a:gd name="connsiteX3" fmla="*/ 5108895 w 8279934"/>
              <a:gd name="connsiteY3" fmla="*/ 3808602 h 4412611"/>
              <a:gd name="connsiteX4" fmla="*/ 5931016 w 8279934"/>
              <a:gd name="connsiteY4" fmla="*/ 2810312 h 4412611"/>
              <a:gd name="connsiteX5" fmla="*/ 6258187 w 8279934"/>
              <a:gd name="connsiteY5" fmla="*/ 2130804 h 4412611"/>
              <a:gd name="connsiteX6" fmla="*/ 7038363 w 8279934"/>
              <a:gd name="connsiteY6" fmla="*/ 4412609 h 4412611"/>
              <a:gd name="connsiteX7" fmla="*/ 7768205 w 8279934"/>
              <a:gd name="connsiteY7" fmla="*/ 2114026 h 4412611"/>
              <a:gd name="connsiteX8" fmla="*/ 8279934 w 8279934"/>
              <a:gd name="connsiteY8" fmla="*/ 3187816 h 4412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9934" h="4412611">
                <a:moveTo>
                  <a:pt x="0" y="0"/>
                </a:moveTo>
                <a:cubicBezTo>
                  <a:pt x="299906" y="834705"/>
                  <a:pt x="599812" y="1669410"/>
                  <a:pt x="1241570" y="2130804"/>
                </a:cubicBezTo>
                <a:cubicBezTo>
                  <a:pt x="1883328" y="2592198"/>
                  <a:pt x="3205992" y="2488734"/>
                  <a:pt x="3850546" y="2768367"/>
                </a:cubicBezTo>
                <a:cubicBezTo>
                  <a:pt x="4495100" y="3048000"/>
                  <a:pt x="4762150" y="3801611"/>
                  <a:pt x="5108895" y="3808602"/>
                </a:cubicBezTo>
                <a:cubicBezTo>
                  <a:pt x="5455640" y="3815593"/>
                  <a:pt x="5739467" y="3089945"/>
                  <a:pt x="5931016" y="2810312"/>
                </a:cubicBezTo>
                <a:cubicBezTo>
                  <a:pt x="6122565" y="2530679"/>
                  <a:pt x="6073629" y="1863755"/>
                  <a:pt x="6258187" y="2130804"/>
                </a:cubicBezTo>
                <a:cubicBezTo>
                  <a:pt x="6442745" y="2397853"/>
                  <a:pt x="6786693" y="4415405"/>
                  <a:pt x="7038363" y="4412609"/>
                </a:cubicBezTo>
                <a:cubicBezTo>
                  <a:pt x="7290033" y="4409813"/>
                  <a:pt x="7561276" y="2318158"/>
                  <a:pt x="7768205" y="2114026"/>
                </a:cubicBezTo>
                <a:cubicBezTo>
                  <a:pt x="7975134" y="1909894"/>
                  <a:pt x="8127534" y="2548855"/>
                  <a:pt x="8279934" y="3187816"/>
                </a:cubicBezTo>
              </a:path>
            </a:pathLst>
          </a:cu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8CC8D5B2-82ED-4E9E-8122-79E307D5CE31}"/>
              </a:ext>
            </a:extLst>
          </p:cNvPr>
          <p:cNvCxnSpPr>
            <a:cxnSpLocks/>
          </p:cNvCxnSpPr>
          <p:nvPr/>
        </p:nvCxnSpPr>
        <p:spPr>
          <a:xfrm>
            <a:off x="3768025" y="4786058"/>
            <a:ext cx="2072209" cy="1489625"/>
          </a:xfrm>
          <a:prstGeom prst="line">
            <a:avLst/>
          </a:prstGeom>
          <a:ln w="571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4FFA14A-5AB4-41CC-B305-2AFE74C509EB}"/>
              </a:ext>
            </a:extLst>
          </p:cNvPr>
          <p:cNvCxnSpPr>
            <a:cxnSpLocks/>
            <a:endCxn id="19" idx="1"/>
          </p:cNvCxnSpPr>
          <p:nvPr/>
        </p:nvCxnSpPr>
        <p:spPr>
          <a:xfrm flipH="1">
            <a:off x="4804130" y="3996479"/>
            <a:ext cx="1202346" cy="150106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7921982-C382-4558-AB28-228F27F0F49C}"/>
                  </a:ext>
                </a:extLst>
              </p:cNvPr>
              <p:cNvSpPr txBox="1"/>
              <p:nvPr/>
            </p:nvSpPr>
            <p:spPr>
              <a:xfrm>
                <a:off x="17297400" y="8530028"/>
                <a:ext cx="56143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𝑊</m:t>
                      </m:r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7921982-C382-4558-AB28-228F27F0F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400" y="8530028"/>
                <a:ext cx="561436" cy="5539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9367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3545652" cy="14829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STEP3 : Best Function</a:t>
            </a:r>
          </a:p>
          <a:p>
            <a:pPr marL="742950" lvl="1" indent="-285750"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2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Add learning rate</a:t>
            </a:r>
            <a:endParaRPr lang="zh-TW" altLang="zh-TW" sz="32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E225638A-5428-4757-988B-82E691C5D94B}"/>
              </a:ext>
            </a:extLst>
          </p:cNvPr>
          <p:cNvCxnSpPr>
            <a:cxnSpLocks/>
          </p:cNvCxnSpPr>
          <p:nvPr/>
        </p:nvCxnSpPr>
        <p:spPr>
          <a:xfrm>
            <a:off x="2433878" y="8807027"/>
            <a:ext cx="14863522" cy="0"/>
          </a:xfrm>
          <a:prstGeom prst="straightConnector1">
            <a:avLst/>
          </a:prstGeom>
          <a:ln w="57150">
            <a:solidFill>
              <a:srgbClr val="653C2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2475358-B597-4CA1-8E96-9BC69E5866BE}"/>
              </a:ext>
            </a:extLst>
          </p:cNvPr>
          <p:cNvCxnSpPr>
            <a:cxnSpLocks/>
          </p:cNvCxnSpPr>
          <p:nvPr/>
        </p:nvCxnSpPr>
        <p:spPr>
          <a:xfrm flipV="1">
            <a:off x="3553808" y="4009421"/>
            <a:ext cx="0" cy="5653277"/>
          </a:xfrm>
          <a:prstGeom prst="straightConnector1">
            <a:avLst/>
          </a:prstGeom>
          <a:ln w="57150">
            <a:solidFill>
              <a:srgbClr val="653C27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445A374-4C8A-4FE0-A60A-F0DD66051818}"/>
                  </a:ext>
                </a:extLst>
              </p:cNvPr>
              <p:cNvSpPr txBox="1"/>
              <p:nvPr/>
            </p:nvSpPr>
            <p:spPr>
              <a:xfrm>
                <a:off x="1905000" y="3178991"/>
                <a:ext cx="128176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600" dirty="0">
                    <a:solidFill>
                      <a:srgbClr val="3F2619"/>
                    </a:solidFill>
                    <a:latin typeface="Noto Sans SC Medium" panose="020B0200000000000000" pitchFamily="34" charset="-128"/>
                    <a:ea typeface="Noto Sans SC Medium" panose="020B0200000000000000" pitchFamily="34" charset="-128"/>
                  </a:rPr>
                  <a:t>Loss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altLang="zh-TW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445A374-4C8A-4FE0-A60A-F0DD66051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178991"/>
                <a:ext cx="1281761" cy="1200329"/>
              </a:xfrm>
              <a:prstGeom prst="rect">
                <a:avLst/>
              </a:prstGeom>
              <a:blipFill>
                <a:blip r:embed="rId7"/>
                <a:stretch>
                  <a:fillRect l="-14762" t="-7614" r="-47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54DAEE2-BB0E-46C1-B566-6E42A69784B5}"/>
                  </a:ext>
                </a:extLst>
              </p:cNvPr>
              <p:cNvSpPr txBox="1"/>
              <p:nvPr/>
            </p:nvSpPr>
            <p:spPr>
              <a:xfrm>
                <a:off x="17296834" y="8520715"/>
                <a:ext cx="56143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𝑊</m:t>
                      </m:r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54DAEE2-BB0E-46C1-B566-6E42A6978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6834" y="8520715"/>
                <a:ext cx="561436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45D8E16-5217-4021-A815-85C8913F230C}"/>
                  </a:ext>
                </a:extLst>
              </p:cNvPr>
              <p:cNvSpPr txBox="1"/>
              <p:nvPr/>
            </p:nvSpPr>
            <p:spPr>
              <a:xfrm>
                <a:off x="4490326" y="8939431"/>
                <a:ext cx="777392" cy="566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p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45D8E16-5217-4021-A815-85C8913F2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326" y="8939431"/>
                <a:ext cx="777392" cy="5665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E35EEF87-D349-45C9-B68C-19B0D0070E53}"/>
              </a:ext>
            </a:extLst>
          </p:cNvPr>
          <p:cNvCxnSpPr>
            <a:cxnSpLocks/>
          </p:cNvCxnSpPr>
          <p:nvPr/>
        </p:nvCxnSpPr>
        <p:spPr>
          <a:xfrm>
            <a:off x="4804129" y="5592610"/>
            <a:ext cx="0" cy="3017844"/>
          </a:xfrm>
          <a:prstGeom prst="line">
            <a:avLst/>
          </a:prstGeom>
          <a:ln w="5715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>
            <a:extLst>
              <a:ext uri="{FF2B5EF4-FFF2-40B4-BE49-F238E27FC236}">
                <a16:creationId xmlns:a16="http://schemas.microsoft.com/office/drawing/2014/main" id="{59470C66-98F1-4CDC-A07A-2CC15C880676}"/>
              </a:ext>
            </a:extLst>
          </p:cNvPr>
          <p:cNvSpPr/>
          <p:nvPr/>
        </p:nvSpPr>
        <p:spPr>
          <a:xfrm>
            <a:off x="4621990" y="8685222"/>
            <a:ext cx="294592" cy="2249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sp>
        <p:nvSpPr>
          <p:cNvPr id="19" name="手繪多邊形: 圖案 28">
            <a:extLst>
              <a:ext uri="{FF2B5EF4-FFF2-40B4-BE49-F238E27FC236}">
                <a16:creationId xmlns:a16="http://schemas.microsoft.com/office/drawing/2014/main" id="{D957BB28-8694-4431-AD49-1B14C892721B}"/>
              </a:ext>
            </a:extLst>
          </p:cNvPr>
          <p:cNvSpPr/>
          <p:nvPr/>
        </p:nvSpPr>
        <p:spPr>
          <a:xfrm>
            <a:off x="2981426" y="2656591"/>
            <a:ext cx="12155469" cy="5872971"/>
          </a:xfrm>
          <a:custGeom>
            <a:avLst/>
            <a:gdLst>
              <a:gd name="connsiteX0" fmla="*/ 0 w 8279934"/>
              <a:gd name="connsiteY0" fmla="*/ 0 h 4412611"/>
              <a:gd name="connsiteX1" fmla="*/ 1241570 w 8279934"/>
              <a:gd name="connsiteY1" fmla="*/ 2130804 h 4412611"/>
              <a:gd name="connsiteX2" fmla="*/ 3850546 w 8279934"/>
              <a:gd name="connsiteY2" fmla="*/ 2768367 h 4412611"/>
              <a:gd name="connsiteX3" fmla="*/ 5108895 w 8279934"/>
              <a:gd name="connsiteY3" fmla="*/ 3808602 h 4412611"/>
              <a:gd name="connsiteX4" fmla="*/ 5931016 w 8279934"/>
              <a:gd name="connsiteY4" fmla="*/ 2810312 h 4412611"/>
              <a:gd name="connsiteX5" fmla="*/ 6258187 w 8279934"/>
              <a:gd name="connsiteY5" fmla="*/ 2130804 h 4412611"/>
              <a:gd name="connsiteX6" fmla="*/ 7038363 w 8279934"/>
              <a:gd name="connsiteY6" fmla="*/ 4412609 h 4412611"/>
              <a:gd name="connsiteX7" fmla="*/ 7768205 w 8279934"/>
              <a:gd name="connsiteY7" fmla="*/ 2114026 h 4412611"/>
              <a:gd name="connsiteX8" fmla="*/ 8279934 w 8279934"/>
              <a:gd name="connsiteY8" fmla="*/ 3187816 h 4412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9934" h="4412611">
                <a:moveTo>
                  <a:pt x="0" y="0"/>
                </a:moveTo>
                <a:cubicBezTo>
                  <a:pt x="299906" y="834705"/>
                  <a:pt x="599812" y="1669410"/>
                  <a:pt x="1241570" y="2130804"/>
                </a:cubicBezTo>
                <a:cubicBezTo>
                  <a:pt x="1883328" y="2592198"/>
                  <a:pt x="3205992" y="2488734"/>
                  <a:pt x="3850546" y="2768367"/>
                </a:cubicBezTo>
                <a:cubicBezTo>
                  <a:pt x="4495100" y="3048000"/>
                  <a:pt x="4762150" y="3801611"/>
                  <a:pt x="5108895" y="3808602"/>
                </a:cubicBezTo>
                <a:cubicBezTo>
                  <a:pt x="5455640" y="3815593"/>
                  <a:pt x="5739467" y="3089945"/>
                  <a:pt x="5931016" y="2810312"/>
                </a:cubicBezTo>
                <a:cubicBezTo>
                  <a:pt x="6122565" y="2530679"/>
                  <a:pt x="6073629" y="1863755"/>
                  <a:pt x="6258187" y="2130804"/>
                </a:cubicBezTo>
                <a:cubicBezTo>
                  <a:pt x="6442745" y="2397853"/>
                  <a:pt x="6786693" y="4415405"/>
                  <a:pt x="7038363" y="4412609"/>
                </a:cubicBezTo>
                <a:cubicBezTo>
                  <a:pt x="7290033" y="4409813"/>
                  <a:pt x="7561276" y="2318158"/>
                  <a:pt x="7768205" y="2114026"/>
                </a:cubicBezTo>
                <a:cubicBezTo>
                  <a:pt x="7975134" y="1909894"/>
                  <a:pt x="8127534" y="2548855"/>
                  <a:pt x="8279934" y="3187816"/>
                </a:cubicBezTo>
              </a:path>
            </a:pathLst>
          </a:cu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8CC8D5B2-82ED-4E9E-8122-79E307D5CE31}"/>
              </a:ext>
            </a:extLst>
          </p:cNvPr>
          <p:cNvCxnSpPr>
            <a:cxnSpLocks/>
          </p:cNvCxnSpPr>
          <p:nvPr/>
        </p:nvCxnSpPr>
        <p:spPr>
          <a:xfrm>
            <a:off x="3768025" y="4781099"/>
            <a:ext cx="2072209" cy="1489625"/>
          </a:xfrm>
          <a:prstGeom prst="line">
            <a:avLst/>
          </a:prstGeom>
          <a:ln w="571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4B115D99-1F82-4480-B005-953F5F2FECE4}"/>
                  </a:ext>
                </a:extLst>
              </p:cNvPr>
              <p:cNvSpPr txBox="1"/>
              <p:nvPr/>
            </p:nvSpPr>
            <p:spPr>
              <a:xfrm>
                <a:off x="7036277" y="4176084"/>
                <a:ext cx="4590487" cy="105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p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1</m:t>
                          </m:r>
                        </m:sup>
                      </m:sSup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←</m:t>
                      </m:r>
                      <m:sSup>
                        <m:sSup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p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0</m:t>
                          </m:r>
                        </m:sup>
                      </m:sSup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−</m:t>
                      </m:r>
                      <m:r>
                        <a:rPr lang="zh-TW" altLang="en-US" sz="36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𝜂</m:t>
                      </m:r>
                      <m:f>
                        <m:f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fPr>
                        <m:num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b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|</m:t>
                          </m:r>
                        </m:e>
                        <m:sub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𝑤</m:t>
                          </m:r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4B115D99-1F82-4480-B005-953F5F2F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277" y="4176084"/>
                <a:ext cx="4590487" cy="10518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61F5863-1BEC-43F7-98A2-12C2EF83E929}"/>
              </a:ext>
            </a:extLst>
          </p:cNvPr>
          <p:cNvCxnSpPr>
            <a:cxnSpLocks/>
          </p:cNvCxnSpPr>
          <p:nvPr/>
        </p:nvCxnSpPr>
        <p:spPr>
          <a:xfrm>
            <a:off x="4916582" y="8610454"/>
            <a:ext cx="196768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83CDDFA-87DF-4E89-9FD8-6CE80EF2E449}"/>
                  </a:ext>
                </a:extLst>
              </p:cNvPr>
              <p:cNvSpPr/>
              <p:nvPr/>
            </p:nvSpPr>
            <p:spPr>
              <a:xfrm>
                <a:off x="5840234" y="8998190"/>
                <a:ext cx="2777620" cy="1144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>
                          <a:solidFill>
                            <a:srgbClr val="3F2619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−</m:t>
                      </m:r>
                      <m:r>
                        <a:rPr lang="zh-TW" altLang="en-US" sz="36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Noto Sans SC Medium" panose="020B0200000000000000" pitchFamily="34" charset="-128"/>
                        </a:rPr>
                        <m:t>𝜂</m:t>
                      </m:r>
                      <m:f>
                        <m:f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fPr>
                        <m:num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𝑑𝐿</m:t>
                          </m:r>
                        </m:num>
                        <m:den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𝑑𝑤</m:t>
                          </m:r>
                        </m:den>
                      </m:f>
                      <m:sSub>
                        <m:sSubPr>
                          <m:ctrlPr>
                            <a:rPr lang="en-US" altLang="zh-TW" sz="3600" i="1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</m:ctrlPr>
                        </m:sSubPr>
                        <m:e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|</m:t>
                          </m:r>
                        </m:e>
                        <m:sub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𝑤</m:t>
                          </m:r>
                          <m:r>
                            <a:rPr lang="en-US" altLang="zh-TW" sz="3600">
                              <a:solidFill>
                                <a:srgbClr val="3F2619"/>
                              </a:solidFill>
                              <a:latin typeface="Cambria Math" panose="02040503050406030204" pitchFamily="18" charset="0"/>
                              <a:ea typeface="Noto Sans SC Medium" panose="020B0200000000000000" pitchFamily="34" charset="-128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3600" i="1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TW" sz="3600">
                                  <a:solidFill>
                                    <a:srgbClr val="3F2619"/>
                                  </a:solidFill>
                                  <a:latin typeface="Cambria Math" panose="02040503050406030204" pitchFamily="18" charset="0"/>
                                  <a:ea typeface="Noto Sans SC Medium" panose="020B0200000000000000" pitchFamily="34" charset="-128"/>
                                </a:rPr>
                                <m:t>0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zh-TW" altLang="en-US" sz="3600" dirty="0">
                  <a:solidFill>
                    <a:srgbClr val="3F2619"/>
                  </a:solidFill>
                  <a:latin typeface="Noto Sans SC Medium" panose="020B0200000000000000" pitchFamily="34" charset="-128"/>
                  <a:ea typeface="Noto Sans SC Medium" panose="020B0200000000000000" pitchFamily="34" charset="-128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83CDDFA-87DF-4E89-9FD8-6CE80EF2E4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234" y="8998190"/>
                <a:ext cx="2777620" cy="114415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橢圓 29">
            <a:extLst>
              <a:ext uri="{FF2B5EF4-FFF2-40B4-BE49-F238E27FC236}">
                <a16:creationId xmlns:a16="http://schemas.microsoft.com/office/drawing/2014/main" id="{B3CE3138-A896-4D96-BFAB-BC99EE68B184}"/>
              </a:ext>
            </a:extLst>
          </p:cNvPr>
          <p:cNvSpPr/>
          <p:nvPr/>
        </p:nvSpPr>
        <p:spPr>
          <a:xfrm>
            <a:off x="6883421" y="8692418"/>
            <a:ext cx="294592" cy="2249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</p:spTree>
    <p:extLst>
      <p:ext uri="{BB962C8B-B14F-4D97-AF65-F5344CB8AC3E}">
        <p14:creationId xmlns:p14="http://schemas.microsoft.com/office/powerpoint/2010/main" val="2462035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239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STEP3 : Best Function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5D2EAC-0FFB-4393-91B7-89813F9595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3656413"/>
            <a:ext cx="8563247" cy="206699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281025C-4EF0-4B5F-96E6-6C5616C54A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5619" y="3656413"/>
            <a:ext cx="4445000" cy="218606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7FAD5FB-59B2-47BE-A4C9-DBEF0932F01F}"/>
              </a:ext>
            </a:extLst>
          </p:cNvPr>
          <p:cNvSpPr txBox="1"/>
          <p:nvPr/>
        </p:nvSpPr>
        <p:spPr>
          <a:xfrm>
            <a:off x="2438400" y="6429756"/>
            <a:ext cx="856324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GD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 是一次用全部訓練集的數據去計算損失函數的梯度就更新一次參數</a:t>
            </a:r>
            <a:r>
              <a:rPr lang="en-US" altLang="zh-TW" sz="2800" dirty="0">
                <a:solidFill>
                  <a:srgbClr val="FF0000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</a:t>
            </a:r>
            <a:r>
              <a:rPr lang="zh-TW" altLang="en-US" sz="2800" dirty="0">
                <a:solidFill>
                  <a:srgbClr val="FF0000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沒有 </a:t>
            </a:r>
            <a:r>
              <a:rPr lang="zh-TW" altLang="zh-TW" sz="2800" dirty="0">
                <a:solidFill>
                  <a:srgbClr val="FF0000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optim.GD</a:t>
            </a:r>
            <a:r>
              <a:rPr lang="en-US" altLang="zh-TW" sz="2800" dirty="0">
                <a:solidFill>
                  <a:srgbClr val="FF0000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TW" sz="28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SGD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就是一次跑一個樣本或是小批次</a:t>
            </a:r>
            <a:r>
              <a:rPr lang="en-US" altLang="zh-TW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(mini-batch)</a:t>
            </a:r>
            <a:r>
              <a:rPr lang="zh-TW" altLang="en-US" sz="28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樣本然後算出一次梯度或是小批次梯度的平均後就更新一次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13D83B1-9573-4EB4-A824-02BBD33A3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821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270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239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STEP4 : Train model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73F690D-2B6B-45CE-8376-D253964456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7923" y="4457700"/>
            <a:ext cx="7164926" cy="353485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382F017-5AE8-4ED1-ABEE-47D6E6A9FE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1110" y="3086100"/>
            <a:ext cx="5233379" cy="684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07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239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STEP4 : Train model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D929943-CE8A-4E42-A83F-B3B5C04702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899" y="3365781"/>
            <a:ext cx="6728953" cy="504671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4E4BBFD-D569-4A9E-A9A9-1328C97C8A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400" y="3785722"/>
            <a:ext cx="7983265" cy="420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4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-228600" y="9158823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回歸 </a:t>
            </a:r>
            <a:r>
              <a:rPr lang="en-US" altLang="zh-TW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Regression</a:t>
            </a:r>
            <a:endParaRPr lang="zh-TW" altLang="en-US" sz="7200" dirty="0">
              <a:solidFill>
                <a:srgbClr val="3F2619"/>
              </a:solidFill>
              <a:latin typeface="Chiron GoRound TC ExtraBold" pitchFamily="2" charset="-120"/>
              <a:ea typeface="Chiron GoRound TC ExtraBold" pitchFamily="2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9049852" cy="239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STEP4 : Train model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endParaRPr lang="zh-TW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4DF929A-6AC0-4E08-80A0-9428A52475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28" y="3243199"/>
            <a:ext cx="11660227" cy="637311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AC46BB11-7295-4D69-B2AD-27F9B2F8F4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1223943"/>
            <a:ext cx="7582212" cy="568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79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411885" y="3296841"/>
            <a:ext cx="11464230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D</a:t>
            </a:r>
            <a:r>
              <a:rPr lang="en-US" sz="12000" spc="-672" dirty="0">
                <a:solidFill>
                  <a:srgbClr val="5B1C14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8E2423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338168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2000" spc="-672" dirty="0">
                <a:solidFill>
                  <a:srgbClr val="2DBCB7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2000" spc="-672" dirty="0">
                <a:solidFill>
                  <a:srgbClr val="1D949A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029316"/>
                </a:solidFill>
                <a:latin typeface="Lazydog"/>
                <a:ea typeface="Lazydog"/>
                <a:cs typeface="Lazydog"/>
                <a:sym typeface="Lazydog"/>
              </a:rPr>
              <a:t>y</a:t>
            </a:r>
            <a:r>
              <a:rPr lang="en-US" sz="12000" spc="-672" dirty="0">
                <a:solidFill>
                  <a:srgbClr val="64331F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B26628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C13E27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</a:p>
          <a:p>
            <a:pPr marL="0" lvl="0" indent="0" algn="ctr"/>
            <a:r>
              <a:rPr lang="en-US" sz="12000" spc="-672" dirty="0">
                <a:solidFill>
                  <a:srgbClr val="AE6428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12000" spc="-672" dirty="0">
                <a:solidFill>
                  <a:srgbClr val="A42B2B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2000" spc="-672" dirty="0">
                <a:solidFill>
                  <a:srgbClr val="556458"/>
                </a:solidFill>
                <a:latin typeface="Lazydog"/>
                <a:ea typeface="Lazydog"/>
                <a:cs typeface="Lazydog"/>
                <a:sym typeface="Lazydog"/>
              </a:rPr>
              <a:t>v</a:t>
            </a:r>
            <a:r>
              <a:rPr lang="en-US" sz="12000" spc="-672" dirty="0">
                <a:solidFill>
                  <a:srgbClr val="338168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2000" spc="-672" dirty="0">
                <a:solidFill>
                  <a:srgbClr val="266753"/>
                </a:solidFill>
                <a:latin typeface="Lazydog"/>
                <a:ea typeface="Lazydog"/>
                <a:cs typeface="Lazydog"/>
                <a:sym typeface="Lazydog"/>
              </a:rPr>
              <a:t>q</a:t>
            </a:r>
            <a:r>
              <a:rPr lang="en-US" sz="12000" spc="-672" dirty="0">
                <a:solidFill>
                  <a:srgbClr val="009200"/>
                </a:solidFill>
                <a:latin typeface="Lazydog"/>
                <a:ea typeface="Lazydog"/>
                <a:cs typeface="Lazydog"/>
                <a:sym typeface="Lazydog"/>
              </a:rPr>
              <a:t>u</a:t>
            </a:r>
            <a:r>
              <a:rPr lang="en-US" sz="12000" spc="-672" dirty="0">
                <a:solidFill>
                  <a:srgbClr val="1D949A"/>
                </a:solidFill>
                <a:latin typeface="Lazydog"/>
                <a:ea typeface="Lazydog"/>
                <a:cs typeface="Lazydog"/>
                <a:sym typeface="Lazydog"/>
              </a:rPr>
              <a:t>e</a:t>
            </a:r>
            <a:r>
              <a:rPr lang="en-US" sz="12000" spc="-672" dirty="0">
                <a:solidFill>
                  <a:srgbClr val="2E1B5B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58585B"/>
                </a:solidFill>
                <a:latin typeface="Lazydog"/>
                <a:ea typeface="Lazydog"/>
                <a:cs typeface="Lazydog"/>
                <a:sym typeface="Lazydog"/>
              </a:rPr>
              <a:t>t</a:t>
            </a:r>
            <a:r>
              <a:rPr lang="en-US" sz="12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i</a:t>
            </a:r>
            <a:r>
              <a:rPr lang="en-US" sz="12000" spc="-672" dirty="0">
                <a:solidFill>
                  <a:srgbClr val="76482E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2000" spc="-672" dirty="0">
                <a:solidFill>
                  <a:srgbClr val="5E1815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2000" spc="-672" dirty="0">
                <a:solidFill>
                  <a:srgbClr val="7DADC5"/>
                </a:solidFill>
                <a:latin typeface="Lazydog"/>
                <a:ea typeface="Lazydog"/>
                <a:cs typeface="Lazydog"/>
                <a:sym typeface="Lazydog"/>
              </a:rPr>
              <a:t>s</a:t>
            </a:r>
            <a:r>
              <a:rPr lang="en-US" sz="12000" spc="-672" dirty="0">
                <a:solidFill>
                  <a:srgbClr val="ACD03C"/>
                </a:solidFill>
                <a:latin typeface="Lazydog"/>
                <a:ea typeface="Lazydog"/>
                <a:cs typeface="Lazydog"/>
                <a:sym typeface="Lazydog"/>
              </a:rPr>
              <a:t>?</a:t>
            </a:r>
          </a:p>
        </p:txBody>
      </p:sp>
      <p:sp>
        <p:nvSpPr>
          <p:cNvPr id="24" name="Freeform 24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15563200" y="8970607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5719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估算計程車車資的小模型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變數只有一個：行駛距離（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km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）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目標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得到訓練完的</a:t>
            </a: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loss</a:t>
            </a: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圖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儲存模型預測完的結果圖</a:t>
            </a: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6313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8" name="Freeform 8"/>
          <p:cNvSpPr>
            <a:spLocks noChangeAspect="1"/>
          </p:cNvSpPr>
          <p:nvPr/>
        </p:nvSpPr>
        <p:spPr>
          <a:xfrm>
            <a:off x="15563200" y="8970607"/>
            <a:ext cx="3163600" cy="407489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227748" y="909271"/>
            <a:ext cx="10040452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7"/>
              </a:lnSpc>
              <a:spcBef>
                <a:spcPct val="0"/>
              </a:spcBef>
            </a:pPr>
            <a:r>
              <a:rPr lang="zh-TW" altLang="en-US" sz="7200" dirty="0">
                <a:solidFill>
                  <a:srgbClr val="3F2619"/>
                </a:solidFill>
                <a:latin typeface="Chiron GoRound TC ExtraBold" pitchFamily="2" charset="-120"/>
                <a:ea typeface="Chiron GoRound TC ExtraBold" pitchFamily="2" charset="-120"/>
              </a:rPr>
              <a:t>小試身手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0343D3-5514-4B0C-A8DF-6D2139BA03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836" b="94336" l="4102" r="92969">
                        <a14:foregroundMark x1="14648" y1="83594" x2="14648" y2="83594"/>
                        <a14:foregroundMark x1="23047" y1="83594" x2="23047" y2="83594"/>
                        <a14:foregroundMark x1="28711" y1="86328" x2="28711" y2="86328"/>
                        <a14:foregroundMark x1="38281" y1="88086" x2="38281" y2="88086"/>
                        <a14:foregroundMark x1="50781" y1="83594" x2="50781" y2="83594"/>
                        <a14:foregroundMark x1="66602" y1="87695" x2="66602" y2="87695"/>
                        <a14:foregroundMark x1="76758" y1="87891" x2="76758" y2="87891"/>
                        <a14:foregroundMark x1="86133" y1="86719" x2="86133" y2="86719"/>
                        <a14:backgroundMark x1="79492" y1="88867" x2="79492" y2="888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45000" y="1"/>
            <a:ext cx="1143000" cy="1143000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98B939D4-A9F0-4573-A915-737C7A2E131A}"/>
              </a:ext>
            </a:extLst>
          </p:cNvPr>
          <p:cNvSpPr txBox="1"/>
          <p:nvPr/>
        </p:nvSpPr>
        <p:spPr>
          <a:xfrm>
            <a:off x="2227748" y="2294444"/>
            <a:ext cx="15450652" cy="239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TW" altLang="en-US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估算計程車車資的小模型</a:t>
            </a:r>
            <a:endParaRPr lang="en-US" altLang="zh-TW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Learning rate = 0.01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TW" sz="3600" dirty="0">
                <a:solidFill>
                  <a:srgbClr val="3F2619"/>
                </a:solidFill>
                <a:latin typeface="Noto Sans SC Medium" panose="020B0200000000000000" pitchFamily="34" charset="-128"/>
                <a:ea typeface="Noto Sans SC Medium" panose="020B0200000000000000" pitchFamily="34" charset="-128"/>
              </a:rPr>
              <a:t>Epoch = 50</a:t>
            </a:r>
            <a:endParaRPr lang="zh-TW" altLang="en-US" sz="3600" dirty="0">
              <a:solidFill>
                <a:srgbClr val="3F2619"/>
              </a:solidFill>
              <a:latin typeface="Noto Sans SC Medium" panose="020B0200000000000000" pitchFamily="34" charset="-128"/>
              <a:ea typeface="Noto Sans SC Medium" panose="020B02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BE284A2-C0A9-48E8-BCD4-85D83EAD09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662" y="2930135"/>
            <a:ext cx="6842276" cy="513170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CCB99F2-201A-42CB-AC1D-047C5BD07C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5353156"/>
            <a:ext cx="5851676" cy="438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314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5778" y="7436839"/>
            <a:ext cx="2004759" cy="2141005"/>
          </a:xfrm>
          <a:custGeom>
            <a:avLst/>
            <a:gdLst/>
            <a:ahLst/>
            <a:cxnLst/>
            <a:rect l="l" t="t" r="r" b="b"/>
            <a:pathLst>
              <a:path w="2004759" h="2141005">
                <a:moveTo>
                  <a:pt x="0" y="0"/>
                </a:moveTo>
                <a:lnTo>
                  <a:pt x="2004759" y="0"/>
                </a:lnTo>
                <a:lnTo>
                  <a:pt x="200475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0537" y="7494055"/>
            <a:ext cx="1518167" cy="2141005"/>
          </a:xfrm>
          <a:custGeom>
            <a:avLst/>
            <a:gdLst/>
            <a:ahLst/>
            <a:cxnLst/>
            <a:rect l="l" t="t" r="r" b="b"/>
            <a:pathLst>
              <a:path w="1518167" h="2141005">
                <a:moveTo>
                  <a:pt x="0" y="0"/>
                </a:moveTo>
                <a:lnTo>
                  <a:pt x="1518167" y="0"/>
                </a:lnTo>
                <a:lnTo>
                  <a:pt x="15181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94429" y="7599840"/>
            <a:ext cx="3027128" cy="2141005"/>
          </a:xfrm>
          <a:custGeom>
            <a:avLst/>
            <a:gdLst/>
            <a:ahLst/>
            <a:cxnLst/>
            <a:rect l="l" t="t" r="r" b="b"/>
            <a:pathLst>
              <a:path w="3027128" h="2141005">
                <a:moveTo>
                  <a:pt x="0" y="0"/>
                </a:moveTo>
                <a:lnTo>
                  <a:pt x="3027128" y="0"/>
                </a:lnTo>
                <a:lnTo>
                  <a:pt x="302712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7782" y="5010150"/>
            <a:ext cx="1732268" cy="2141005"/>
          </a:xfrm>
          <a:custGeom>
            <a:avLst/>
            <a:gdLst/>
            <a:ahLst/>
            <a:cxnLst/>
            <a:rect l="l" t="t" r="r" b="b"/>
            <a:pathLst>
              <a:path w="1732268" h="2141005">
                <a:moveTo>
                  <a:pt x="0" y="0"/>
                </a:moveTo>
                <a:lnTo>
                  <a:pt x="1732267" y="0"/>
                </a:lnTo>
                <a:lnTo>
                  <a:pt x="1732267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8924" y="2869145"/>
            <a:ext cx="1701126" cy="2141005"/>
          </a:xfrm>
          <a:custGeom>
            <a:avLst/>
            <a:gdLst/>
            <a:ahLst/>
            <a:cxnLst/>
            <a:rect l="l" t="t" r="r" b="b"/>
            <a:pathLst>
              <a:path w="1701126" h="2141005">
                <a:moveTo>
                  <a:pt x="0" y="0"/>
                </a:moveTo>
                <a:lnTo>
                  <a:pt x="1701125" y="0"/>
                </a:lnTo>
                <a:lnTo>
                  <a:pt x="170112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7851" y="380522"/>
            <a:ext cx="1662198" cy="2141005"/>
          </a:xfrm>
          <a:custGeom>
            <a:avLst/>
            <a:gdLst/>
            <a:ahLst/>
            <a:cxnLst/>
            <a:rect l="l" t="t" r="r" b="b"/>
            <a:pathLst>
              <a:path w="1662198" h="2141005">
                <a:moveTo>
                  <a:pt x="0" y="0"/>
                </a:moveTo>
                <a:lnTo>
                  <a:pt x="1662198" y="0"/>
                </a:lnTo>
                <a:lnTo>
                  <a:pt x="166219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6274" y="380522"/>
            <a:ext cx="2070936" cy="2141005"/>
          </a:xfrm>
          <a:custGeom>
            <a:avLst/>
            <a:gdLst/>
            <a:ahLst/>
            <a:cxnLst/>
            <a:rect l="l" t="t" r="r" b="b"/>
            <a:pathLst>
              <a:path w="2070936" h="2141005">
                <a:moveTo>
                  <a:pt x="0" y="0"/>
                </a:moveTo>
                <a:lnTo>
                  <a:pt x="2070936" y="0"/>
                </a:lnTo>
                <a:lnTo>
                  <a:pt x="207093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2460" y="380522"/>
            <a:ext cx="2264524" cy="2141005"/>
          </a:xfrm>
          <a:custGeom>
            <a:avLst/>
            <a:gdLst/>
            <a:ahLst/>
            <a:cxnLst/>
            <a:rect l="l" t="t" r="r" b="b"/>
            <a:pathLst>
              <a:path w="2264524" h="2141005">
                <a:moveTo>
                  <a:pt x="0" y="0"/>
                </a:moveTo>
                <a:lnTo>
                  <a:pt x="2264524" y="0"/>
                </a:lnTo>
                <a:lnTo>
                  <a:pt x="226452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132234" y="380522"/>
            <a:ext cx="2571076" cy="2141005"/>
          </a:xfrm>
          <a:custGeom>
            <a:avLst/>
            <a:gdLst/>
            <a:ahLst/>
            <a:cxnLst/>
            <a:rect l="l" t="t" r="r" b="b"/>
            <a:pathLst>
              <a:path w="2571076" h="2141005">
                <a:moveTo>
                  <a:pt x="0" y="0"/>
                </a:moveTo>
                <a:lnTo>
                  <a:pt x="2571076" y="0"/>
                </a:lnTo>
                <a:lnTo>
                  <a:pt x="2571076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02175" y="380522"/>
            <a:ext cx="1444205" cy="2141005"/>
          </a:xfrm>
          <a:custGeom>
            <a:avLst/>
            <a:gdLst/>
            <a:ahLst/>
            <a:cxnLst/>
            <a:rect l="l" t="t" r="r" b="b"/>
            <a:pathLst>
              <a:path w="1444205" h="2141005">
                <a:moveTo>
                  <a:pt x="0" y="0"/>
                </a:moveTo>
                <a:lnTo>
                  <a:pt x="1444205" y="0"/>
                </a:lnTo>
                <a:lnTo>
                  <a:pt x="14442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588001" y="380522"/>
            <a:ext cx="1467562" cy="2141005"/>
          </a:xfrm>
          <a:custGeom>
            <a:avLst/>
            <a:gdLst/>
            <a:ahLst/>
            <a:cxnLst/>
            <a:rect l="l" t="t" r="r" b="b"/>
            <a:pathLst>
              <a:path w="1467562" h="2141005">
                <a:moveTo>
                  <a:pt x="0" y="0"/>
                </a:moveTo>
                <a:lnTo>
                  <a:pt x="1467561" y="0"/>
                </a:lnTo>
                <a:lnTo>
                  <a:pt x="1467561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31787" y="380522"/>
            <a:ext cx="1876299" cy="2141005"/>
          </a:xfrm>
          <a:custGeom>
            <a:avLst/>
            <a:gdLst/>
            <a:ahLst/>
            <a:cxnLst/>
            <a:rect l="l" t="t" r="r" b="b"/>
            <a:pathLst>
              <a:path w="1876299" h="2141005">
                <a:moveTo>
                  <a:pt x="0" y="0"/>
                </a:moveTo>
                <a:lnTo>
                  <a:pt x="1876299" y="0"/>
                </a:lnTo>
                <a:lnTo>
                  <a:pt x="187629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88437" y="380522"/>
            <a:ext cx="2393400" cy="2141005"/>
          </a:xfrm>
          <a:custGeom>
            <a:avLst/>
            <a:gdLst/>
            <a:ahLst/>
            <a:cxnLst/>
            <a:rect l="l" t="t" r="r" b="b"/>
            <a:pathLst>
              <a:path w="2393400" h="2141005">
                <a:moveTo>
                  <a:pt x="0" y="0"/>
                </a:moveTo>
                <a:lnTo>
                  <a:pt x="2393400" y="0"/>
                </a:lnTo>
                <a:lnTo>
                  <a:pt x="239340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22420" y="2750127"/>
            <a:ext cx="2047579" cy="2141005"/>
          </a:xfrm>
          <a:custGeom>
            <a:avLst/>
            <a:gdLst/>
            <a:ahLst/>
            <a:cxnLst/>
            <a:rect l="l" t="t" r="r" b="b"/>
            <a:pathLst>
              <a:path w="2047579" h="2141005">
                <a:moveTo>
                  <a:pt x="0" y="0"/>
                </a:moveTo>
                <a:lnTo>
                  <a:pt x="2047579" y="0"/>
                </a:lnTo>
                <a:lnTo>
                  <a:pt x="2047579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622420" y="5295835"/>
            <a:ext cx="2125434" cy="2141005"/>
          </a:xfrm>
          <a:custGeom>
            <a:avLst/>
            <a:gdLst/>
            <a:ahLst/>
            <a:cxnLst/>
            <a:rect l="l" t="t" r="r" b="b"/>
            <a:pathLst>
              <a:path w="2125434" h="2141005">
                <a:moveTo>
                  <a:pt x="0" y="0"/>
                </a:moveTo>
                <a:lnTo>
                  <a:pt x="2125434" y="0"/>
                </a:lnTo>
                <a:lnTo>
                  <a:pt x="2125434" y="2141004"/>
                </a:lnTo>
                <a:lnTo>
                  <a:pt x="0" y="214100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227484" y="7599840"/>
            <a:ext cx="1782873" cy="2141005"/>
          </a:xfrm>
          <a:custGeom>
            <a:avLst/>
            <a:gdLst/>
            <a:ahLst/>
            <a:cxnLst/>
            <a:rect l="l" t="t" r="r" b="b"/>
            <a:pathLst>
              <a:path w="1782873" h="2141005">
                <a:moveTo>
                  <a:pt x="0" y="0"/>
                </a:moveTo>
                <a:lnTo>
                  <a:pt x="1782874" y="0"/>
                </a:lnTo>
                <a:lnTo>
                  <a:pt x="1782874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91040" y="7599840"/>
            <a:ext cx="2188760" cy="2141005"/>
          </a:xfrm>
          <a:custGeom>
            <a:avLst/>
            <a:gdLst/>
            <a:ahLst/>
            <a:cxnLst/>
            <a:rect l="l" t="t" r="r" b="b"/>
            <a:pathLst>
              <a:path w="2188760" h="2141005">
                <a:moveTo>
                  <a:pt x="0" y="0"/>
                </a:moveTo>
                <a:lnTo>
                  <a:pt x="2188760" y="0"/>
                </a:lnTo>
                <a:lnTo>
                  <a:pt x="2188760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321106" y="7599840"/>
            <a:ext cx="2141005" cy="2141005"/>
          </a:xfrm>
          <a:custGeom>
            <a:avLst/>
            <a:gdLst/>
            <a:ahLst/>
            <a:cxnLst/>
            <a:rect l="l" t="t" r="r" b="b"/>
            <a:pathLst>
              <a:path w="2141005" h="2141005">
                <a:moveTo>
                  <a:pt x="0" y="0"/>
                </a:moveTo>
                <a:lnTo>
                  <a:pt x="2141005" y="0"/>
                </a:lnTo>
                <a:lnTo>
                  <a:pt x="2141005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52698" y="7669745"/>
            <a:ext cx="2413018" cy="2141005"/>
          </a:xfrm>
          <a:custGeom>
            <a:avLst/>
            <a:gdLst/>
            <a:ahLst/>
            <a:cxnLst/>
            <a:rect l="l" t="t" r="r" b="b"/>
            <a:pathLst>
              <a:path w="2413018" h="2141005">
                <a:moveTo>
                  <a:pt x="0" y="0"/>
                </a:moveTo>
                <a:lnTo>
                  <a:pt x="2413018" y="0"/>
                </a:lnTo>
                <a:lnTo>
                  <a:pt x="2413018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65716" y="7599840"/>
            <a:ext cx="1638842" cy="2141005"/>
          </a:xfrm>
          <a:custGeom>
            <a:avLst/>
            <a:gdLst/>
            <a:ahLst/>
            <a:cxnLst/>
            <a:rect l="l" t="t" r="r" b="b"/>
            <a:pathLst>
              <a:path w="1638842" h="2141005">
                <a:moveTo>
                  <a:pt x="0" y="0"/>
                </a:moveTo>
                <a:lnTo>
                  <a:pt x="1638842" y="0"/>
                </a:lnTo>
                <a:lnTo>
                  <a:pt x="1638842" y="2141005"/>
                </a:lnTo>
                <a:lnTo>
                  <a:pt x="0" y="2141005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590580" y="2681288"/>
            <a:ext cx="7106841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/>
            <a:r>
              <a:rPr lang="en-US" sz="16000" spc="-672" dirty="0">
                <a:solidFill>
                  <a:srgbClr val="891942"/>
                </a:solidFill>
                <a:latin typeface="Lazydog"/>
                <a:ea typeface="Lazydog"/>
                <a:cs typeface="Lazydog"/>
                <a:sym typeface="Lazydog"/>
              </a:rPr>
              <a:t>t</a:t>
            </a:r>
            <a:r>
              <a:rPr lang="en-US" sz="16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h</a:t>
            </a:r>
            <a:r>
              <a:rPr lang="en-US" sz="16000" spc="-672" dirty="0">
                <a:solidFill>
                  <a:srgbClr val="9F2A22"/>
                </a:solidFill>
                <a:latin typeface="Lazydog"/>
                <a:ea typeface="Lazydog"/>
                <a:cs typeface="Lazydog"/>
                <a:sym typeface="Lazydog"/>
              </a:rPr>
              <a:t>a</a:t>
            </a:r>
            <a:r>
              <a:rPr lang="en-US" sz="16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16000" spc="-672" dirty="0">
                <a:solidFill>
                  <a:srgbClr val="BC5E28"/>
                </a:solidFill>
                <a:latin typeface="Lazydog"/>
                <a:ea typeface="Lazydog"/>
                <a:cs typeface="Lazydog"/>
                <a:sym typeface="Lazydog"/>
              </a:rPr>
              <a:t>k</a:t>
            </a:r>
            <a:r>
              <a:rPr lang="en-US" sz="16000" spc="-672" dirty="0">
                <a:solidFill>
                  <a:srgbClr val="F1A988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16000" spc="-672" dirty="0">
                <a:solidFill>
                  <a:srgbClr val="175C71"/>
                </a:solidFill>
                <a:latin typeface="Lazydog"/>
                <a:ea typeface="Lazydog"/>
                <a:cs typeface="Lazydog"/>
                <a:sym typeface="Lazydog"/>
              </a:rPr>
              <a:t>y</a:t>
            </a:r>
            <a:r>
              <a:rPr lang="en-US" sz="16000" spc="-672" dirty="0">
                <a:solidFill>
                  <a:srgbClr val="2FBCB7"/>
                </a:solidFill>
                <a:latin typeface="Lazydog"/>
                <a:ea typeface="Lazydog"/>
                <a:cs typeface="Lazydog"/>
                <a:sym typeface="Lazydog"/>
              </a:rPr>
              <a:t>o</a:t>
            </a:r>
            <a:r>
              <a:rPr lang="en-US" sz="16000" spc="-672" dirty="0">
                <a:solidFill>
                  <a:srgbClr val="4E893F"/>
                </a:solidFill>
                <a:latin typeface="Lazydog"/>
                <a:ea typeface="Lazydog"/>
                <a:cs typeface="Lazydog"/>
                <a:sym typeface="Lazydog"/>
              </a:rPr>
              <a:t>u</a:t>
            </a:r>
          </a:p>
        </p:txBody>
      </p:sp>
      <p:sp>
        <p:nvSpPr>
          <p:cNvPr id="24" name="Freeform 24"/>
          <p:cNvSpPr/>
          <p:nvPr/>
        </p:nvSpPr>
        <p:spPr>
          <a:xfrm rot="922608">
            <a:off x="4617859" y="329585"/>
            <a:ext cx="479131" cy="479131"/>
          </a:xfrm>
          <a:custGeom>
            <a:avLst/>
            <a:gdLst/>
            <a:ahLst/>
            <a:cxnLst/>
            <a:rect l="l" t="t" r="r" b="b"/>
            <a:pathLst>
              <a:path w="479131" h="479131">
                <a:moveTo>
                  <a:pt x="0" y="0"/>
                </a:moveTo>
                <a:lnTo>
                  <a:pt x="479131" y="0"/>
                </a:lnTo>
                <a:lnTo>
                  <a:pt x="479131" y="479132"/>
                </a:lnTo>
                <a:lnTo>
                  <a:pt x="0" y="479132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rot="-737627">
            <a:off x="15530631" y="2567847"/>
            <a:ext cx="487589" cy="487589"/>
          </a:xfrm>
          <a:custGeom>
            <a:avLst/>
            <a:gdLst/>
            <a:ahLst/>
            <a:cxnLst/>
            <a:rect l="l" t="t" r="r" b="b"/>
            <a:pathLst>
              <a:path w="487589" h="487589">
                <a:moveTo>
                  <a:pt x="0" y="0"/>
                </a:moveTo>
                <a:lnTo>
                  <a:pt x="487588" y="0"/>
                </a:lnTo>
                <a:lnTo>
                  <a:pt x="487588" y="487588"/>
                </a:lnTo>
                <a:lnTo>
                  <a:pt x="0" y="48758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911023">
            <a:off x="8658231" y="9416933"/>
            <a:ext cx="436253" cy="436253"/>
          </a:xfrm>
          <a:custGeom>
            <a:avLst/>
            <a:gdLst/>
            <a:ahLst/>
            <a:cxnLst/>
            <a:rect l="l" t="t" r="r" b="b"/>
            <a:pathLst>
              <a:path w="436253" h="436253">
                <a:moveTo>
                  <a:pt x="0" y="0"/>
                </a:moveTo>
                <a:lnTo>
                  <a:pt x="436253" y="0"/>
                </a:lnTo>
                <a:lnTo>
                  <a:pt x="436253" y="436253"/>
                </a:lnTo>
                <a:lnTo>
                  <a:pt x="0" y="43625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1403647" y="1964685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655677" y="5001306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877558" y="2603159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3" y="0"/>
                </a:lnTo>
                <a:lnTo>
                  <a:pt x="184353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4211364" y="9258300"/>
            <a:ext cx="184354" cy="184354"/>
          </a:xfrm>
          <a:custGeom>
            <a:avLst/>
            <a:gdLst/>
            <a:ahLst/>
            <a:cxnLst/>
            <a:rect l="l" t="t" r="r" b="b"/>
            <a:pathLst>
              <a:path w="184354" h="184354">
                <a:moveTo>
                  <a:pt x="0" y="0"/>
                </a:moveTo>
                <a:lnTo>
                  <a:pt x="184354" y="0"/>
                </a:lnTo>
                <a:lnTo>
                  <a:pt x="184354" y="184354"/>
                </a:lnTo>
                <a:lnTo>
                  <a:pt x="0" y="18435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</TotalTime>
  <Words>741</Words>
  <Application>Microsoft Office PowerPoint</Application>
  <PresentationFormat>自訂</PresentationFormat>
  <Paragraphs>155</Paragraphs>
  <Slides>29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40" baseType="lpstr">
      <vt:lpstr>Calibri</vt:lpstr>
      <vt:lpstr>Noto Sans SC Medium</vt:lpstr>
      <vt:lpstr>Arial</vt:lpstr>
      <vt:lpstr>Chiron GoRound TC ExtraBold</vt:lpstr>
      <vt:lpstr>Times New Roman</vt:lpstr>
      <vt:lpstr>Lazydog</vt:lpstr>
      <vt:lpstr>Cambria Math</vt:lpstr>
      <vt:lpstr>Zen Maru Gothic Black</vt:lpstr>
      <vt:lpstr>Wingdings</vt:lpstr>
      <vt:lpstr>Noto Sans HK DemiLight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Blue and Red Playful Monsters Team Presentation</dc:title>
  <cp:lastModifiedBy>易 李</cp:lastModifiedBy>
  <cp:revision>90</cp:revision>
  <dcterms:created xsi:type="dcterms:W3CDTF">2006-08-16T00:00:00Z</dcterms:created>
  <dcterms:modified xsi:type="dcterms:W3CDTF">2026-09-07T18:26:20Z</dcterms:modified>
  <dc:identifier>DAGxjVAmauM</dc:identifier>
</cp:coreProperties>
</file>