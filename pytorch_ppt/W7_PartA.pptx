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67" r:id="rId3"/>
    <p:sldId id="370" r:id="rId4"/>
    <p:sldId id="287" r:id="rId5"/>
    <p:sldId id="331" r:id="rId6"/>
    <p:sldId id="332" r:id="rId7"/>
    <p:sldId id="368" r:id="rId8"/>
    <p:sldId id="336" r:id="rId9"/>
    <p:sldId id="333" r:id="rId10"/>
    <p:sldId id="335" r:id="rId11"/>
    <p:sldId id="369" r:id="rId12"/>
    <p:sldId id="344" r:id="rId13"/>
    <p:sldId id="356" r:id="rId14"/>
    <p:sldId id="350" r:id="rId15"/>
    <p:sldId id="357" r:id="rId16"/>
    <p:sldId id="351" r:id="rId17"/>
    <p:sldId id="352" r:id="rId18"/>
    <p:sldId id="353" r:id="rId19"/>
    <p:sldId id="354" r:id="rId20"/>
    <p:sldId id="355" r:id="rId21"/>
    <p:sldId id="362" r:id="rId22"/>
    <p:sldId id="363" r:id="rId23"/>
    <p:sldId id="364" r:id="rId24"/>
    <p:sldId id="345" r:id="rId25"/>
    <p:sldId id="346" r:id="rId26"/>
    <p:sldId id="347" r:id="rId27"/>
    <p:sldId id="340" r:id="rId28"/>
    <p:sldId id="366" r:id="rId29"/>
    <p:sldId id="367" r:id="rId30"/>
    <p:sldId id="343" r:id="rId31"/>
    <p:sldId id="371" r:id="rId58"/>
    <p:sldId id="372" r:id="rId59"/>
    <p:sldId id="373" r:id="rId60"/>
    <p:sldId id="374" r:id="rId61"/>
    <p:sldId id="375" r:id="rId62"/>
    <p:sldId id="376" r:id="rId63"/>
    <p:sldId id="377" r:id="rId64"/>
    <p:sldId id="378" r:id="rId65"/>
    <p:sldId id="379" r:id="rId66"/>
    <p:sldId id="265" r:id="rId32"/>
    <p:sldId id="321" r:id="rId33"/>
    <p:sldId id="337" r:id="rId34"/>
    <p:sldId id="365" r:id="rId35"/>
    <p:sldId id="266" r:id="rId36"/>
  </p:sldIdLst>
  <p:sldSz cx="18288000" cy="10287000"/>
  <p:notesSz cx="6858000" cy="9144000"/>
  <p:embeddedFontLst>
    <p:embeddedFont>
      <p:font typeface="Chiron GoRound TC ExtraBold" panose="02020500000000000000" charset="-120"/>
      <p:bold r:id="rId38"/>
    </p:embeddedFont>
    <p:embeddedFont>
      <p:font typeface="Zen Maru Gothic Black" panose="02020500000000000000" charset="-120"/>
      <p:bold r:id="rId39"/>
    </p:embeddedFont>
    <p:embeddedFont>
      <p:font typeface="Calibri" panose="020F0502020204030204" pitchFamily="34" charset="0"/>
      <p:regular r:id="rId40"/>
      <p:bold r:id="rId41"/>
      <p:italic r:id="rId42"/>
      <p:boldItalic r:id="rId43"/>
    </p:embeddedFont>
    <p:embeddedFont>
      <p:font typeface="Cambria Math" panose="02040503050406030204" pitchFamily="18" charset="0"/>
      <p:regular r:id="rId44"/>
    </p:embeddedFont>
    <p:embeddedFont>
      <p:font typeface="Consolas" panose="020B0609020204030204" pitchFamily="49" charset="0"/>
      <p:regular r:id="rId45"/>
      <p:bold r:id="rId46"/>
      <p:italic r:id="rId47"/>
      <p:boldItalic r:id="rId48"/>
    </p:embeddedFont>
    <p:embeddedFont>
      <p:font typeface="Lazydog" panose="02020500000000000000" charset="0"/>
      <p:regular r:id="rId49"/>
    </p:embeddedFont>
    <p:embeddedFont>
      <p:font typeface="Noto Sans HK DemiLight" panose="020B0200000000000000" pitchFamily="34" charset="-120"/>
      <p:regular r:id="rId50"/>
    </p:embeddedFont>
    <p:embeddedFont>
      <p:font typeface="Noto Sans SC Medium" panose="020B0200000000000000" pitchFamily="34" charset="-128"/>
      <p:regular r:id="rId51"/>
    </p:embeddedFont>
    <p:embeddedFont>
      <p:font typeface="微軟正黑體" panose="020B0604030504040204" pitchFamily="34" charset="-120"/>
      <p:regular r:id="rId52"/>
      <p:bold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2619"/>
    <a:srgbClr val="653C27"/>
    <a:srgbClr val="764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6318" autoAdjust="0"/>
  </p:normalViewPr>
  <p:slideViewPr>
    <p:cSldViewPr>
      <p:cViewPr varScale="1">
        <p:scale>
          <a:sx n="76" d="100"/>
          <a:sy n="76" d="100"/>
        </p:scale>
        <p:origin x="47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  <Relationship Id="rId58" Type="http://schemas.openxmlformats.org/officeDocument/2006/relationships/slide" Target="slides/slide36.xml"/>
  <Relationship Id="rId59" Type="http://schemas.openxmlformats.org/officeDocument/2006/relationships/slide" Target="slides/slide37.xml"/>
  <Relationship Id="rId60" Type="http://schemas.openxmlformats.org/officeDocument/2006/relationships/slide" Target="slides/slide38.xml"/>
  <Relationship Id="rId61" Type="http://schemas.openxmlformats.org/officeDocument/2006/relationships/slide" Target="slides/slide39.xml"/>
  <Relationship Id="rId62" Type="http://schemas.openxmlformats.org/officeDocument/2006/relationships/slide" Target="slides/slide40.xml"/>
  <Relationship Id="rId63" Type="http://schemas.openxmlformats.org/officeDocument/2006/relationships/slide" Target="slides/slide41.xml"/>
  <Relationship Id="rId64" Type="http://schemas.openxmlformats.org/officeDocument/2006/relationships/slide" Target="slides/slide42.xml"/>
  <Relationship Id="rId65" Type="http://schemas.openxmlformats.org/officeDocument/2006/relationships/slide" Target="slides/slide43.xml"/>
  <Relationship Id="rId66" Type="http://schemas.openxmlformats.org/officeDocument/2006/relationships/slide" Target="slides/slide4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711E1-EEF4-43BD-BD7E-E8356AC69CF2}" type="datetimeFigureOut">
              <a:rPr lang="zh-TW" altLang="en-US" smtClean="0"/>
              <a:t>2026/10/6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8369D-F222-478C-AEF5-EEAA719F9735}" type="slidenum">
              <a:rPr lang="zh-TW" altLang="en-US" smtClean="0"/>
              <a:t>‹#›</a:t>
            </a:fld>
            <a:endParaRPr lang="zh-TW" altLang="en-US"/>
          </a:p>
        </p:txBody>
      </p:sp>
    </p:spTree>
    <p:extLst>
      <p:ext uri="{BB962C8B-B14F-4D97-AF65-F5344CB8AC3E}">
        <p14:creationId xmlns:p14="http://schemas.microsoft.com/office/powerpoint/2010/main" val="25422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48369D-F222-478C-AEF5-EEAA719F9735}" type="slidenum">
              <a:rPr lang="zh-TW" altLang="en-US" smtClean="0"/>
              <a:t>1</a:t>
            </a:fld>
            <a:endParaRPr lang="zh-TW" altLang="en-US"/>
          </a:p>
        </p:txBody>
      </p:sp>
    </p:spTree>
    <p:extLst>
      <p:ext uri="{BB962C8B-B14F-4D97-AF65-F5344CB8AC3E}">
        <p14:creationId xmlns:p14="http://schemas.microsoft.com/office/powerpoint/2010/main" val="219690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48369D-F222-478C-AEF5-EEAA719F973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98245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6B6B6B"/>
                </a:solidFill>
                <a:effectLst/>
                <a:latin typeface="sohne"/>
              </a:rPr>
              <a:t>100*784 (weights)+100 (bias)= 78500</a:t>
            </a:r>
            <a:r>
              <a:rPr lang="zh-TW" altLang="en-US" b="0" i="0" dirty="0">
                <a:solidFill>
                  <a:srgbClr val="6B6B6B"/>
                </a:solidFill>
                <a:effectLst/>
                <a:latin typeface="sohne"/>
              </a:rPr>
              <a:t>個參數</a:t>
            </a:r>
            <a:br>
              <a:rPr lang="en-US" altLang="zh-TW" b="0" i="0" dirty="0">
                <a:solidFill>
                  <a:srgbClr val="6B6B6B"/>
                </a:solidFill>
                <a:effectLst/>
                <a:latin typeface="sohne"/>
              </a:rPr>
            </a:br>
            <a:r>
              <a:rPr lang="zh-TW" altLang="en-US" b="0" i="0" dirty="0">
                <a:solidFill>
                  <a:srgbClr val="242424"/>
                </a:solidFill>
                <a:effectLst/>
                <a:latin typeface="source-serif-pro"/>
              </a:rPr>
              <a:t>簡單來說，圖片經過</a:t>
            </a:r>
            <a:r>
              <a:rPr lang="en-US" altLang="zh-TW" b="0" i="0" dirty="0">
                <a:solidFill>
                  <a:srgbClr val="242424"/>
                </a:solidFill>
                <a:effectLst/>
                <a:latin typeface="source-serif-pro"/>
              </a:rPr>
              <a:t>Convolution, Pooling, Fully Connected</a:t>
            </a:r>
            <a:r>
              <a:rPr lang="zh-TW" altLang="en-US" b="0" i="0" dirty="0">
                <a:solidFill>
                  <a:srgbClr val="242424"/>
                </a:solidFill>
                <a:effectLst/>
                <a:latin typeface="source-serif-pro"/>
              </a:rPr>
              <a:t>就是</a:t>
            </a:r>
            <a:r>
              <a:rPr lang="en-US" altLang="zh-TW" b="0" i="0" dirty="0">
                <a:solidFill>
                  <a:srgbClr val="242424"/>
                </a:solidFill>
                <a:effectLst/>
                <a:latin typeface="source-serif-pro"/>
              </a:rPr>
              <a:t>CNN</a:t>
            </a:r>
            <a:r>
              <a:rPr lang="zh-TW" altLang="en-US" b="0" i="0" dirty="0">
                <a:solidFill>
                  <a:srgbClr val="242424"/>
                </a:solidFill>
                <a:effectLst/>
                <a:latin typeface="source-serif-pro"/>
              </a:rPr>
              <a:t>的架構了</a:t>
            </a:r>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5</a:t>
            </a:fld>
            <a:endParaRPr lang="zh-TW" altLang="en-US"/>
          </a:p>
        </p:txBody>
      </p:sp>
    </p:spTree>
    <p:extLst>
      <p:ext uri="{BB962C8B-B14F-4D97-AF65-F5344CB8AC3E}">
        <p14:creationId xmlns:p14="http://schemas.microsoft.com/office/powerpoint/2010/main" val="280303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卷積層主要是由許多不同的 </a:t>
            </a:r>
            <a:r>
              <a:rPr lang="en-US" altLang="zh-TW" dirty="0"/>
              <a:t>kernel </a:t>
            </a:r>
            <a:r>
              <a:rPr lang="zh-TW" altLang="en-US" dirty="0"/>
              <a:t>在輸入圖片上進行卷積運算。</a:t>
            </a:r>
          </a:p>
          <a:p>
            <a:pPr algn="l"/>
            <a:r>
              <a:rPr lang="zh-TW" altLang="en-US" dirty="0"/>
              <a:t>什麼是卷積 </a:t>
            </a:r>
            <a:r>
              <a:rPr lang="en-US" altLang="zh-TW" dirty="0"/>
              <a:t>? </a:t>
            </a:r>
            <a:r>
              <a:rPr lang="zh-TW" altLang="en-US" dirty="0"/>
              <a:t>在這邊卷積其實就是兩個步驟組成的運算 </a:t>
            </a:r>
            <a:r>
              <a:rPr lang="en-US" altLang="zh-TW" dirty="0"/>
              <a:t>: </a:t>
            </a:r>
            <a:r>
              <a:rPr lang="zh-TW" altLang="en-US" dirty="0"/>
              <a:t>滑動 </a:t>
            </a:r>
            <a:r>
              <a:rPr lang="en-US" altLang="zh-TW" dirty="0"/>
              <a:t>+ </a:t>
            </a:r>
            <a:r>
              <a:rPr lang="zh-TW" altLang="en-US" dirty="0"/>
              <a:t>內積，利用 </a:t>
            </a:r>
            <a:r>
              <a:rPr lang="en-US" altLang="zh-TW" dirty="0"/>
              <a:t>filter </a:t>
            </a:r>
            <a:r>
              <a:rPr lang="zh-TW" altLang="en-US" dirty="0"/>
              <a:t>在輸入圖片上滑動並且持續進行矩陣內積，卷積後得到的圖片我們稱之為 </a:t>
            </a:r>
            <a:r>
              <a:rPr lang="en-US" altLang="zh-TW" dirty="0"/>
              <a:t>feature map</a:t>
            </a:r>
            <a:r>
              <a:rPr lang="zh-TW" altLang="en-US" dirty="0"/>
              <a:t>。</a:t>
            </a:r>
            <a:br>
              <a:rPr lang="en-US" altLang="zh-TW" dirty="0"/>
            </a:br>
            <a:br>
              <a:rPr lang="en-US" altLang="zh-TW" dirty="0"/>
            </a:br>
            <a:r>
              <a:rPr lang="zh-TW" altLang="en-US" b="0" i="0" dirty="0">
                <a:solidFill>
                  <a:srgbClr val="242424"/>
                </a:solidFill>
                <a:effectLst/>
                <a:latin typeface="source-serif-pro"/>
              </a:rPr>
              <a:t>卷積核</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又稱為</a:t>
            </a:r>
            <a:r>
              <a:rPr lang="en-US" altLang="zh-TW" b="0" i="0" dirty="0">
                <a:solidFill>
                  <a:srgbClr val="242424"/>
                </a:solidFill>
                <a:effectLst/>
                <a:latin typeface="source-serif-pro"/>
              </a:rPr>
              <a:t>Filters</a:t>
            </a:r>
            <a:r>
              <a:rPr lang="zh-TW" altLang="en-US" b="0" i="0" dirty="0">
                <a:solidFill>
                  <a:srgbClr val="242424"/>
                </a:solidFill>
                <a:effectLst/>
                <a:latin typeface="source-serif-pro"/>
              </a:rPr>
              <a:t>、</a:t>
            </a:r>
            <a:r>
              <a:rPr lang="en-US" altLang="zh-TW" b="0" i="0" dirty="0">
                <a:solidFill>
                  <a:srgbClr val="242424"/>
                </a:solidFill>
                <a:effectLst/>
                <a:latin typeface="source-serif-pro"/>
              </a:rPr>
              <a:t>Features Detectors</a:t>
            </a:r>
          </a:p>
          <a:p>
            <a:pPr algn="l"/>
            <a:r>
              <a:rPr lang="zh-TW" altLang="en-US" b="0" i="0" dirty="0">
                <a:solidFill>
                  <a:srgbClr val="242424"/>
                </a:solidFill>
                <a:effectLst/>
                <a:latin typeface="source-serif-pro"/>
              </a:rPr>
              <a:t>我們可以藉由選擇</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的張數控制 </a:t>
            </a:r>
            <a:r>
              <a:rPr lang="en-US" altLang="zh-TW" b="0" i="0" dirty="0">
                <a:solidFill>
                  <a:srgbClr val="242424"/>
                </a:solidFill>
                <a:effectLst/>
                <a:latin typeface="source-serif-pro"/>
              </a:rPr>
              <a:t>Feature maps (</a:t>
            </a:r>
            <a:r>
              <a:rPr lang="zh-TW" altLang="en-US" b="0" i="0" dirty="0">
                <a:solidFill>
                  <a:srgbClr val="242424"/>
                </a:solidFill>
                <a:effectLst/>
                <a:latin typeface="source-serif-pro"/>
              </a:rPr>
              <a:t>圖像經由</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卷積後的結果，也就是下圖中粉紅色的部分</a:t>
            </a:r>
            <a:r>
              <a:rPr lang="en-US" altLang="zh-TW" b="0" i="0" dirty="0">
                <a:solidFill>
                  <a:srgbClr val="242424"/>
                </a:solidFill>
                <a:effectLst/>
                <a:latin typeface="source-serif-pro"/>
              </a:rPr>
              <a:t>)</a:t>
            </a:r>
            <a:r>
              <a:rPr lang="zh-TW" altLang="en-US" b="0" i="0" dirty="0">
                <a:solidFill>
                  <a:srgbClr val="242424"/>
                </a:solidFill>
                <a:effectLst/>
                <a:latin typeface="source-serif-pro"/>
              </a:rPr>
              <a:t>的深度，藉由調整</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大小決定</a:t>
            </a:r>
            <a:r>
              <a:rPr lang="en-US" altLang="zh-TW" b="0" i="0" dirty="0">
                <a:solidFill>
                  <a:srgbClr val="242424"/>
                </a:solidFill>
                <a:effectLst/>
                <a:latin typeface="source-serif-pro"/>
              </a:rPr>
              <a:t>Kernels</a:t>
            </a:r>
            <a:r>
              <a:rPr lang="zh-TW" altLang="en-US" b="0" i="0" dirty="0">
                <a:solidFill>
                  <a:srgbClr val="242424"/>
                </a:solidFill>
                <a:effectLst/>
                <a:latin typeface="source-serif-pro"/>
              </a:rPr>
              <a:t>的特徵接受域 </a:t>
            </a:r>
            <a:r>
              <a:rPr lang="en-US" altLang="zh-TW" b="0" i="0" dirty="0">
                <a:solidFill>
                  <a:srgbClr val="242424"/>
                </a:solidFill>
                <a:effectLst/>
                <a:latin typeface="source-serif-pro"/>
              </a:rPr>
              <a:t>(Receptive field)</a:t>
            </a:r>
            <a:r>
              <a:rPr lang="zh-TW" altLang="en-US" b="0" i="0" dirty="0">
                <a:solidFill>
                  <a:srgbClr val="242424"/>
                </a:solidFill>
                <a:effectLst/>
                <a:latin typeface="source-serif-pro"/>
              </a:rPr>
              <a:t>。</a:t>
            </a:r>
            <a:br>
              <a:rPr lang="en-US" altLang="zh-TW" dirty="0"/>
            </a:br>
            <a:endParaRPr lang="zh-TW" altLang="en-US" dirty="0"/>
          </a:p>
          <a:p>
            <a:r>
              <a:rPr lang="zh-TW" altLang="en-US" dirty="0"/>
              <a:t>在全連接層神經網路中經由學習不斷更新的權重，在 </a:t>
            </a:r>
            <a:r>
              <a:rPr lang="en-US" altLang="zh-TW" dirty="0"/>
              <a:t>CNN </a:t>
            </a:r>
            <a:r>
              <a:rPr lang="zh-TW" altLang="en-US" dirty="0"/>
              <a:t>這邊指的就是 </a:t>
            </a:r>
            <a:r>
              <a:rPr lang="en-US" altLang="zh-TW" dirty="0"/>
              <a:t>filter </a:t>
            </a:r>
            <a:r>
              <a:rPr lang="zh-TW" altLang="en-US" dirty="0"/>
              <a:t>，如上圖 </a:t>
            </a:r>
            <a:r>
              <a:rPr lang="en-US" altLang="zh-TW" dirty="0"/>
              <a:t>3X3 </a:t>
            </a:r>
            <a:r>
              <a:rPr lang="zh-TW" altLang="en-US" dirty="0"/>
              <a:t>的 </a:t>
            </a:r>
            <a:r>
              <a:rPr lang="en-US" altLang="zh-TW" dirty="0"/>
              <a:t>filter </a:t>
            </a:r>
            <a:r>
              <a:rPr lang="zh-TW" altLang="en-US" dirty="0"/>
              <a:t>內就相當於有 </a:t>
            </a:r>
            <a:r>
              <a:rPr lang="en-US" altLang="zh-TW" dirty="0"/>
              <a:t>9 </a:t>
            </a:r>
            <a:r>
              <a:rPr lang="zh-TW" altLang="en-US" dirty="0"/>
              <a:t>個權重。我們可以想像，</a:t>
            </a:r>
            <a:r>
              <a:rPr lang="en-US" altLang="zh-TW" dirty="0"/>
              <a:t>CNN </a:t>
            </a:r>
            <a:r>
              <a:rPr lang="zh-TW" altLang="en-US" dirty="0"/>
              <a:t>訓練的過程就是不斷地在改變 </a:t>
            </a:r>
            <a:r>
              <a:rPr lang="en-US" altLang="zh-TW" dirty="0"/>
              <a:t>filter </a:t>
            </a:r>
            <a:r>
              <a:rPr lang="zh-TW" altLang="en-US" dirty="0"/>
              <a:t>來凸顯這個輸入圖像上的特徵。</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6</a:t>
            </a:fld>
            <a:endParaRPr lang="zh-TW" altLang="en-US"/>
          </a:p>
        </p:txBody>
      </p:sp>
    </p:spTree>
    <p:extLst>
      <p:ext uri="{BB962C8B-B14F-4D97-AF65-F5344CB8AC3E}">
        <p14:creationId xmlns:p14="http://schemas.microsoft.com/office/powerpoint/2010/main" val="2186103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Kernel 與 filter 的差別：kernel 是一張 k×k 的 2D 權重；filter 是 C_in 張 kernel 疊成的 k×k×C_in 立體權重。</a:t>
            </a:r>
          </a:p>
          <a:p>
            <a:r>
              <a:t>每個 kernel 對自己負責的輸入 channel 做卷積，結果逐位置相加，再加上 1 個 bias，得到 1 張 feature map（1 個輸出 channel）。</a:t>
            </a:r>
          </a:p>
          <a:p>
            <a:r>
              <a:t>輸入只有 1 個 channel 時（例如 28×28×1 的灰階圖），一個 filter 只有一個 kernel，所以兩個詞常被混用。</a:t>
            </a:r>
          </a:p>
          <a:p>
            <a:r>
              <a:t>記法：kernel 對應輸入 channel，filter 對應輸出 channel；filter 數 = 輸出 channel 數 = feature map 數。</a:t>
            </a:r>
          </a:p>
          <a:p>
            <a:r>
              <a:t>例：nn.Conv2d(16, 32, kernel_size=3) 有 32 個 filter，每個 filter 有 16 個 3×3 kernel，共 512 個 kernel，參數量 (3×3×16 + 1) × 32 = 4,640。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池化層的主要概念是，當我們在做圖片的特徵萃取的過程中，圖形的縮放應該不會影響到我們的目的，經由這樣的 </a:t>
            </a:r>
            <a:r>
              <a:rPr lang="en-US" altLang="zh-TW" dirty="0"/>
              <a:t>scaling </a:t>
            </a:r>
            <a:r>
              <a:rPr lang="zh-TW" altLang="en-US" dirty="0"/>
              <a:t>我們也可以再一次的減少神經網路的參數</a:t>
            </a:r>
            <a:br>
              <a:rPr lang="en-US" altLang="zh-TW" dirty="0"/>
            </a:br>
            <a:br>
              <a:rPr lang="en-US" altLang="zh-TW" dirty="0"/>
            </a:br>
            <a:r>
              <a:rPr lang="zh-TW" altLang="en-US" dirty="0"/>
              <a:t>藉由對輸入圖片的 </a:t>
            </a:r>
            <a:r>
              <a:rPr lang="en-US" altLang="zh-TW" dirty="0"/>
              <a:t>subsampling </a:t>
            </a:r>
            <a:r>
              <a:rPr lang="zh-TW" altLang="en-US" dirty="0"/>
              <a:t>來減少參數，減少計算成本</a:t>
            </a:r>
            <a:br>
              <a:rPr lang="en-US" altLang="zh-TW" dirty="0"/>
            </a:br>
            <a:r>
              <a:rPr lang="zh-TW" altLang="en-US" dirty="0"/>
              <a:t>具有特徵不變性</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8</a:t>
            </a:fld>
            <a:endParaRPr lang="zh-TW" altLang="en-US"/>
          </a:p>
        </p:txBody>
      </p:sp>
    </p:spTree>
    <p:extLst>
      <p:ext uri="{BB962C8B-B14F-4D97-AF65-F5344CB8AC3E}">
        <p14:creationId xmlns:p14="http://schemas.microsoft.com/office/powerpoint/2010/main" val="4106005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9</a:t>
            </a:fld>
            <a:endParaRPr lang="zh-TW" altLang="en-US"/>
          </a:p>
        </p:txBody>
      </p:sp>
    </p:spTree>
    <p:extLst>
      <p:ext uri="{BB962C8B-B14F-4D97-AF65-F5344CB8AC3E}">
        <p14:creationId xmlns:p14="http://schemas.microsoft.com/office/powerpoint/2010/main" val="3859242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10</a:t>
            </a:fld>
            <a:endParaRPr lang="zh-TW" altLang="en-US"/>
          </a:p>
        </p:txBody>
      </p:sp>
    </p:spTree>
    <p:extLst>
      <p:ext uri="{BB962C8B-B14F-4D97-AF65-F5344CB8AC3E}">
        <p14:creationId xmlns:p14="http://schemas.microsoft.com/office/powerpoint/2010/main" val="2537444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前段「卷積</a:t>
            </a:r>
            <a:r>
              <a:rPr dirty="0"/>
              <a:t> → </a:t>
            </a:r>
            <a:r>
              <a:rPr dirty="0" err="1"/>
              <a:t>ReLU</a:t>
            </a:r>
            <a:r>
              <a:rPr dirty="0"/>
              <a:t> → </a:t>
            </a:r>
            <a:r>
              <a:rPr dirty="0" err="1"/>
              <a:t>池化」重複兩次，負責特徵擷取；後段攤平後接</a:t>
            </a:r>
            <a:r>
              <a:rPr dirty="0"/>
              <a:t> </a:t>
            </a:r>
            <a:r>
              <a:rPr dirty="0" err="1"/>
              <a:t>FC，負責把特徵對應到</a:t>
            </a:r>
            <a:r>
              <a:rPr dirty="0"/>
              <a:t> 10 </a:t>
            </a:r>
            <a:r>
              <a:rPr dirty="0" err="1"/>
              <a:t>個類別的分數</a:t>
            </a:r>
            <a:r>
              <a:rPr dirty="0"/>
              <a:t>。</a:t>
            </a:r>
          </a:p>
          <a:p>
            <a:r>
              <a:rPr dirty="0" err="1"/>
              <a:t>卷積層之間的</a:t>
            </a:r>
            <a:r>
              <a:rPr dirty="0"/>
              <a:t> </a:t>
            </a:r>
            <a:r>
              <a:rPr dirty="0" err="1"/>
              <a:t>ReLU</a:t>
            </a:r>
            <a:r>
              <a:rPr dirty="0"/>
              <a:t> </a:t>
            </a:r>
            <a:r>
              <a:rPr dirty="0" err="1"/>
              <a:t>不能省：卷積是線性運算，連續兩層卷積之間沒有激勵函數的話，可以合併成一層等效的卷積</a:t>
            </a:r>
            <a:r>
              <a:rPr dirty="0"/>
              <a:t>。</a:t>
            </a:r>
          </a:p>
          <a:p>
            <a:r>
              <a:rPr dirty="0"/>
              <a:t>各層參數量：Conv2d(1, 16) 為 (3×3×1 + 1) × 16 = 160；Conv2d(16, 32) 為 (3×3×16 + 1) × 32 = 4,640；Linear(1568, 10) 為 (1568 + 1) × 10 = 15,690；ReLU、池化、攤平沒有參數；合計 20,490。</a:t>
            </a:r>
          </a:p>
          <a:p>
            <a:r>
              <a:rPr dirty="0" err="1"/>
              <a:t>約四分之三的參數集中在最後的</a:t>
            </a:r>
            <a:r>
              <a:rPr dirty="0"/>
              <a:t> </a:t>
            </a:r>
            <a:r>
              <a:rPr dirty="0" err="1"/>
              <a:t>FC。對照：同樣的輸入改用</a:t>
            </a:r>
            <a:r>
              <a:rPr dirty="0"/>
              <a:t> 784 → 100 → 10 </a:t>
            </a:r>
            <a:r>
              <a:rPr dirty="0" err="1"/>
              <a:t>的全連接網路，參數量是</a:t>
            </a:r>
            <a:r>
              <a:rPr dirty="0"/>
              <a:t> 79,510。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12</a:t>
            </a:fld>
            <a:endParaRPr lang="zh-TW" altLang="en-US"/>
          </a:p>
        </p:txBody>
      </p:sp>
    </p:spTree>
    <p:extLst>
      <p:ext uri="{BB962C8B-B14F-4D97-AF65-F5344CB8AC3E}">
        <p14:creationId xmlns:p14="http://schemas.microsoft.com/office/powerpoint/2010/main" val="1424404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13</a:t>
            </a:fld>
            <a:endParaRPr lang="zh-TW" altLang="en-US"/>
          </a:p>
        </p:txBody>
      </p:sp>
    </p:spTree>
    <p:extLst>
      <p:ext uri="{BB962C8B-B14F-4D97-AF65-F5344CB8AC3E}">
        <p14:creationId xmlns:p14="http://schemas.microsoft.com/office/powerpoint/2010/main" val="1798675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14</a:t>
            </a:fld>
            <a:endParaRPr lang="zh-TW" altLang="en-US"/>
          </a:p>
        </p:txBody>
      </p:sp>
    </p:spTree>
    <p:extLst>
      <p:ext uri="{BB962C8B-B14F-4D97-AF65-F5344CB8AC3E}">
        <p14:creationId xmlns:p14="http://schemas.microsoft.com/office/powerpoint/2010/main" val="3904168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15</a:t>
            </a:fld>
            <a:endParaRPr lang="zh-TW" altLang="en-US"/>
          </a:p>
        </p:txBody>
      </p:sp>
    </p:spTree>
    <p:extLst>
      <p:ext uri="{BB962C8B-B14F-4D97-AF65-F5344CB8AC3E}">
        <p14:creationId xmlns:p14="http://schemas.microsoft.com/office/powerpoint/2010/main" val="2458515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16</a:t>
            </a:fld>
            <a:endParaRPr lang="zh-TW" altLang="en-US"/>
          </a:p>
        </p:txBody>
      </p:sp>
    </p:spTree>
    <p:extLst>
      <p:ext uri="{BB962C8B-B14F-4D97-AF65-F5344CB8AC3E}">
        <p14:creationId xmlns:p14="http://schemas.microsoft.com/office/powerpoint/2010/main" val="1269236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17</a:t>
            </a:fld>
            <a:endParaRPr lang="zh-TW" altLang="en-US"/>
          </a:p>
        </p:txBody>
      </p:sp>
    </p:spTree>
    <p:extLst>
      <p:ext uri="{BB962C8B-B14F-4D97-AF65-F5344CB8AC3E}">
        <p14:creationId xmlns:p14="http://schemas.microsoft.com/office/powerpoint/2010/main" val="112969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18</a:t>
            </a:fld>
            <a:endParaRPr lang="zh-TW" altLang="en-US"/>
          </a:p>
        </p:txBody>
      </p:sp>
    </p:spTree>
    <p:extLst>
      <p:ext uri="{BB962C8B-B14F-4D97-AF65-F5344CB8AC3E}">
        <p14:creationId xmlns:p14="http://schemas.microsoft.com/office/powerpoint/2010/main" val="775077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19</a:t>
            </a:fld>
            <a:endParaRPr lang="zh-TW" altLang="en-US"/>
          </a:p>
        </p:txBody>
      </p:sp>
    </p:spTree>
    <p:extLst>
      <p:ext uri="{BB962C8B-B14F-4D97-AF65-F5344CB8AC3E}">
        <p14:creationId xmlns:p14="http://schemas.microsoft.com/office/powerpoint/2010/main" val="930502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20</a:t>
            </a:fld>
            <a:endParaRPr lang="zh-TW" altLang="en-US"/>
          </a:p>
        </p:txBody>
      </p:sp>
    </p:spTree>
    <p:extLst>
      <p:ext uri="{BB962C8B-B14F-4D97-AF65-F5344CB8AC3E}">
        <p14:creationId xmlns:p14="http://schemas.microsoft.com/office/powerpoint/2010/main" val="3984266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21</a:t>
            </a:fld>
            <a:endParaRPr lang="zh-TW" altLang="en-US"/>
          </a:p>
        </p:txBody>
      </p:sp>
    </p:spTree>
    <p:extLst>
      <p:ext uri="{BB962C8B-B14F-4D97-AF65-F5344CB8AC3E}">
        <p14:creationId xmlns:p14="http://schemas.microsoft.com/office/powerpoint/2010/main" val="2048213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22</a:t>
            </a:fld>
            <a:endParaRPr lang="zh-TW" altLang="en-US"/>
          </a:p>
        </p:txBody>
      </p:sp>
    </p:spTree>
    <p:extLst>
      <p:ext uri="{BB962C8B-B14F-4D97-AF65-F5344CB8AC3E}">
        <p14:creationId xmlns:p14="http://schemas.microsoft.com/office/powerpoint/2010/main" val="275878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23</a:t>
            </a:fld>
            <a:endParaRPr lang="zh-TW" altLang="en-US"/>
          </a:p>
        </p:txBody>
      </p:sp>
    </p:spTree>
    <p:extLst>
      <p:ext uri="{BB962C8B-B14F-4D97-AF65-F5344CB8AC3E}">
        <p14:creationId xmlns:p14="http://schemas.microsoft.com/office/powerpoint/2010/main" val="26649616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24</a:t>
            </a:fld>
            <a:endParaRPr lang="zh-TW" altLang="en-US"/>
          </a:p>
        </p:txBody>
      </p:sp>
    </p:spTree>
    <p:extLst>
      <p:ext uri="{BB962C8B-B14F-4D97-AF65-F5344CB8AC3E}">
        <p14:creationId xmlns:p14="http://schemas.microsoft.com/office/powerpoint/2010/main" val="3818664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25</a:t>
            </a:fld>
            <a:endParaRPr lang="zh-TW" altLang="en-US"/>
          </a:p>
        </p:txBody>
      </p:sp>
    </p:spTree>
    <p:extLst>
      <p:ext uri="{BB962C8B-B14F-4D97-AF65-F5344CB8AC3E}">
        <p14:creationId xmlns:p14="http://schemas.microsoft.com/office/powerpoint/2010/main" val="3709202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26</a:t>
            </a:fld>
            <a:endParaRPr lang="zh-TW" altLang="en-US"/>
          </a:p>
        </p:txBody>
      </p:sp>
    </p:spTree>
    <p:extLst>
      <p:ext uri="{BB962C8B-B14F-4D97-AF65-F5344CB8AC3E}">
        <p14:creationId xmlns:p14="http://schemas.microsoft.com/office/powerpoint/2010/main" val="503431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27</a:t>
            </a:fld>
            <a:endParaRPr lang="zh-TW" altLang="en-US"/>
          </a:p>
        </p:txBody>
      </p:sp>
    </p:spTree>
    <p:extLst>
      <p:ext uri="{BB962C8B-B14F-4D97-AF65-F5344CB8AC3E}">
        <p14:creationId xmlns:p14="http://schemas.microsoft.com/office/powerpoint/2010/main" val="253363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28</a:t>
            </a:fld>
            <a:endParaRPr lang="zh-TW" altLang="en-US"/>
          </a:p>
        </p:txBody>
      </p:sp>
    </p:spTree>
    <p:extLst>
      <p:ext uri="{BB962C8B-B14F-4D97-AF65-F5344CB8AC3E}">
        <p14:creationId xmlns:p14="http://schemas.microsoft.com/office/powerpoint/2010/main" val="28514322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29</a:t>
            </a:fld>
            <a:endParaRPr lang="zh-TW" altLang="en-US"/>
          </a:p>
        </p:txBody>
      </p:sp>
    </p:spTree>
    <p:extLst>
      <p:ext uri="{BB962C8B-B14F-4D97-AF65-F5344CB8AC3E}">
        <p14:creationId xmlns:p14="http://schemas.microsoft.com/office/powerpoint/2010/main" val="3019151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30</a:t>
            </a:fld>
            <a:endParaRPr lang="zh-TW" altLang="en-US"/>
          </a:p>
        </p:txBody>
      </p:sp>
    </p:spTree>
    <p:extLst>
      <p:ext uri="{BB962C8B-B14F-4D97-AF65-F5344CB8AC3E}">
        <p14:creationId xmlns:p14="http://schemas.microsoft.com/office/powerpoint/2010/main" val="3941314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svg"/><Relationship Id="rId21" Type="http://schemas.openxmlformats.org/officeDocument/2006/relationships/image" Target="../media/image19.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55" Type="http://schemas.openxmlformats.org/officeDocument/2006/relationships/image" Target="../media/image53.svg"/><Relationship Id="rId7" Type="http://schemas.openxmlformats.org/officeDocument/2006/relationships/image" Target="../media/image5.svg"/><Relationship Id="rId2" Type="http://schemas.openxmlformats.org/officeDocument/2006/relationships/notesSlide" Target="../notesSlides/notesSlide1.xml"/><Relationship Id="rId16" Type="http://schemas.openxmlformats.org/officeDocument/2006/relationships/image" Target="../media/image14.png"/><Relationship Id="rId29" Type="http://schemas.openxmlformats.org/officeDocument/2006/relationships/image" Target="../media/image27.svg"/><Relationship Id="rId11" Type="http://schemas.openxmlformats.org/officeDocument/2006/relationships/image" Target="../media/image9.sv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3" Type="http://schemas.openxmlformats.org/officeDocument/2006/relationships/image" Target="../media/image51.svg"/><Relationship Id="rId5" Type="http://schemas.openxmlformats.org/officeDocument/2006/relationships/image" Target="../media/image3.sv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28.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56" Type="http://schemas.openxmlformats.org/officeDocument/2006/relationships/image" Target="../media/image54.png"/><Relationship Id="rId8" Type="http://schemas.openxmlformats.org/officeDocument/2006/relationships/image" Target="../media/image6.png"/><Relationship Id="rId51" Type="http://schemas.openxmlformats.org/officeDocument/2006/relationships/image" Target="../media/image49.svg"/><Relationship Id="rId3" Type="http://schemas.openxmlformats.org/officeDocument/2006/relationships/image" Target="../media/image1.jpeg"/><Relationship Id="rId12" Type="http://schemas.openxmlformats.org/officeDocument/2006/relationships/image" Target="../media/image10.png"/><Relationship Id="rId17" Type="http://schemas.openxmlformats.org/officeDocument/2006/relationships/image" Target="../media/image15.svg"/><Relationship Id="rId25" Type="http://schemas.openxmlformats.org/officeDocument/2006/relationships/image" Target="../media/image23.svg"/><Relationship Id="rId33" Type="http://schemas.openxmlformats.org/officeDocument/2006/relationships/image" Target="../media/image31.sv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9.svg"/><Relationship Id="rId54"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4.png"/><Relationship Id="rId15" Type="http://schemas.openxmlformats.org/officeDocument/2006/relationships/image" Target="../media/image13.svg"/><Relationship Id="rId23" Type="http://schemas.openxmlformats.org/officeDocument/2006/relationships/image" Target="../media/image21.sv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svg"/><Relationship Id="rId57" Type="http://schemas.openxmlformats.org/officeDocument/2006/relationships/image" Target="../media/image55.svg"/><Relationship Id="rId10" Type="http://schemas.openxmlformats.org/officeDocument/2006/relationships/image" Target="../media/image8.png"/><Relationship Id="rId31" Type="http://schemas.openxmlformats.org/officeDocument/2006/relationships/image" Target="../media/image29.svg"/><Relationship Id="rId44" Type="http://schemas.openxmlformats.org/officeDocument/2006/relationships/image" Target="../media/image42.png"/><Relationship Id="rId52" Type="http://schemas.openxmlformats.org/officeDocument/2006/relationships/image" Target="../media/image50.png"/></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59.gif"/></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7.png"/></Relationships>
</file>

<file path=ppt/slides/_rels/slide1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0.png"/></Relationships>
</file>

<file path=ppt/slides/_rels/slide1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74.png"/><Relationship Id="rId5" Type="http://schemas.microsoft.com/office/2007/relationships/hdphoto" Target="../media/hdphoto1.wdp"/><Relationship Id="rId10" Type="http://schemas.openxmlformats.org/officeDocument/2006/relationships/image" Target="../media/image73.png"/><Relationship Id="rId4" Type="http://schemas.openxmlformats.org/officeDocument/2006/relationships/image" Target="../media/image56.png"/><Relationship Id="rId9" Type="http://schemas.openxmlformats.org/officeDocument/2006/relationships/image" Target="../media/image72.png"/></Relationships>
</file>

<file path=ppt/slides/_rels/slide1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6.png"/></Relationships>
</file>

<file path=ppt/slides/_rels/slide1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79.png"/><Relationship Id="rId4" Type="http://schemas.openxmlformats.org/officeDocument/2006/relationships/image" Target="../media/image56.png"/><Relationship Id="rId9" Type="http://schemas.openxmlformats.org/officeDocument/2006/relationships/image" Target="../media/image78.png"/></Relationships>
</file>

<file path=ppt/slides/_rels/slide2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1.png"/></Relationships>
</file>

<file path=ppt/slides/_rels/slide2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5.png"/></Relationships>
</file>

<file path=ppt/slides/_rels/slide2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8.png"/></Relationships>
</file>

<file path=ppt/slides/_rels/slide26.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91.png"/><Relationship Id="rId4" Type="http://schemas.openxmlformats.org/officeDocument/2006/relationships/image" Target="../media/image56.png"/><Relationship Id="rId9"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4.png"/></Relationships>
</file>

<file path=ppt/slides/_rels/slide29.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6.png"/></Relationships>
</file>

<file path=ppt/slides/_rels/slide3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9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sp>
      <p:sp>
        <p:nvSpPr>
          <p:cNvPr id="25" name="Freeform 25"/>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sp>
      <p:sp>
        <p:nvSpPr>
          <p:cNvPr id="26" name="Freeform 26"/>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cap="sq">
            <a:noFill/>
            <a:prstDash val="solid"/>
            <a:miter/>
          </a:ln>
        </p:spPr>
      </p:sp>
      <p:sp>
        <p:nvSpPr>
          <p:cNvPr id="27" name="Freeform 27"/>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8">
              <a:extLst>
                <a:ext uri="{96DAC541-7B7A-43D3-8B79-37D633B846F1}">
                  <asvg:svgBlip xmlns:asvg="http://schemas.microsoft.com/office/drawing/2016/SVG/main" r:embed="rId49"/>
                </a:ext>
              </a:extLst>
            </a:blip>
            <a:stretch>
              <a:fillRect/>
            </a:stretch>
          </a:blipFill>
          <a:ln cap="sq">
            <a:noFill/>
            <a:prstDash val="solid"/>
            <a:miter/>
          </a:ln>
        </p:spPr>
      </p:sp>
      <p:sp>
        <p:nvSpPr>
          <p:cNvPr id="28" name="Freeform 28"/>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0">
              <a:extLst>
                <a:ext uri="{96DAC541-7B7A-43D3-8B79-37D633B846F1}">
                  <asvg:svgBlip xmlns:asvg="http://schemas.microsoft.com/office/drawing/2016/SVG/main" r:embed="rId51"/>
                </a:ext>
              </a:extLst>
            </a:blip>
            <a:stretch>
              <a:fillRect/>
            </a:stretch>
          </a:blipFill>
          <a:ln cap="sq">
            <a:noFill/>
            <a:prstDash val="solid"/>
            <a:miter/>
          </a:ln>
        </p:spPr>
      </p:sp>
      <p:sp>
        <p:nvSpPr>
          <p:cNvPr id="29" name="Freeform 29"/>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2">
              <a:extLst>
                <a:ext uri="{96DAC541-7B7A-43D3-8B79-37D633B846F1}">
                  <asvg:svgBlip xmlns:asvg="http://schemas.microsoft.com/office/drawing/2016/SVG/main" r:embed="rId53"/>
                </a:ext>
              </a:extLst>
            </a:blip>
            <a:stretch>
              <a:fillRect/>
            </a:stretch>
          </a:blipFill>
          <a:ln cap="sq">
            <a:noFill/>
            <a:prstDash val="solid"/>
            <a:miter/>
          </a:ln>
        </p:spPr>
      </p:sp>
      <p:sp>
        <p:nvSpPr>
          <p:cNvPr id="30" name="Freeform 30"/>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4">
              <a:extLst>
                <a:ext uri="{96DAC541-7B7A-43D3-8B79-37D633B846F1}">
                  <asvg:svgBlip xmlns:asvg="http://schemas.microsoft.com/office/drawing/2016/SVG/main" r:embed="rId55"/>
                </a:ext>
              </a:extLst>
            </a:blip>
            <a:stretch>
              <a:fillRect/>
            </a:stretch>
          </a:blipFill>
          <a:ln cap="sq">
            <a:noFill/>
            <a:prstDash val="solid"/>
            <a:miter/>
          </a:ln>
        </p:spPr>
      </p:sp>
      <p:sp>
        <p:nvSpPr>
          <p:cNvPr id="31" name="Freeform 31"/>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6">
              <a:extLst>
                <a:ext uri="{96DAC541-7B7A-43D3-8B79-37D633B846F1}">
                  <asvg:svgBlip xmlns:asvg="http://schemas.microsoft.com/office/drawing/2016/SVG/main" r:embed="rId57"/>
                </a:ext>
              </a:extLst>
            </a:blip>
            <a:stretch>
              <a:fillRect/>
            </a:stretch>
          </a:blipFill>
          <a:ln cap="sq">
            <a:noFill/>
            <a:prstDash val="solid"/>
            <a:miter/>
          </a:ln>
        </p:spPr>
      </p:sp>
      <p:sp>
        <p:nvSpPr>
          <p:cNvPr id="33" name="文字方塊 32">
            <a:extLst>
              <a:ext uri="{FF2B5EF4-FFF2-40B4-BE49-F238E27FC236}">
                <a16:creationId xmlns:a16="http://schemas.microsoft.com/office/drawing/2014/main" id="{7C6248F2-D217-4DF5-95FF-5D5709EC7E54}"/>
              </a:ext>
            </a:extLst>
          </p:cNvPr>
          <p:cNvSpPr txBox="1"/>
          <p:nvPr/>
        </p:nvSpPr>
        <p:spPr>
          <a:xfrm>
            <a:off x="2905656" y="3733202"/>
            <a:ext cx="12476688" cy="1631216"/>
          </a:xfrm>
          <a:prstGeom prst="rect">
            <a:avLst/>
          </a:prstGeom>
          <a:noFill/>
        </p:spPr>
        <p:txBody>
          <a:bodyPr wrap="square">
            <a:spAutoFit/>
          </a:bodyPr>
          <a:lstStyle/>
          <a:p>
            <a:pPr algn="ctr"/>
            <a:r>
              <a:rPr lang="zh-TW" altLang="en-US" sz="10000" dirty="0">
                <a:solidFill>
                  <a:srgbClr val="F1A988"/>
                </a:solidFill>
                <a:latin typeface="Zen Maru Gothic Black" pitchFamily="2" charset="-120"/>
                <a:ea typeface="Zen Maru Gothic Black" pitchFamily="2" charset="-120"/>
              </a:rPr>
              <a:t>機</a:t>
            </a:r>
            <a:r>
              <a:rPr lang="zh-TW" altLang="en-US" sz="10000" dirty="0">
                <a:solidFill>
                  <a:srgbClr val="2FBCB7"/>
                </a:solidFill>
                <a:latin typeface="Zen Maru Gothic Black" pitchFamily="2" charset="-120"/>
                <a:ea typeface="Zen Maru Gothic Black" pitchFamily="2" charset="-120"/>
              </a:rPr>
              <a:t>器</a:t>
            </a:r>
            <a:r>
              <a:rPr lang="zh-TW" altLang="en-US" sz="10000" dirty="0">
                <a:solidFill>
                  <a:srgbClr val="3BADE3"/>
                </a:solidFill>
                <a:latin typeface="Zen Maru Gothic Black" pitchFamily="2" charset="-120"/>
                <a:ea typeface="Zen Maru Gothic Black" pitchFamily="2" charset="-120"/>
              </a:rPr>
              <a:t>學</a:t>
            </a:r>
            <a:r>
              <a:rPr lang="zh-TW" altLang="en-US" sz="10000" dirty="0">
                <a:solidFill>
                  <a:srgbClr val="94BC3D"/>
                </a:solidFill>
                <a:latin typeface="Zen Maru Gothic Black" pitchFamily="2" charset="-120"/>
                <a:ea typeface="Zen Maru Gothic Black" pitchFamily="2" charset="-120"/>
              </a:rPr>
              <a:t>習</a:t>
            </a:r>
            <a:r>
              <a:rPr lang="zh-TW" altLang="en-US" sz="10000" dirty="0">
                <a:solidFill>
                  <a:srgbClr val="9F2A22"/>
                </a:solidFill>
                <a:latin typeface="Zen Maru Gothic Black" pitchFamily="2" charset="-120"/>
                <a:ea typeface="Zen Maru Gothic Black" pitchFamily="2" charset="-120"/>
              </a:rPr>
              <a:t>與</a:t>
            </a:r>
            <a:r>
              <a:rPr lang="en-US" altLang="zh-TW" sz="10000" dirty="0" err="1">
                <a:solidFill>
                  <a:srgbClr val="CF8A29"/>
                </a:solidFill>
                <a:latin typeface="Lazydog"/>
              </a:rPr>
              <a:t>P</a:t>
            </a:r>
            <a:r>
              <a:rPr lang="en-US" altLang="zh-TW" sz="10000" dirty="0" err="1">
                <a:solidFill>
                  <a:srgbClr val="8D95B5"/>
                </a:solidFill>
                <a:latin typeface="Lazydog"/>
              </a:rPr>
              <a:t>y</a:t>
            </a:r>
            <a:r>
              <a:rPr lang="en-US" altLang="zh-TW" sz="10000" dirty="0" err="1">
                <a:solidFill>
                  <a:srgbClr val="5B1C14"/>
                </a:solidFill>
                <a:latin typeface="Lazydog"/>
              </a:rPr>
              <a:t>T</a:t>
            </a:r>
            <a:r>
              <a:rPr lang="en-US" altLang="zh-TW" sz="10000" dirty="0" err="1">
                <a:solidFill>
                  <a:srgbClr val="FBB116"/>
                </a:solidFill>
                <a:latin typeface="Lazydog"/>
              </a:rPr>
              <a:t>o</a:t>
            </a:r>
            <a:r>
              <a:rPr lang="en-US" altLang="zh-TW" sz="10000" dirty="0" err="1">
                <a:solidFill>
                  <a:srgbClr val="E25026"/>
                </a:solidFill>
                <a:latin typeface="Lazydog"/>
              </a:rPr>
              <a:t>r</a:t>
            </a:r>
            <a:r>
              <a:rPr lang="en-US" altLang="zh-TW" sz="10000" dirty="0" err="1">
                <a:solidFill>
                  <a:srgbClr val="BA254F"/>
                </a:solidFill>
                <a:latin typeface="Lazydog"/>
              </a:rPr>
              <a:t>c</a:t>
            </a:r>
            <a:r>
              <a:rPr lang="en-US" altLang="zh-TW" sz="10000" dirty="0" err="1">
                <a:solidFill>
                  <a:srgbClr val="4E893F"/>
                </a:solidFill>
                <a:latin typeface="Lazydog"/>
              </a:rPr>
              <a:t>h</a:t>
            </a:r>
            <a:endParaRPr lang="zh-TW" altLang="en-US" sz="10000" dirty="0">
              <a:solidFill>
                <a:srgbClr val="4E893F"/>
              </a:solidFill>
              <a:latin typeface="Lazydog"/>
            </a:endParaRPr>
          </a:p>
        </p:txBody>
      </p:sp>
      <p:sp>
        <p:nvSpPr>
          <p:cNvPr id="32" name="TextBox 24">
            <a:extLst>
              <a:ext uri="{FF2B5EF4-FFF2-40B4-BE49-F238E27FC236}">
                <a16:creationId xmlns:a16="http://schemas.microsoft.com/office/drawing/2014/main" id="{0C5BD0E8-64CF-4919-A86C-5A137D534EA9}"/>
              </a:ext>
            </a:extLst>
          </p:cNvPr>
          <p:cNvSpPr txBox="1"/>
          <p:nvPr/>
        </p:nvSpPr>
        <p:spPr>
          <a:xfrm>
            <a:off x="5393657" y="6250349"/>
            <a:ext cx="10025896" cy="984885"/>
          </a:xfrm>
          <a:prstGeom prst="rect">
            <a:avLst/>
          </a:prstGeom>
        </p:spPr>
        <p:txBody>
          <a:bodyPr wrap="square" lIns="0" tIns="0" rIns="0" bIns="0" rtlCol="0" anchor="t">
            <a:spAutoFit/>
          </a:bodyPr>
          <a:lstStyle/>
          <a:p>
            <a:pPr algn="just" rtl="0"/>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授課老師：謝易錚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(yzshieh@mail.ntust.edu.tw)</a:t>
            </a:r>
          </a:p>
          <a:p>
            <a:pPr algn="just" rtl="0"/>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助</a:t>
            </a:r>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        </a:t>
            </a:r>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教：</a:t>
            </a:r>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李易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r>
              <a:rPr lang="en-US" altLang="zh-TW" sz="3200" b="1" dirty="0">
                <a:latin typeface="微軟正黑體" panose="020B0604030504040204" pitchFamily="34" charset="-120"/>
                <a:ea typeface="微軟正黑體" panose="020B0604030504040204" pitchFamily="34" charset="-120"/>
                <a:cs typeface="Microsoft Himalaya" panose="01010100010101010101" pitchFamily="2" charset="0"/>
              </a:rPr>
              <a:t>D11507002@mail.ntust.edu.tw)</a:t>
            </a:r>
            <a:endPar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endParaRPr>
          </a:p>
        </p:txBody>
      </p:sp>
      <p:sp>
        <p:nvSpPr>
          <p:cNvPr id="34" name="文字方塊 33">
            <a:extLst>
              <a:ext uri="{FF2B5EF4-FFF2-40B4-BE49-F238E27FC236}">
                <a16:creationId xmlns:a16="http://schemas.microsoft.com/office/drawing/2014/main" id="{6E954A19-151E-4A1F-8A5E-48A068FB5120}"/>
              </a:ext>
            </a:extLst>
          </p:cNvPr>
          <p:cNvSpPr txBox="1"/>
          <p:nvPr/>
        </p:nvSpPr>
        <p:spPr>
          <a:xfrm>
            <a:off x="7321289" y="7185245"/>
            <a:ext cx="11183256" cy="584775"/>
          </a:xfrm>
          <a:prstGeom prst="rect">
            <a:avLst/>
          </a:prstGeom>
          <a:noFill/>
        </p:spPr>
        <p:txBody>
          <a:bodyPr wrap="square">
            <a:spAutoFit/>
          </a:bodyPr>
          <a:lstStyle/>
          <a:p>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柳予謀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r>
              <a:rPr lang="en-US" altLang="zh-TW" sz="3200" b="1" dirty="0">
                <a:latin typeface="微軟正黑體" panose="020B0604030504040204" pitchFamily="34" charset="-120"/>
                <a:ea typeface="微軟正黑體" panose="020B0604030504040204" pitchFamily="34" charset="-120"/>
                <a:cs typeface="Microsoft Himalaya" panose="01010100010101010101" pitchFamily="2" charset="0"/>
              </a:rPr>
              <a:t>D11507005@mail.ntust.edu.tw</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endParaRPr lang="zh-TW" altLang="en-US" sz="32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9" y="909271"/>
            <a:ext cx="5985346" cy="1083505"/>
          </a:xfrm>
          <a:prstGeom prst="rect">
            <a:avLst/>
          </a:prstGeom>
        </p:spPr>
        <p:txBody>
          <a:bodyPr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課程說明</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15392400" cy="769088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簽到點名 </a:t>
            </a:r>
            <a:r>
              <a:rPr lang="en-US" altLang="zh-TW" sz="2800" dirty="0">
                <a:solidFill>
                  <a:srgbClr val="3F2619"/>
                </a:solidFill>
                <a:latin typeface="Noto Sans SC Medium" panose="020B0200000000000000" pitchFamily="34" charset="-128"/>
                <a:ea typeface="Noto Sans SC Medium" panose="020B0200000000000000" pitchFamily="34" charset="-128"/>
              </a:rPr>
              <a:t>10%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CN" altLang="en-US" sz="2800" dirty="0">
                <a:solidFill>
                  <a:srgbClr val="3F2619"/>
                </a:solidFill>
                <a:latin typeface="Noto Sans SC Medium" panose="020B0200000000000000" pitchFamily="34" charset="-128"/>
                <a:ea typeface="Noto Sans SC Medium" panose="020B0200000000000000" pitchFamily="34" charset="-128"/>
              </a:rPr>
              <a:t>課堂作業</a:t>
            </a:r>
            <a:r>
              <a:rPr lang="zh-TW" altLang="en-US" sz="2800" dirty="0">
                <a:solidFill>
                  <a:srgbClr val="3F2619"/>
                </a:solidFill>
                <a:latin typeface="Noto Sans SC Medium" panose="020B0200000000000000" pitchFamily="34" charset="-128"/>
                <a:ea typeface="Noto Sans SC Medium" panose="020B0200000000000000" pitchFamily="34" charset="-128"/>
              </a:rPr>
              <a:t> </a:t>
            </a:r>
            <a:r>
              <a:rPr lang="en-US" altLang="zh-TW" sz="2800" dirty="0">
                <a:solidFill>
                  <a:srgbClr val="3F2619"/>
                </a:solidFill>
                <a:latin typeface="Noto Sans SC Medium" panose="020B0200000000000000" pitchFamily="34" charset="-128"/>
                <a:ea typeface="Noto Sans SC Medium" panose="020B0200000000000000" pitchFamily="34" charset="-128"/>
              </a:rPr>
              <a:t>30%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原則上每週於課堂上完成作業，助教檢查後即可下課</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若無法現場完成者，可回家繼續撰寫，並在規定時間內繳交</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課堂上完成者，分數給予加分；課堂後繳交者，越早交分數越高</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3106AEF3-2F6A-46CD-A879-2AEA1DBA7911}"/>
              </a:ext>
            </a:extLst>
          </p:cNvPr>
          <p:cNvSpPr/>
          <p:nvPr/>
        </p:nvSpPr>
        <p:spPr>
          <a:xfrm>
            <a:off x="8965" y="17809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E43FFF78-5266-4E7A-BF16-5DCB3FA0FAB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416892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6309360"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期中專案公告</a:t>
            </a:r>
            <a:endParaRPr kumimoji="0" lang="en-US" sz="7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21067"/>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個人專案（不分組）：運用課堂所學，自選主題與資料集，完成一個機器學習任務</a:t>
            </a: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1" name="Badge week 8"/>
          <p:cNvSpPr/>
          <p:nvPr/>
        </p:nvSpPr>
        <p:spPr>
          <a:xfrm>
            <a:off x="8275320" y="1033272"/>
            <a:ext cx="6172200"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第 8 週：期中上機考 ＋ 專案報告</a:t>
            </a:r>
          </a:p>
        </p:txBody>
      </p:sp>
      <p:sp>
        <p:nvSpPr>
          <p:cNvPr id="102" name="Card 1"/>
          <p:cNvSpPr/>
          <p:nvPr/>
        </p:nvSpPr>
        <p:spPr>
          <a:xfrm>
            <a:off x="2227748" y="3383280"/>
            <a:ext cx="4864608" cy="5274056"/>
          </a:xfrm>
          <a:prstGeom prst="roundRect">
            <a:avLst>
              <a:gd name="adj" fmla="val 5000"/>
            </a:avLst>
          </a:prstGeom>
          <a:solidFill>
            <a:srgbClr val="DAF3F2"/>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3" name="Card 1 number"/>
          <p:cNvSpPr/>
          <p:nvPr/>
        </p:nvSpPr>
        <p:spPr>
          <a:xfrm>
            <a:off x="2547788" y="3675888"/>
            <a:ext cx="731520" cy="731520"/>
          </a:xfrm>
          <a:prstGeom prst="ellipse">
            <a:avLst/>
          </a:prstGeom>
          <a:solidFill>
            <a:srgbClr val="2FBCB7"/>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1</a:t>
            </a:r>
          </a:p>
        </p:txBody>
      </p:sp>
      <p:sp>
        <p:nvSpPr>
          <p:cNvPr id="104" name="Card 1 header"/>
          <p:cNvSpPr txBox="1"/>
          <p:nvPr/>
        </p:nvSpPr>
        <p:spPr>
          <a:xfrm>
            <a:off x="3443900"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內容要求</a:t>
            </a:r>
          </a:p>
        </p:txBody>
      </p:sp>
      <p:sp>
        <p:nvSpPr>
          <p:cNvPr id="105" name="Card 1 body"/>
          <p:cNvSpPr txBox="1"/>
          <p:nvPr/>
        </p:nvSpPr>
        <p:spPr>
          <a:xfrm>
            <a:off x="2547788"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可執行的專案程式碼</a:t>
            </a:r>
          </a:p>
          <a:p>
            <a:pPr marL="320040" marR="0" lvl="0" indent="-320040" algn="l" defTabSz="914400" rtl="0" eaLnBrk="1" fontAlgn="auto" latinLnBrk="0" hangingPunct="1">
              <a:lnSpc>
                <a:spcPts val="4400"/>
              </a:lnSpc>
              <a:spcBef>
                <a:spcPts val="260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完整流程：資料處理、</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模型訓練、結果評估</a:t>
            </a:r>
          </a:p>
          <a:p>
            <a:pPr marL="320040" marR="0" lvl="0" indent="-320040" algn="l" defTabSz="914400" rtl="0" eaLnBrk="1" fontAlgn="auto" latinLnBrk="0" hangingPunct="1">
              <a:lnSpc>
                <a:spcPts val="4400"/>
              </a:lnSpc>
              <a:spcBef>
                <a:spcPts val="260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做法可參考課堂範例</a:t>
            </a:r>
            <a:br>
              <a:rPr kumimoji="0" lang="en-US" altLang="zh-TW"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不可直接沿用資料集</a:t>
            </a:r>
          </a:p>
        </p:txBody>
      </p:sp>
      <p:sp>
        <p:nvSpPr>
          <p:cNvPr id="106" name="Card 2"/>
          <p:cNvSpPr/>
          <p:nvPr/>
        </p:nvSpPr>
        <p:spPr>
          <a:xfrm>
            <a:off x="7458116" y="3383280"/>
            <a:ext cx="4864608" cy="5274056"/>
          </a:xfrm>
          <a:prstGeom prst="roundRect">
            <a:avLst>
              <a:gd name="adj" fmla="val 5000"/>
            </a:avLst>
          </a:prstGeom>
          <a:solidFill>
            <a:srgbClr val="FCECE5"/>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7" name="Card 2 number"/>
          <p:cNvSpPr/>
          <p:nvPr/>
        </p:nvSpPr>
        <p:spPr>
          <a:xfrm>
            <a:off x="7778156" y="3675888"/>
            <a:ext cx="731520" cy="731520"/>
          </a:xfrm>
          <a:prstGeom prst="ellipse">
            <a:avLst/>
          </a:prstGeom>
          <a:solidFill>
            <a:srgbClr val="F1A988"/>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2</a:t>
            </a:r>
          </a:p>
        </p:txBody>
      </p:sp>
      <p:sp>
        <p:nvSpPr>
          <p:cNvPr id="108" name="Card 2 header"/>
          <p:cNvSpPr txBox="1"/>
          <p:nvPr/>
        </p:nvSpPr>
        <p:spPr>
          <a:xfrm>
            <a:off x="8674268"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資料集</a:t>
            </a:r>
          </a:p>
        </p:txBody>
      </p:sp>
      <p:sp>
        <p:nvSpPr>
          <p:cNvPr id="109" name="Card 2 body"/>
          <p:cNvSpPr txBox="1"/>
          <p:nvPr/>
        </p:nvSpPr>
        <p:spPr>
          <a:xfrm>
            <a:off x="7778156"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kaggle.com/datasets</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有大量公開資料集</a:t>
            </a:r>
          </a:p>
          <a:p>
            <a:pPr marL="320040" marR="0" lvl="0" indent="-320040" algn="l" defTabSz="914400" rtl="0" eaLnBrk="1" fontAlgn="auto" latinLnBrk="0" hangingPunct="1">
              <a:lnSpc>
                <a:spcPts val="4400"/>
              </a:lnSpc>
              <a:spcBef>
                <a:spcPts val="260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用有興趣的主題搜尋</a:t>
            </a:r>
          </a:p>
          <a:p>
            <a:pPr marL="320040" marR="0" lvl="0" indent="-320040" algn="l" defTabSz="914400" rtl="0" eaLnBrk="1" fontAlgn="auto" latinLnBrk="0" hangingPunct="1">
              <a:lnSpc>
                <a:spcPts val="4400"/>
              </a:lnSpc>
              <a:spcBef>
                <a:spcPts val="260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表格資料可試試 DNN</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影像資料可試試 CNN</a:t>
            </a:r>
          </a:p>
        </p:txBody>
      </p:sp>
      <p:sp>
        <p:nvSpPr>
          <p:cNvPr id="110" name="Card 3"/>
          <p:cNvSpPr/>
          <p:nvPr/>
        </p:nvSpPr>
        <p:spPr>
          <a:xfrm>
            <a:off x="12688484" y="3383280"/>
            <a:ext cx="4864608" cy="5274056"/>
          </a:xfrm>
          <a:prstGeom prst="roundRect">
            <a:avLst>
              <a:gd name="adj" fmla="val 5000"/>
            </a:avLst>
          </a:prstGeom>
          <a:solidFill>
            <a:srgbClr val="ECF3DC"/>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11" name="Card 3 number"/>
          <p:cNvSpPr/>
          <p:nvPr/>
        </p:nvSpPr>
        <p:spPr>
          <a:xfrm>
            <a:off x="13008524" y="3675888"/>
            <a:ext cx="731520" cy="731520"/>
          </a:xfrm>
          <a:prstGeom prst="ellipse">
            <a:avLst/>
          </a:prstGeom>
          <a:solidFill>
            <a:srgbClr val="94BC3D"/>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3</a:t>
            </a:r>
          </a:p>
        </p:txBody>
      </p:sp>
      <p:sp>
        <p:nvSpPr>
          <p:cNvPr id="112" name="Card 3 header"/>
          <p:cNvSpPr txBox="1"/>
          <p:nvPr/>
        </p:nvSpPr>
        <p:spPr>
          <a:xfrm>
            <a:off x="13904636"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報告</a:t>
            </a:r>
          </a:p>
        </p:txBody>
      </p:sp>
      <p:sp>
        <p:nvSpPr>
          <p:cNvPr id="113" name="Card 3 body"/>
          <p:cNvSpPr txBox="1"/>
          <p:nvPr/>
        </p:nvSpPr>
        <p:spPr>
          <a:xfrm>
            <a:off x="13008524"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會提供 Google 試算表</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請在表上登記報告時段</a:t>
            </a:r>
          </a:p>
          <a:p>
            <a:pPr marL="320040" marR="0" lvl="0" indent="-320040" algn="l" defTabSz="914400" rtl="0" eaLnBrk="1" fontAlgn="auto" latinLnBrk="0" hangingPunct="1">
              <a:lnSpc>
                <a:spcPts val="4400"/>
              </a:lnSpc>
              <a:spcBef>
                <a:spcPts val="260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第 8 週依時段報告</a:t>
            </a:r>
          </a:p>
          <a:p>
            <a:pPr marL="320040" marR="0" lvl="0" indent="-320040" algn="l" defTabSz="914400" rtl="0" eaLnBrk="1" fontAlgn="auto" latinLnBrk="0" hangingPunct="1">
              <a:lnSpc>
                <a:spcPts val="4400"/>
              </a:lnSpc>
              <a:spcBef>
                <a:spcPts val="260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報告時現場執行程式，</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並說明程式碼內容</a:t>
            </a:r>
          </a:p>
        </p:txBody>
      </p:sp>
    </p:spTree>
    <p:extLst>
      <p:ext uri="{BB962C8B-B14F-4D97-AF65-F5344CB8AC3E}">
        <p14:creationId xmlns:p14="http://schemas.microsoft.com/office/powerpoint/2010/main" val="3310886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6916251" cy="1083505"/>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課程大綱</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6916250" cy="2961309"/>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介紹</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課堂練習</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各種格式的資料載入</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 </a:t>
            </a:r>
            <a:r>
              <a:rPr lang="zh-TW" altLang="en-US" sz="2800" dirty="0">
                <a:solidFill>
                  <a:srgbClr val="3F2619"/>
                </a:solidFill>
                <a:latin typeface="Noto Sans SC Medium" panose="020B0200000000000000" pitchFamily="34" charset="-128"/>
                <a:ea typeface="Noto Sans SC Medium" panose="020B0200000000000000" pitchFamily="34" charset="-128"/>
              </a:rPr>
              <a:t>課堂作業</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4C76A2A8-4C21-4871-87DA-6BD543938854}"/>
              </a:ext>
            </a:extLst>
          </p:cNvPr>
          <p:cNvSpPr>
            <a:spLocks noChangeAspect="1"/>
          </p:cNvSpPr>
          <p:nvPr/>
        </p:nvSpPr>
        <p:spPr>
          <a:xfrm>
            <a:off x="9143999" y="1242186"/>
            <a:ext cx="8252777" cy="7802627"/>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69AF8DC4-0112-4FD5-B8E2-AE9EECD3473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2965238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6916251"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CNN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434522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一般的神經網路由三個部分組成，分別是輸入層、隱藏層以及輸出層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假如輸入一張</a:t>
            </a:r>
            <a:r>
              <a:rPr lang="en-US" altLang="zh-TW" sz="3200" dirty="0">
                <a:solidFill>
                  <a:srgbClr val="3F2619"/>
                </a:solidFill>
                <a:latin typeface="Noto Sans SC Medium" panose="020B0200000000000000" pitchFamily="34" charset="-128"/>
                <a:ea typeface="Noto Sans SC Medium" panose="020B0200000000000000" pitchFamily="34" charset="-128"/>
              </a:rPr>
              <a:t>28*28*1</a:t>
            </a:r>
            <a:r>
              <a:rPr lang="zh-TW" altLang="en-US" sz="3200" dirty="0">
                <a:solidFill>
                  <a:srgbClr val="3F2619"/>
                </a:solidFill>
                <a:latin typeface="Noto Sans SC Medium" panose="020B0200000000000000" pitchFamily="34" charset="-128"/>
                <a:ea typeface="Noto Sans SC Medium" panose="020B0200000000000000" pitchFamily="34" charset="-128"/>
              </a:rPr>
              <a:t>的灰階照片</a:t>
            </a:r>
            <a:r>
              <a:rPr lang="en-US" altLang="zh-TW" sz="3200" dirty="0">
                <a:solidFill>
                  <a:srgbClr val="3F2619"/>
                </a:solidFill>
                <a:latin typeface="Noto Sans SC Medium" panose="020B0200000000000000" pitchFamily="34" charset="-128"/>
                <a:ea typeface="Noto Sans SC Medium" panose="020B0200000000000000" pitchFamily="34" charset="-128"/>
              </a:rPr>
              <a:t>(784</a:t>
            </a:r>
            <a:r>
              <a:rPr lang="zh-TW" altLang="en-US" sz="3200" dirty="0">
                <a:solidFill>
                  <a:srgbClr val="3F2619"/>
                </a:solidFill>
                <a:latin typeface="Noto Sans SC Medium" panose="020B0200000000000000" pitchFamily="34" charset="-128"/>
                <a:ea typeface="Noto Sans SC Medium" panose="020B0200000000000000" pitchFamily="34" charset="-128"/>
              </a:rPr>
              <a:t>個特徵</a:t>
            </a:r>
            <a:r>
              <a:rPr lang="en-US" altLang="zh-TW" sz="3200" dirty="0">
                <a:solidFill>
                  <a:srgbClr val="3F2619"/>
                </a:solidFill>
                <a:latin typeface="Noto Sans SC Medium" panose="020B0200000000000000" pitchFamily="34" charset="-128"/>
                <a:ea typeface="Noto Sans SC Medium" panose="020B0200000000000000" pitchFamily="34" charset="-128"/>
              </a:rPr>
              <a:t>)</a:t>
            </a:r>
            <a:r>
              <a:rPr lang="zh-TW" altLang="en-US" sz="3200" dirty="0">
                <a:solidFill>
                  <a:srgbClr val="3F2619"/>
                </a:solidFill>
                <a:latin typeface="Noto Sans SC Medium" panose="020B0200000000000000" pitchFamily="34" charset="-128"/>
                <a:ea typeface="Noto Sans SC Medium" panose="020B0200000000000000" pitchFamily="34" charset="-128"/>
              </a:rPr>
              <a:t>，隱藏層</a:t>
            </a:r>
            <a:r>
              <a:rPr lang="en-US" altLang="zh-TW" sz="3200" dirty="0">
                <a:solidFill>
                  <a:srgbClr val="3F2619"/>
                </a:solidFill>
                <a:latin typeface="Noto Sans SC Medium" panose="020B0200000000000000" pitchFamily="34" charset="-128"/>
                <a:ea typeface="Noto Sans SC Medium" panose="020B0200000000000000" pitchFamily="34" charset="-128"/>
              </a:rPr>
              <a:t>100</a:t>
            </a:r>
            <a:r>
              <a:rPr lang="zh-TW" altLang="en-US" sz="3200" dirty="0">
                <a:solidFill>
                  <a:srgbClr val="3F2619"/>
                </a:solidFill>
                <a:latin typeface="Noto Sans SC Medium" panose="020B0200000000000000" pitchFamily="34" charset="-128"/>
                <a:ea typeface="Noto Sans SC Medium" panose="020B0200000000000000" pitchFamily="34" charset="-128"/>
              </a:rPr>
              <a:t>個神經元，參數量會爆炸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因此 </a:t>
            </a:r>
            <a:r>
              <a:rPr lang="en-US" altLang="zh-TW" sz="3200" dirty="0">
                <a:solidFill>
                  <a:srgbClr val="3F2619"/>
                </a:solidFill>
                <a:latin typeface="Noto Sans SC Medium" panose="020B0200000000000000" pitchFamily="34" charset="-128"/>
                <a:ea typeface="Noto Sans SC Medium" panose="020B0200000000000000" pitchFamily="34" charset="-128"/>
              </a:rPr>
              <a:t>CNN </a:t>
            </a:r>
            <a:r>
              <a:rPr lang="zh-TW" altLang="en-US" sz="3200" dirty="0">
                <a:solidFill>
                  <a:srgbClr val="3F2619"/>
                </a:solidFill>
                <a:latin typeface="Noto Sans SC Medium" panose="020B0200000000000000" pitchFamily="34" charset="-128"/>
                <a:ea typeface="Noto Sans SC Medium" panose="020B0200000000000000" pitchFamily="34" charset="-128"/>
              </a:rPr>
              <a:t>誕生</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透過 </a:t>
            </a:r>
            <a:r>
              <a:rPr lang="en-US" altLang="zh-TW" sz="3200" dirty="0">
                <a:solidFill>
                  <a:srgbClr val="3F2619"/>
                </a:solidFill>
                <a:latin typeface="Noto Sans SC Medium" panose="020B0200000000000000" pitchFamily="34" charset="-128"/>
                <a:ea typeface="Noto Sans SC Medium" panose="020B0200000000000000" pitchFamily="34" charset="-128"/>
              </a:rPr>
              <a:t>Sliding Window </a:t>
            </a:r>
            <a:r>
              <a:rPr lang="zh-TW" altLang="en-US" sz="3200" dirty="0">
                <a:solidFill>
                  <a:srgbClr val="3F2619"/>
                </a:solidFill>
                <a:latin typeface="Noto Sans SC Medium" panose="020B0200000000000000" pitchFamily="34" charset="-128"/>
                <a:ea typeface="Noto Sans SC Medium" panose="020B0200000000000000" pitchFamily="34" charset="-128"/>
              </a:rPr>
              <a:t>對整張圖片進行卷積，進而達到節省參數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保留圖像的位置資訊</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100" name="Picture 4">
            <a:extLst>
              <a:ext uri="{FF2B5EF4-FFF2-40B4-BE49-F238E27FC236}">
                <a16:creationId xmlns:a16="http://schemas.microsoft.com/office/drawing/2014/main" id="{CA72783B-DF3B-490C-A7CB-8424E4BDB6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8939" y="6099630"/>
            <a:ext cx="11088269" cy="378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35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Convolution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3074" name="Picture 2">
            <a:extLst>
              <a:ext uri="{FF2B5EF4-FFF2-40B4-BE49-F238E27FC236}">
                <a16:creationId xmlns:a16="http://schemas.microsoft.com/office/drawing/2014/main" id="{CF9CF80E-C024-46FD-A60C-E93E8365EB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0473" y="4000500"/>
            <a:ext cx="8305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EB8C5D16-B4A0-490D-9E96-CF09134D2C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01250" y="3272689"/>
            <a:ext cx="7677150" cy="5604611"/>
          </a:xfrm>
          <a:prstGeom prst="rect">
            <a:avLst/>
          </a:prstGeom>
        </p:spPr>
      </p:pic>
      <p:sp>
        <p:nvSpPr>
          <p:cNvPr id="5" name="文字方塊 4">
            <a:extLst>
              <a:ext uri="{FF2B5EF4-FFF2-40B4-BE49-F238E27FC236}">
                <a16:creationId xmlns:a16="http://schemas.microsoft.com/office/drawing/2014/main" id="{BFE4FAF8-C566-4642-AA19-9C00555F3AC5}"/>
              </a:ext>
            </a:extLst>
          </p:cNvPr>
          <p:cNvSpPr txBox="1"/>
          <p:nvPr/>
        </p:nvSpPr>
        <p:spPr>
          <a:xfrm>
            <a:off x="10439400" y="3310788"/>
            <a:ext cx="4122988"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stride = 1, padding = 0</a:t>
            </a:r>
            <a:endParaRPr lang="zh-TW" altLang="en-US" sz="2800"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450CEB4-F2E5-45D2-8CCC-342EE1C2D088}"/>
              </a:ext>
            </a:extLst>
          </p:cNvPr>
          <p:cNvSpPr txBox="1"/>
          <p:nvPr/>
        </p:nvSpPr>
        <p:spPr>
          <a:xfrm>
            <a:off x="2362200" y="3477279"/>
            <a:ext cx="2206053"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channel = 1</a:t>
            </a:r>
            <a:endParaRPr lang="zh-TW" altLang="en-US" sz="28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19165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什麼是 </a:t>
            </a:r>
            <a:r>
              <a:rPr kumimoji="0" lang="en-US" altLang="zh-TW"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Filter</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98B939D4-A9F0-4573-A915-737C7A2E131A}"/>
              </a:ext>
            </a:extLst>
          </p:cNvPr>
          <p:cNvSpPr txBox="1"/>
          <p:nvPr/>
        </p:nvSpPr>
        <p:spPr>
          <a:xfrm>
            <a:off x="2227748" y="2194560"/>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一個 filter 由多個 kernel 組成：每個輸入 channel 各配一個 kernel</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每個 kernel 各自卷積後逐位置相加，再加上 bias，得到 1 張 feature map</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32" name="TextBox 31"/>
          <p:cNvSpPr txBox="1"/>
          <p:nvPr/>
        </p:nvSpPr>
        <p:spPr>
          <a:xfrm>
            <a:off x="223113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1 個 kernel 對第 1 個 channel 卷積：</a:t>
            </a:r>
          </a:p>
        </p:txBody>
      </p:sp>
      <p:grpSp>
        <p:nvGrpSpPr>
          <p:cNvPr id="3" name="channel 1"/>
          <p:cNvGrpSpPr/>
          <p:nvPr/>
        </p:nvGrpSpPr>
        <p:grpSpPr>
          <a:xfrm>
            <a:off x="2231136" y="4206240"/>
            <a:ext cx="1508760" cy="1508760"/>
            <a:chOff x="2231136" y="4206240"/>
            <a:chExt cx="1508760" cy="1508760"/>
          </a:xfrm>
        </p:grpSpPr>
        <p:sp>
          <p:nvSpPr>
            <p:cNvPr id="33" name="Rectangle 32"/>
            <p:cNvSpPr/>
            <p:nvPr/>
          </p:nvSpPr>
          <p:spPr>
            <a:xfrm>
              <a:off x="223113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4" name="Rectangle 33"/>
            <p:cNvSpPr/>
            <p:nvPr/>
          </p:nvSpPr>
          <p:spPr>
            <a:xfrm>
              <a:off x="273405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5" name="Rectangle 34"/>
            <p:cNvSpPr/>
            <p:nvPr/>
          </p:nvSpPr>
          <p:spPr>
            <a:xfrm>
              <a:off x="323697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sp>
          <p:nvSpPr>
            <p:cNvPr id="36" name="Rectangle 35"/>
            <p:cNvSpPr/>
            <p:nvPr/>
          </p:nvSpPr>
          <p:spPr>
            <a:xfrm>
              <a:off x="223113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7" name="Rectangle 36"/>
            <p:cNvSpPr/>
            <p:nvPr/>
          </p:nvSpPr>
          <p:spPr>
            <a:xfrm>
              <a:off x="273405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8" name="Rectangle 37"/>
            <p:cNvSpPr/>
            <p:nvPr/>
          </p:nvSpPr>
          <p:spPr>
            <a:xfrm>
              <a:off x="323697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39" name="Rectangle 38"/>
            <p:cNvSpPr/>
            <p:nvPr/>
          </p:nvSpPr>
          <p:spPr>
            <a:xfrm>
              <a:off x="2231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0" name="Rectangle 39"/>
            <p:cNvSpPr/>
            <p:nvPr/>
          </p:nvSpPr>
          <p:spPr>
            <a:xfrm>
              <a:off x="273405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41" name="Rectangle 40"/>
            <p:cNvSpPr/>
            <p:nvPr/>
          </p:nvSpPr>
          <p:spPr>
            <a:xfrm>
              <a:off x="323697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grpSp>
      <p:sp>
        <p:nvSpPr>
          <p:cNvPr id="42" name="TextBox 41"/>
          <p:cNvSpPr txBox="1"/>
          <p:nvPr/>
        </p:nvSpPr>
        <p:spPr>
          <a:xfrm>
            <a:off x="37398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4" name="kernel 1"/>
          <p:cNvGrpSpPr/>
          <p:nvPr/>
        </p:nvGrpSpPr>
        <p:grpSpPr>
          <a:xfrm>
            <a:off x="4562856" y="4457700"/>
            <a:ext cx="1005840" cy="1005840"/>
            <a:chOff x="4562856" y="4457700"/>
            <a:chExt cx="1005840" cy="1005840"/>
          </a:xfrm>
        </p:grpSpPr>
        <p:sp>
          <p:nvSpPr>
            <p:cNvPr id="43" name="Rectangle 42"/>
            <p:cNvSpPr/>
            <p:nvPr/>
          </p:nvSpPr>
          <p:spPr>
            <a:xfrm>
              <a:off x="456285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44" name="Rectangle 43"/>
            <p:cNvSpPr/>
            <p:nvPr/>
          </p:nvSpPr>
          <p:spPr>
            <a:xfrm>
              <a:off x="506577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5" name="Rectangle 44"/>
            <p:cNvSpPr/>
            <p:nvPr/>
          </p:nvSpPr>
          <p:spPr>
            <a:xfrm>
              <a:off x="456285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6" name="Rectangle 45"/>
            <p:cNvSpPr/>
            <p:nvPr/>
          </p:nvSpPr>
          <p:spPr>
            <a:xfrm>
              <a:off x="506577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grpSp>
      <p:sp>
        <p:nvSpPr>
          <p:cNvPr id="47" name="TextBox 46"/>
          <p:cNvSpPr txBox="1"/>
          <p:nvPr/>
        </p:nvSpPr>
        <p:spPr>
          <a:xfrm>
            <a:off x="55686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5" name="channel 1 結果"/>
          <p:cNvGrpSpPr/>
          <p:nvPr/>
        </p:nvGrpSpPr>
        <p:grpSpPr>
          <a:xfrm>
            <a:off x="6391656" y="4457700"/>
            <a:ext cx="1005840" cy="1005840"/>
            <a:chOff x="6391656" y="4457700"/>
            <a:chExt cx="1005840" cy="1005840"/>
          </a:xfrm>
        </p:grpSpPr>
        <p:sp>
          <p:nvSpPr>
            <p:cNvPr id="48" name="Rectangle 47"/>
            <p:cNvSpPr/>
            <p:nvPr/>
          </p:nvSpPr>
          <p:spPr>
            <a:xfrm>
              <a:off x="639165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9" name="Rectangle 48"/>
            <p:cNvSpPr/>
            <p:nvPr/>
          </p:nvSpPr>
          <p:spPr>
            <a:xfrm>
              <a:off x="689457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50" name="Rectangle 49"/>
            <p:cNvSpPr/>
            <p:nvPr/>
          </p:nvSpPr>
          <p:spPr>
            <a:xfrm>
              <a:off x="639165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51" name="Rectangle 50"/>
            <p:cNvSpPr/>
            <p:nvPr/>
          </p:nvSpPr>
          <p:spPr>
            <a:xfrm>
              <a:off x="689457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52" name="TextBox 51"/>
          <p:cNvSpPr txBox="1"/>
          <p:nvPr/>
        </p:nvSpPr>
        <p:spPr>
          <a:xfrm>
            <a:off x="211683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a:t>
            </a:r>
          </a:p>
        </p:txBody>
      </p:sp>
      <p:sp>
        <p:nvSpPr>
          <p:cNvPr id="53" name="TextBox 52"/>
          <p:cNvSpPr txBox="1"/>
          <p:nvPr/>
        </p:nvSpPr>
        <p:spPr>
          <a:xfrm>
            <a:off x="433425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1</a:t>
            </a:r>
          </a:p>
        </p:txBody>
      </p:sp>
      <p:sp>
        <p:nvSpPr>
          <p:cNvPr id="54" name="TextBox 53"/>
          <p:cNvSpPr txBox="1"/>
          <p:nvPr/>
        </p:nvSpPr>
        <p:spPr>
          <a:xfrm>
            <a:off x="60258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55" name="TextBox 54"/>
          <p:cNvSpPr txBox="1"/>
          <p:nvPr/>
        </p:nvSpPr>
        <p:spPr>
          <a:xfrm>
            <a:off x="223113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左上角的 2 是左上 2×2 區塊和 kernel 對應相乘再加總：1×1 + 2×0 + 0×0 + 1×1 = 2。其他位置就把 kernel 往右、往下平移一格，用同樣方式計算。</a:t>
            </a:r>
          </a:p>
        </p:txBody>
      </p:sp>
      <p:sp>
        <p:nvSpPr>
          <p:cNvPr id="56" name="TextBox 55"/>
          <p:cNvSpPr txBox="1"/>
          <p:nvPr/>
        </p:nvSpPr>
        <p:spPr>
          <a:xfrm>
            <a:off x="1036929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2 個 kernel 對第 2 個 channel 卷積：</a:t>
            </a:r>
          </a:p>
        </p:txBody>
      </p:sp>
      <p:grpSp>
        <p:nvGrpSpPr>
          <p:cNvPr id="7" name="channel 2"/>
          <p:cNvGrpSpPr/>
          <p:nvPr/>
        </p:nvGrpSpPr>
        <p:grpSpPr>
          <a:xfrm>
            <a:off x="10369296" y="4206240"/>
            <a:ext cx="1508760" cy="1508760"/>
            <a:chOff x="10369296" y="4206240"/>
            <a:chExt cx="1508760" cy="1508760"/>
          </a:xfrm>
        </p:grpSpPr>
        <p:sp>
          <p:nvSpPr>
            <p:cNvPr id="57" name="Rectangle 56"/>
            <p:cNvSpPr/>
            <p:nvPr/>
          </p:nvSpPr>
          <p:spPr>
            <a:xfrm>
              <a:off x="1036929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58" name="Rectangle 57"/>
            <p:cNvSpPr/>
            <p:nvPr/>
          </p:nvSpPr>
          <p:spPr>
            <a:xfrm>
              <a:off x="1087221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59" name="Rectangle 58"/>
            <p:cNvSpPr/>
            <p:nvPr/>
          </p:nvSpPr>
          <p:spPr>
            <a:xfrm>
              <a:off x="1137513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0" name="Rectangle 59"/>
            <p:cNvSpPr/>
            <p:nvPr/>
          </p:nvSpPr>
          <p:spPr>
            <a:xfrm>
              <a:off x="1036929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61" name="Rectangle 60"/>
            <p:cNvSpPr/>
            <p:nvPr/>
          </p:nvSpPr>
          <p:spPr>
            <a:xfrm>
              <a:off x="1087221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62" name="Rectangle 61"/>
            <p:cNvSpPr/>
            <p:nvPr/>
          </p:nvSpPr>
          <p:spPr>
            <a:xfrm>
              <a:off x="1137513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3" name="Rectangle 62"/>
            <p:cNvSpPr/>
            <p:nvPr/>
          </p:nvSpPr>
          <p:spPr>
            <a:xfrm>
              <a:off x="1036929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4" name="Rectangle 63"/>
            <p:cNvSpPr/>
            <p:nvPr/>
          </p:nvSpPr>
          <p:spPr>
            <a:xfrm>
              <a:off x="1087221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65" name="Rectangle 64"/>
            <p:cNvSpPr/>
            <p:nvPr/>
          </p:nvSpPr>
          <p:spPr>
            <a:xfrm>
              <a:off x="11375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grpSp>
      <p:sp>
        <p:nvSpPr>
          <p:cNvPr id="66" name="TextBox 65"/>
          <p:cNvSpPr txBox="1"/>
          <p:nvPr/>
        </p:nvSpPr>
        <p:spPr>
          <a:xfrm>
            <a:off x="118780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8" name="kernel 2"/>
          <p:cNvGrpSpPr/>
          <p:nvPr/>
        </p:nvGrpSpPr>
        <p:grpSpPr>
          <a:xfrm>
            <a:off x="12701016" y="4457700"/>
            <a:ext cx="1005840" cy="1005840"/>
            <a:chOff x="12701016" y="4457700"/>
            <a:chExt cx="1005840" cy="1005840"/>
          </a:xfrm>
        </p:grpSpPr>
        <p:sp>
          <p:nvSpPr>
            <p:cNvPr id="67" name="Rectangle 66"/>
            <p:cNvSpPr/>
            <p:nvPr/>
          </p:nvSpPr>
          <p:spPr>
            <a:xfrm>
              <a:off x="1270101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68" name="Rectangle 67"/>
            <p:cNvSpPr/>
            <p:nvPr/>
          </p:nvSpPr>
          <p:spPr>
            <a:xfrm>
              <a:off x="1320393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69" name="Rectangle 68"/>
            <p:cNvSpPr/>
            <p:nvPr/>
          </p:nvSpPr>
          <p:spPr>
            <a:xfrm>
              <a:off x="1270101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70" name="Rectangle 69"/>
            <p:cNvSpPr/>
            <p:nvPr/>
          </p:nvSpPr>
          <p:spPr>
            <a:xfrm>
              <a:off x="1320393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grpSp>
      <p:sp>
        <p:nvSpPr>
          <p:cNvPr id="71" name="TextBox 70"/>
          <p:cNvSpPr txBox="1"/>
          <p:nvPr/>
        </p:nvSpPr>
        <p:spPr>
          <a:xfrm>
            <a:off x="137068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0" name="channel 2 結果"/>
          <p:cNvGrpSpPr/>
          <p:nvPr/>
        </p:nvGrpSpPr>
        <p:grpSpPr>
          <a:xfrm>
            <a:off x="14529816" y="4457700"/>
            <a:ext cx="1005840" cy="1005840"/>
            <a:chOff x="14529816" y="4457700"/>
            <a:chExt cx="1005840" cy="1005840"/>
          </a:xfrm>
        </p:grpSpPr>
        <p:sp>
          <p:nvSpPr>
            <p:cNvPr id="72" name="Rectangle 71"/>
            <p:cNvSpPr/>
            <p:nvPr/>
          </p:nvSpPr>
          <p:spPr>
            <a:xfrm>
              <a:off x="1452981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73" name="Rectangle 72"/>
            <p:cNvSpPr/>
            <p:nvPr/>
          </p:nvSpPr>
          <p:spPr>
            <a:xfrm>
              <a:off x="1503273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4" name="Rectangle 73"/>
            <p:cNvSpPr/>
            <p:nvPr/>
          </p:nvSpPr>
          <p:spPr>
            <a:xfrm>
              <a:off x="1452981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5" name="Rectangle 74"/>
            <p:cNvSpPr/>
            <p:nvPr/>
          </p:nvSpPr>
          <p:spPr>
            <a:xfrm>
              <a:off x="1503273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76" name="TextBox 75"/>
          <p:cNvSpPr txBox="1"/>
          <p:nvPr/>
        </p:nvSpPr>
        <p:spPr>
          <a:xfrm>
            <a:off x="102549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a:t>
            </a:r>
          </a:p>
        </p:txBody>
      </p:sp>
      <p:sp>
        <p:nvSpPr>
          <p:cNvPr id="77" name="TextBox 76"/>
          <p:cNvSpPr txBox="1"/>
          <p:nvPr/>
        </p:nvSpPr>
        <p:spPr>
          <a:xfrm>
            <a:off x="1247241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2</a:t>
            </a:r>
          </a:p>
        </p:txBody>
      </p:sp>
      <p:sp>
        <p:nvSpPr>
          <p:cNvPr id="78" name="TextBox 77"/>
          <p:cNvSpPr txBox="1"/>
          <p:nvPr/>
        </p:nvSpPr>
        <p:spPr>
          <a:xfrm>
            <a:off x="1416405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79" name="TextBox 78"/>
          <p:cNvSpPr txBox="1"/>
          <p:nvPr/>
        </p:nvSpPr>
        <p:spPr>
          <a:xfrm>
            <a:off x="1036929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左上角是 0×0 + 1×1 + 2×1 + 0×0 = 3。</a:t>
            </a:r>
          </a:p>
        </p:txBody>
      </p:sp>
      <p:sp>
        <p:nvSpPr>
          <p:cNvPr id="80" name="TextBox 79"/>
          <p:cNvSpPr txBox="1"/>
          <p:nvPr/>
        </p:nvSpPr>
        <p:spPr>
          <a:xfrm>
            <a:off x="2231136" y="7635240"/>
            <a:ext cx="1545336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最後把兩張圖逐位置相加，再把 bias 加到每個位置上：</a:t>
            </a:r>
          </a:p>
        </p:txBody>
      </p:sp>
      <p:grpSp>
        <p:nvGrpSpPr>
          <p:cNvPr id="12" name="sum channel 1"/>
          <p:cNvGrpSpPr/>
          <p:nvPr/>
        </p:nvGrpSpPr>
        <p:grpSpPr>
          <a:xfrm>
            <a:off x="2231136" y="8183880"/>
            <a:ext cx="1005840" cy="1005840"/>
            <a:chOff x="2231136" y="8183880"/>
            <a:chExt cx="1005840" cy="1005840"/>
          </a:xfrm>
        </p:grpSpPr>
        <p:sp>
          <p:nvSpPr>
            <p:cNvPr id="81" name="Rectangle 80"/>
            <p:cNvSpPr/>
            <p:nvPr/>
          </p:nvSpPr>
          <p:spPr>
            <a:xfrm>
              <a:off x="22311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82" name="Rectangle 81"/>
            <p:cNvSpPr/>
            <p:nvPr/>
          </p:nvSpPr>
          <p:spPr>
            <a:xfrm>
              <a:off x="27340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83" name="Rectangle 82"/>
            <p:cNvSpPr/>
            <p:nvPr/>
          </p:nvSpPr>
          <p:spPr>
            <a:xfrm>
              <a:off x="22311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4" name="Rectangle 83"/>
            <p:cNvSpPr/>
            <p:nvPr/>
          </p:nvSpPr>
          <p:spPr>
            <a:xfrm>
              <a:off x="27340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85" name="TextBox 84"/>
          <p:cNvSpPr txBox="1"/>
          <p:nvPr/>
        </p:nvSpPr>
        <p:spPr>
          <a:xfrm>
            <a:off x="32369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3" name="sum channel 2"/>
          <p:cNvGrpSpPr/>
          <p:nvPr/>
        </p:nvGrpSpPr>
        <p:grpSpPr>
          <a:xfrm>
            <a:off x="4059936" y="8183880"/>
            <a:ext cx="1005840" cy="1005840"/>
            <a:chOff x="4059936" y="8183880"/>
            <a:chExt cx="1005840" cy="1005840"/>
          </a:xfrm>
        </p:grpSpPr>
        <p:sp>
          <p:nvSpPr>
            <p:cNvPr id="86" name="Rectangle 85"/>
            <p:cNvSpPr/>
            <p:nvPr/>
          </p:nvSpPr>
          <p:spPr>
            <a:xfrm>
              <a:off x="40599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87" name="Rectangle 86"/>
            <p:cNvSpPr/>
            <p:nvPr/>
          </p:nvSpPr>
          <p:spPr>
            <a:xfrm>
              <a:off x="45628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8" name="Rectangle 87"/>
            <p:cNvSpPr/>
            <p:nvPr/>
          </p:nvSpPr>
          <p:spPr>
            <a:xfrm>
              <a:off x="40599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9" name="Rectangle 88"/>
            <p:cNvSpPr/>
            <p:nvPr/>
          </p:nvSpPr>
          <p:spPr>
            <a:xfrm>
              <a:off x="45628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90" name="TextBox 89"/>
          <p:cNvSpPr txBox="1"/>
          <p:nvPr/>
        </p:nvSpPr>
        <p:spPr>
          <a:xfrm>
            <a:off x="50657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sp>
        <p:nvSpPr>
          <p:cNvPr id="91" name="bias"/>
          <p:cNvSpPr txBox="1"/>
          <p:nvPr/>
        </p:nvSpPr>
        <p:spPr>
          <a:xfrm>
            <a:off x="5888736" y="8183880"/>
            <a:ext cx="54864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Noto Sans SC Medium"/>
                <a:ea typeface="Noto Sans SC Medium"/>
                <a:cs typeface="+mn-cs"/>
              </a:rPr>
              <a:t>1</a:t>
            </a:r>
          </a:p>
        </p:txBody>
      </p:sp>
      <p:sp>
        <p:nvSpPr>
          <p:cNvPr id="92" name="TextBox 91"/>
          <p:cNvSpPr txBox="1"/>
          <p:nvPr/>
        </p:nvSpPr>
        <p:spPr>
          <a:xfrm>
            <a:off x="64373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4" name="feature map"/>
          <p:cNvGrpSpPr/>
          <p:nvPr/>
        </p:nvGrpSpPr>
        <p:grpSpPr>
          <a:xfrm>
            <a:off x="7260336" y="8183880"/>
            <a:ext cx="1005840" cy="1005840"/>
            <a:chOff x="7260336" y="8183880"/>
            <a:chExt cx="1005840" cy="1005840"/>
          </a:xfrm>
        </p:grpSpPr>
        <p:sp>
          <p:nvSpPr>
            <p:cNvPr id="93" name="Rectangle 92"/>
            <p:cNvSpPr/>
            <p:nvPr/>
          </p:nvSpPr>
          <p:spPr>
            <a:xfrm>
              <a:off x="72603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6</a:t>
              </a:r>
            </a:p>
          </p:txBody>
        </p:sp>
        <p:sp>
          <p:nvSpPr>
            <p:cNvPr id="94" name="Rectangle 93"/>
            <p:cNvSpPr/>
            <p:nvPr/>
          </p:nvSpPr>
          <p:spPr>
            <a:xfrm>
              <a:off x="77632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sp>
          <p:nvSpPr>
            <p:cNvPr id="95" name="Rectangle 94"/>
            <p:cNvSpPr/>
            <p:nvPr/>
          </p:nvSpPr>
          <p:spPr>
            <a:xfrm>
              <a:off x="72603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96" name="Rectangle 95"/>
            <p:cNvSpPr/>
            <p:nvPr/>
          </p:nvSpPr>
          <p:spPr>
            <a:xfrm>
              <a:off x="77632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grpSp>
      <p:sp>
        <p:nvSpPr>
          <p:cNvPr id="97" name="TextBox 96"/>
          <p:cNvSpPr txBox="1"/>
          <p:nvPr/>
        </p:nvSpPr>
        <p:spPr>
          <a:xfrm>
            <a:off x="18653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98" name="TextBox 97"/>
          <p:cNvSpPr txBox="1"/>
          <p:nvPr/>
        </p:nvSpPr>
        <p:spPr>
          <a:xfrm>
            <a:off x="36941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99" name="TextBox 98"/>
          <p:cNvSpPr txBox="1"/>
          <p:nvPr/>
        </p:nvSpPr>
        <p:spPr>
          <a:xfrm>
            <a:off x="5705856" y="9262872"/>
            <a:ext cx="91440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bias</a:t>
            </a:r>
          </a:p>
        </p:txBody>
      </p:sp>
      <p:sp>
        <p:nvSpPr>
          <p:cNvPr id="100" name="TextBox 99"/>
          <p:cNvSpPr txBox="1"/>
          <p:nvPr/>
        </p:nvSpPr>
        <p:spPr>
          <a:xfrm>
            <a:off x="68945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feature map</a:t>
            </a:r>
          </a:p>
        </p:txBody>
      </p:sp>
      <p:sp>
        <p:nvSpPr>
          <p:cNvPr id="101" name="TextBox 100"/>
          <p:cNvSpPr txBox="1"/>
          <p:nvPr/>
        </p:nvSpPr>
        <p:spPr>
          <a:xfrm>
            <a:off x="8997696" y="8229600"/>
            <a:ext cx="8686800" cy="1097280"/>
          </a:xfrm>
          <a:prstGeom prst="rect">
            <a:avLst/>
          </a:prstGeom>
          <a:noFill/>
        </p:spPr>
        <p:txBody>
          <a:bodyPr wrap="square" lIns="0" tIns="0" rIns="0" bIns="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200" b="0" i="0" u="none" strike="noStrike" kern="1200" cap="none" spc="0" normalizeH="0" baseline="0" noProof="0" dirty="0">
                <a:ln>
                  <a:noFill/>
                </a:ln>
                <a:solidFill>
                  <a:srgbClr val="3F2619"/>
                </a:solidFill>
                <a:effectLst/>
                <a:uLnTx/>
                <a:uFillTx/>
                <a:latin typeface="Noto Sans SC Medium"/>
                <a:ea typeface="Noto Sans SC Medium"/>
                <a:cs typeface="+mn-cs"/>
              </a:rPr>
              <a:t>例如左上角就是 2 + 3 + 1 = 6。</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Noto Sans SC Medium"/>
                <a:ea typeface="Noto Sans SC Medium"/>
                <a:cs typeface="+mn-cs"/>
              </a:rPr>
              <a:t>多一個 filter，就多一張 feature map（多 1 個輸出 channel）</a:t>
            </a:r>
          </a:p>
        </p:txBody>
      </p:sp>
    </p:spTree>
    <p:extLst>
      <p:ext uri="{BB962C8B-B14F-4D97-AF65-F5344CB8AC3E}">
        <p14:creationId xmlns:p14="http://schemas.microsoft.com/office/powerpoint/2010/main" val="1116471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a:t>
            </a:r>
            <a:r>
              <a:rPr lang="en-US" altLang="zh-TW" sz="7200" dirty="0">
                <a:solidFill>
                  <a:srgbClr val="3F2619"/>
                </a:solidFill>
                <a:latin typeface="Chiron GoRound TC ExtraBold" pitchFamily="2" charset="-120"/>
                <a:ea typeface="Chiron GoRound TC ExtraBold" pitchFamily="2" charset="-120"/>
              </a:rPr>
              <a:t>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36065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池化層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當我們在做圖片的特徵萃取的過程中</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圖形的縮放通常不會影響到我們的目的</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經由這樣的 </a:t>
            </a:r>
            <a:r>
              <a:rPr lang="en-US" altLang="zh-TW" sz="3200" dirty="0">
                <a:solidFill>
                  <a:srgbClr val="3F2619"/>
                </a:solidFill>
                <a:latin typeface="Noto Sans SC Medium" panose="020B0200000000000000" pitchFamily="34" charset="-128"/>
                <a:ea typeface="Noto Sans SC Medium" panose="020B0200000000000000" pitchFamily="34" charset="-128"/>
              </a:rPr>
              <a:t>scaling </a:t>
            </a:r>
            <a:r>
              <a:rPr lang="zh-TW" altLang="en-US" sz="3200" dirty="0">
                <a:solidFill>
                  <a:srgbClr val="3F2619"/>
                </a:solidFill>
                <a:latin typeface="Noto Sans SC Medium" panose="020B0200000000000000" pitchFamily="34" charset="-128"/>
                <a:ea typeface="Noto Sans SC Medium" panose="020B0200000000000000" pitchFamily="34" charset="-128"/>
              </a:rPr>
              <a:t>我們也可以再一次的減少神經網路的參數</a:t>
            </a: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5BA2018-7389-48A8-AF63-1BAC6CC53887}"/>
              </a:ext>
            </a:extLst>
          </p:cNvPr>
          <p:cNvPicPr>
            <a:picLocks noChangeAspect="1"/>
          </p:cNvPicPr>
          <p:nvPr/>
        </p:nvPicPr>
        <p:blipFill>
          <a:blip r:embed="rId8"/>
          <a:stretch>
            <a:fillRect/>
          </a:stretch>
        </p:blipFill>
        <p:spPr>
          <a:xfrm>
            <a:off x="3886200" y="5901009"/>
            <a:ext cx="3506972" cy="3479995"/>
          </a:xfrm>
          <a:prstGeom prst="rect">
            <a:avLst/>
          </a:prstGeom>
        </p:spPr>
      </p:pic>
      <p:pic>
        <p:nvPicPr>
          <p:cNvPr id="8" name="圖片 7">
            <a:extLst>
              <a:ext uri="{FF2B5EF4-FFF2-40B4-BE49-F238E27FC236}">
                <a16:creationId xmlns:a16="http://schemas.microsoft.com/office/drawing/2014/main" id="{765A54E4-9298-4133-9D62-E3916A38361C}"/>
              </a:ext>
            </a:extLst>
          </p:cNvPr>
          <p:cNvPicPr>
            <a:picLocks noChangeAspect="1"/>
          </p:cNvPicPr>
          <p:nvPr/>
        </p:nvPicPr>
        <p:blipFill>
          <a:blip r:embed="rId8"/>
          <a:stretch>
            <a:fillRect/>
          </a:stretch>
        </p:blipFill>
        <p:spPr>
          <a:xfrm>
            <a:off x="12877800" y="6678248"/>
            <a:ext cx="1940442" cy="1925516"/>
          </a:xfrm>
          <a:prstGeom prst="rect">
            <a:avLst/>
          </a:prstGeom>
        </p:spPr>
      </p:pic>
      <p:sp>
        <p:nvSpPr>
          <p:cNvPr id="10" name="箭號: 向右 9">
            <a:extLst>
              <a:ext uri="{FF2B5EF4-FFF2-40B4-BE49-F238E27FC236}">
                <a16:creationId xmlns:a16="http://schemas.microsoft.com/office/drawing/2014/main" id="{1238DEE9-C01B-4B83-83F7-9B9D29557C97}"/>
              </a:ext>
            </a:extLst>
          </p:cNvPr>
          <p:cNvSpPr/>
          <p:nvPr/>
        </p:nvSpPr>
        <p:spPr>
          <a:xfrm>
            <a:off x="8763000" y="7465580"/>
            <a:ext cx="2743200" cy="70289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3945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Max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21293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挑出矩陣當中的最大值就好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好處是當圖片整個平移幾個</a:t>
            </a:r>
            <a:r>
              <a:rPr lang="en-US" altLang="zh-TW" sz="3200" dirty="0">
                <a:solidFill>
                  <a:srgbClr val="3F2619"/>
                </a:solidFill>
                <a:latin typeface="Noto Sans SC Medium" panose="020B0200000000000000" pitchFamily="34" charset="-128"/>
                <a:ea typeface="Noto Sans SC Medium" panose="020B0200000000000000" pitchFamily="34" charset="-128"/>
              </a:rPr>
              <a:t>Pixel</a:t>
            </a:r>
            <a:r>
              <a:rPr lang="zh-TW" altLang="en-US" sz="3200" dirty="0">
                <a:solidFill>
                  <a:srgbClr val="3F2619"/>
                </a:solidFill>
                <a:latin typeface="Noto Sans SC Medium" panose="020B0200000000000000" pitchFamily="34" charset="-128"/>
                <a:ea typeface="Noto Sans SC Medium" panose="020B0200000000000000" pitchFamily="34" charset="-128"/>
              </a:rPr>
              <a:t>的話</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對判斷上不會造成影響以及有很好的抗雜訊功能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D35B9AB4-E519-4E1A-9BB5-0DCCD7C3D27B}"/>
              </a:ext>
            </a:extLst>
          </p:cNvPr>
          <p:cNvPicPr>
            <a:picLocks noChangeAspect="1"/>
          </p:cNvPicPr>
          <p:nvPr/>
        </p:nvPicPr>
        <p:blipFill rotWithShape="1">
          <a:blip r:embed="rId8"/>
          <a:srcRect t="2735" b="53635"/>
          <a:stretch/>
        </p:blipFill>
        <p:spPr>
          <a:xfrm>
            <a:off x="152400" y="5285316"/>
            <a:ext cx="8845344" cy="3325990"/>
          </a:xfrm>
          <a:prstGeom prst="rect">
            <a:avLst/>
          </a:prstGeom>
        </p:spPr>
      </p:pic>
      <p:pic>
        <p:nvPicPr>
          <p:cNvPr id="12" name="圖片 11">
            <a:extLst>
              <a:ext uri="{FF2B5EF4-FFF2-40B4-BE49-F238E27FC236}">
                <a16:creationId xmlns:a16="http://schemas.microsoft.com/office/drawing/2014/main" id="{25037B73-11C9-4299-9D31-0DC2200EA5CF}"/>
              </a:ext>
            </a:extLst>
          </p:cNvPr>
          <p:cNvPicPr>
            <a:picLocks noChangeAspect="1"/>
          </p:cNvPicPr>
          <p:nvPr/>
        </p:nvPicPr>
        <p:blipFill rotWithShape="1">
          <a:blip r:embed="rId8"/>
          <a:srcRect t="54545" b="1825"/>
          <a:stretch/>
        </p:blipFill>
        <p:spPr>
          <a:xfrm>
            <a:off x="9296400" y="5285316"/>
            <a:ext cx="8845344" cy="3325990"/>
          </a:xfrm>
          <a:prstGeom prst="rect">
            <a:avLst/>
          </a:prstGeom>
        </p:spPr>
      </p:pic>
      <p:sp>
        <p:nvSpPr>
          <p:cNvPr id="10" name="文字方塊 9">
            <a:extLst>
              <a:ext uri="{FF2B5EF4-FFF2-40B4-BE49-F238E27FC236}">
                <a16:creationId xmlns:a16="http://schemas.microsoft.com/office/drawing/2014/main" id="{64C8BB1A-1C48-4239-B1A6-E930D9246D3B}"/>
              </a:ext>
            </a:extLst>
          </p:cNvPr>
          <p:cNvSpPr txBox="1"/>
          <p:nvPr/>
        </p:nvSpPr>
        <p:spPr>
          <a:xfrm>
            <a:off x="6324600"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491F350E-8318-4426-A724-74ED499F477A}"/>
              </a:ext>
            </a:extLst>
          </p:cNvPr>
          <p:cNvSpPr txBox="1"/>
          <p:nvPr/>
        </p:nvSpPr>
        <p:spPr>
          <a:xfrm>
            <a:off x="15465528"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2550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Fully Connected Layer</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全連接層的部分就是將之前的結果平坦化之後接到最基本的神經網絡了</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8194" name="Picture 2">
            <a:extLst>
              <a:ext uri="{FF2B5EF4-FFF2-40B4-BE49-F238E27FC236}">
                <a16:creationId xmlns:a16="http://schemas.microsoft.com/office/drawing/2014/main" id="{E31849CB-0A3D-468A-8046-49E82D9F50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612877"/>
            <a:ext cx="6667500" cy="35623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88DE0511-0A72-4AB6-9D12-6AC15C0821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29863" y="4015007"/>
            <a:ext cx="9533974" cy="4181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085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CNN 完整架構</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把 Convolution、Pooling、Fully Connected 依序疊起來，就是完整的 CNN</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以 28×28 灰階圖、10 個類別為例（如 Fashion-MNIST），總參數量 20,490</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Code"/>
          <p:cNvSpPr/>
          <p:nvPr/>
        </p:nvSpPr>
        <p:spPr>
          <a:xfrm>
            <a:off x="2231136" y="4114800"/>
            <a:ext cx="11795760" cy="45110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as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Sequential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28, 28)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160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4640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7, 7)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Flatten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(1568,)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Linear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10</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(10,)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15690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sum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numel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parameters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20490</a:t>
            </a:r>
            <a:endParaRPr kumimoji="0"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Brace features"/>
          <p:cNvSpPr/>
          <p:nvPr/>
        </p:nvSpPr>
        <p:spPr>
          <a:xfrm>
            <a:off x="14301216" y="5340096"/>
            <a:ext cx="274320" cy="17556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Brace features label"/>
          <p:cNvSpPr txBox="1"/>
          <p:nvPr/>
        </p:nvSpPr>
        <p:spPr>
          <a:xfrm>
            <a:off x="14758416" y="57150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特徵提取</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Convolution + Pooling</a:t>
            </a:r>
          </a:p>
        </p:txBody>
      </p:sp>
      <p:sp>
        <p:nvSpPr>
          <p:cNvPr id="35" name="Brace classifier"/>
          <p:cNvSpPr/>
          <p:nvPr/>
        </p:nvSpPr>
        <p:spPr>
          <a:xfrm>
            <a:off x="14301216" y="7168896"/>
            <a:ext cx="274320" cy="5364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Brace classifier label"/>
          <p:cNvSpPr txBox="1"/>
          <p:nvPr/>
        </p:nvSpPr>
        <p:spPr>
          <a:xfrm>
            <a:off x="14758416" y="69342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分類</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Fully Connected</a:t>
            </a:r>
          </a:p>
        </p:txBody>
      </p:sp>
    </p:spTree>
    <p:extLst>
      <p:ext uri="{BB962C8B-B14F-4D97-AF65-F5344CB8AC3E}">
        <p14:creationId xmlns:p14="http://schemas.microsoft.com/office/powerpoint/2010/main" val="1097355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322646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資料集介紹</a:t>
            </a:r>
            <a:r>
              <a:rPr lang="en-US" altLang="zh-TW" sz="3600" dirty="0">
                <a:solidFill>
                  <a:srgbClr val="3F2619"/>
                </a:solidFill>
                <a:latin typeface="Noto Sans SC Medium" panose="020B0200000000000000" pitchFamily="34" charset="-128"/>
                <a:ea typeface="Noto Sans SC Medium" panose="020B0200000000000000" pitchFamily="34" charset="-128"/>
              </a:rPr>
              <a:t>Fashion-MNIST </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訓練資料 </a:t>
            </a:r>
            <a:r>
              <a:rPr lang="en-US" altLang="zh-TW" sz="3600" dirty="0">
                <a:solidFill>
                  <a:srgbClr val="3F2619"/>
                </a:solidFill>
                <a:latin typeface="Noto Sans SC Medium" panose="020B0200000000000000" pitchFamily="34" charset="-128"/>
                <a:ea typeface="Noto Sans SC Medium" panose="020B0200000000000000" pitchFamily="34" charset="-128"/>
              </a:rPr>
              <a:t>60,000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測試資料 </a:t>
            </a:r>
            <a:r>
              <a:rPr lang="en-US" altLang="zh-TW" sz="3600" dirty="0">
                <a:solidFill>
                  <a:srgbClr val="3F2619"/>
                </a:solidFill>
                <a:latin typeface="Noto Sans SC Medium" panose="020B0200000000000000" pitchFamily="34" charset="-128"/>
                <a:ea typeface="Noto Sans SC Medium" panose="020B0200000000000000" pitchFamily="34" charset="-128"/>
              </a:rPr>
              <a:t>10,000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8" name="圖片 7">
            <a:extLst>
              <a:ext uri="{FF2B5EF4-FFF2-40B4-BE49-F238E27FC236}">
                <a16:creationId xmlns:a16="http://schemas.microsoft.com/office/drawing/2014/main" id="{158DBE0A-5F8B-4EC8-AB21-E612BAB4AB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35525" y="2052272"/>
            <a:ext cx="7680975" cy="7680975"/>
          </a:xfrm>
          <a:prstGeom prst="rect">
            <a:avLst/>
          </a:prstGeom>
        </p:spPr>
      </p:pic>
    </p:spTree>
    <p:extLst>
      <p:ext uri="{BB962C8B-B14F-4D97-AF65-F5344CB8AC3E}">
        <p14:creationId xmlns:p14="http://schemas.microsoft.com/office/powerpoint/2010/main" val="1734471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3EDB92C-271B-42EF-B14E-8D224E60211B}"/>
              </a:ext>
            </a:extLst>
          </p:cNvPr>
          <p:cNvPicPr>
            <a:picLocks noChangeAspect="1"/>
          </p:cNvPicPr>
          <p:nvPr/>
        </p:nvPicPr>
        <p:blipFill>
          <a:blip r:embed="rId8"/>
          <a:stretch>
            <a:fillRect/>
          </a:stretch>
        </p:blipFill>
        <p:spPr>
          <a:xfrm>
            <a:off x="2689941" y="3368036"/>
            <a:ext cx="13002265" cy="6001045"/>
          </a:xfrm>
          <a:prstGeom prst="rect">
            <a:avLst/>
          </a:prstGeom>
        </p:spPr>
      </p:pic>
    </p:spTree>
    <p:extLst>
      <p:ext uri="{BB962C8B-B14F-4D97-AF65-F5344CB8AC3E}">
        <p14:creationId xmlns:p14="http://schemas.microsoft.com/office/powerpoint/2010/main" val="3122221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7" name="圖片 16">
            <a:extLst>
              <a:ext uri="{FF2B5EF4-FFF2-40B4-BE49-F238E27FC236}">
                <a16:creationId xmlns:a16="http://schemas.microsoft.com/office/drawing/2014/main" id="{2190C556-E825-4B9B-8F42-94529318EDF0}"/>
              </a:ext>
            </a:extLst>
          </p:cNvPr>
          <p:cNvPicPr>
            <a:picLocks noChangeAspect="1"/>
          </p:cNvPicPr>
          <p:nvPr/>
        </p:nvPicPr>
        <p:blipFill>
          <a:blip r:embed="rId8"/>
          <a:stretch>
            <a:fillRect/>
          </a:stretch>
        </p:blipFill>
        <p:spPr>
          <a:xfrm>
            <a:off x="2281000" y="3729924"/>
            <a:ext cx="9998175" cy="747896"/>
          </a:xfrm>
          <a:prstGeom prst="rect">
            <a:avLst/>
          </a:prstGeom>
        </p:spPr>
      </p:pic>
      <p:pic>
        <p:nvPicPr>
          <p:cNvPr id="19" name="圖片 18">
            <a:extLst>
              <a:ext uri="{FF2B5EF4-FFF2-40B4-BE49-F238E27FC236}">
                <a16:creationId xmlns:a16="http://schemas.microsoft.com/office/drawing/2014/main" id="{E1E32BB1-977D-44EB-A9D7-FABFEB65814B}"/>
              </a:ext>
            </a:extLst>
          </p:cNvPr>
          <p:cNvPicPr>
            <a:picLocks noChangeAspect="1"/>
          </p:cNvPicPr>
          <p:nvPr/>
        </p:nvPicPr>
        <p:blipFill>
          <a:blip r:embed="rId9"/>
          <a:stretch>
            <a:fillRect/>
          </a:stretch>
        </p:blipFill>
        <p:spPr>
          <a:xfrm>
            <a:off x="2278125" y="4855129"/>
            <a:ext cx="13621852" cy="4522600"/>
          </a:xfrm>
          <a:prstGeom prst="rect">
            <a:avLst/>
          </a:prstGeom>
        </p:spPr>
      </p:pic>
    </p:spTree>
    <p:extLst>
      <p:ext uri="{BB962C8B-B14F-4D97-AF65-F5344CB8AC3E}">
        <p14:creationId xmlns:p14="http://schemas.microsoft.com/office/powerpoint/2010/main" val="429002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3347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5" name="圖片 14">
            <a:extLst>
              <a:ext uri="{FF2B5EF4-FFF2-40B4-BE49-F238E27FC236}">
                <a16:creationId xmlns:a16="http://schemas.microsoft.com/office/drawing/2014/main" id="{59BAFAE8-27C3-4F01-A99E-EC3F0F206C5A}"/>
              </a:ext>
            </a:extLst>
          </p:cNvPr>
          <p:cNvPicPr>
            <a:picLocks noChangeAspect="1"/>
          </p:cNvPicPr>
          <p:nvPr/>
        </p:nvPicPr>
        <p:blipFill>
          <a:blip r:embed="rId8"/>
          <a:stretch>
            <a:fillRect/>
          </a:stretch>
        </p:blipFill>
        <p:spPr>
          <a:xfrm>
            <a:off x="3904519" y="3585721"/>
            <a:ext cx="10478962" cy="5792008"/>
          </a:xfrm>
          <a:prstGeom prst="rect">
            <a:avLst/>
          </a:prstGeom>
        </p:spPr>
      </p:pic>
    </p:spTree>
    <p:extLst>
      <p:ext uri="{BB962C8B-B14F-4D97-AF65-F5344CB8AC3E}">
        <p14:creationId xmlns:p14="http://schemas.microsoft.com/office/powerpoint/2010/main" val="1677661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7" name="圖片 6">
            <a:extLst>
              <a:ext uri="{FF2B5EF4-FFF2-40B4-BE49-F238E27FC236}">
                <a16:creationId xmlns:a16="http://schemas.microsoft.com/office/drawing/2014/main" id="{1008EB4C-7A3F-4A90-9093-12A87B7C00FD}"/>
              </a:ext>
            </a:extLst>
          </p:cNvPr>
          <p:cNvPicPr>
            <a:picLocks noChangeAspect="1"/>
          </p:cNvPicPr>
          <p:nvPr/>
        </p:nvPicPr>
        <p:blipFill>
          <a:blip r:embed="rId8"/>
          <a:stretch>
            <a:fillRect/>
          </a:stretch>
        </p:blipFill>
        <p:spPr>
          <a:xfrm>
            <a:off x="2281000" y="4193784"/>
            <a:ext cx="9530319" cy="747896"/>
          </a:xfrm>
          <a:prstGeom prst="rect">
            <a:avLst/>
          </a:prstGeom>
        </p:spPr>
      </p:pic>
      <p:pic>
        <p:nvPicPr>
          <p:cNvPr id="12" name="圖片 11">
            <a:extLst>
              <a:ext uri="{FF2B5EF4-FFF2-40B4-BE49-F238E27FC236}">
                <a16:creationId xmlns:a16="http://schemas.microsoft.com/office/drawing/2014/main" id="{C77C4C8A-7CF4-4E7D-9F7C-C9AFD96B5843}"/>
              </a:ext>
            </a:extLst>
          </p:cNvPr>
          <p:cNvPicPr>
            <a:picLocks noChangeAspect="1"/>
          </p:cNvPicPr>
          <p:nvPr/>
        </p:nvPicPr>
        <p:blipFill>
          <a:blip r:embed="rId9"/>
          <a:stretch>
            <a:fillRect/>
          </a:stretch>
        </p:blipFill>
        <p:spPr>
          <a:xfrm>
            <a:off x="2281000" y="5345321"/>
            <a:ext cx="13308966" cy="3941105"/>
          </a:xfrm>
          <a:prstGeom prst="rect">
            <a:avLst/>
          </a:prstGeom>
        </p:spPr>
      </p:pic>
    </p:spTree>
    <p:extLst>
      <p:ext uri="{BB962C8B-B14F-4D97-AF65-F5344CB8AC3E}">
        <p14:creationId xmlns:p14="http://schemas.microsoft.com/office/powerpoint/2010/main" val="376895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Step4</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0F787420-5868-418D-BF33-39ED9656FD82}"/>
              </a:ext>
            </a:extLst>
          </p:cNvPr>
          <p:cNvPicPr>
            <a:picLocks noChangeAspect="1"/>
          </p:cNvPicPr>
          <p:nvPr/>
        </p:nvPicPr>
        <p:blipFill>
          <a:blip r:embed="rId8"/>
          <a:stretch>
            <a:fillRect/>
          </a:stretch>
        </p:blipFill>
        <p:spPr>
          <a:xfrm>
            <a:off x="2281000" y="3445367"/>
            <a:ext cx="10526184" cy="2009854"/>
          </a:xfrm>
          <a:prstGeom prst="rect">
            <a:avLst/>
          </a:prstGeom>
        </p:spPr>
      </p:pic>
      <p:pic>
        <p:nvPicPr>
          <p:cNvPr id="13" name="圖片 12">
            <a:extLst>
              <a:ext uri="{FF2B5EF4-FFF2-40B4-BE49-F238E27FC236}">
                <a16:creationId xmlns:a16="http://schemas.microsoft.com/office/drawing/2014/main" id="{CE62A782-23E2-4837-8095-D7399642C52C}"/>
              </a:ext>
            </a:extLst>
          </p:cNvPr>
          <p:cNvPicPr>
            <a:picLocks noChangeAspect="1"/>
          </p:cNvPicPr>
          <p:nvPr/>
        </p:nvPicPr>
        <p:blipFill>
          <a:blip r:embed="rId9"/>
          <a:stretch>
            <a:fillRect/>
          </a:stretch>
        </p:blipFill>
        <p:spPr>
          <a:xfrm>
            <a:off x="9454154" y="369259"/>
            <a:ext cx="7690846" cy="9548481"/>
          </a:xfrm>
          <a:prstGeom prst="rect">
            <a:avLst/>
          </a:prstGeom>
        </p:spPr>
      </p:pic>
      <p:pic>
        <p:nvPicPr>
          <p:cNvPr id="17" name="圖片 16">
            <a:extLst>
              <a:ext uri="{FF2B5EF4-FFF2-40B4-BE49-F238E27FC236}">
                <a16:creationId xmlns:a16="http://schemas.microsoft.com/office/drawing/2014/main" id="{3F8466F5-AA94-4A4B-B506-46F46AA910B6}"/>
              </a:ext>
            </a:extLst>
          </p:cNvPr>
          <p:cNvPicPr>
            <a:picLocks noChangeAspect="1"/>
          </p:cNvPicPr>
          <p:nvPr/>
        </p:nvPicPr>
        <p:blipFill>
          <a:blip r:embed="rId10"/>
          <a:stretch>
            <a:fillRect/>
          </a:stretch>
        </p:blipFill>
        <p:spPr>
          <a:xfrm>
            <a:off x="2281000" y="5858247"/>
            <a:ext cx="6382852" cy="2614858"/>
          </a:xfrm>
          <a:prstGeom prst="rect">
            <a:avLst/>
          </a:prstGeom>
        </p:spPr>
      </p:pic>
      <p:pic>
        <p:nvPicPr>
          <p:cNvPr id="19" name="圖片 18">
            <a:extLst>
              <a:ext uri="{FF2B5EF4-FFF2-40B4-BE49-F238E27FC236}">
                <a16:creationId xmlns:a16="http://schemas.microsoft.com/office/drawing/2014/main" id="{A1A63487-67E4-4903-9BB5-6E474B889468}"/>
              </a:ext>
            </a:extLst>
          </p:cNvPr>
          <p:cNvPicPr>
            <a:picLocks noChangeAspect="1"/>
          </p:cNvPicPr>
          <p:nvPr/>
        </p:nvPicPr>
        <p:blipFill>
          <a:blip r:embed="rId11"/>
          <a:stretch>
            <a:fillRect/>
          </a:stretch>
        </p:blipFill>
        <p:spPr>
          <a:xfrm>
            <a:off x="2227749" y="9134593"/>
            <a:ext cx="6436104" cy="607793"/>
          </a:xfrm>
          <a:prstGeom prst="rect">
            <a:avLst/>
          </a:prstGeom>
        </p:spPr>
      </p:pic>
    </p:spTree>
    <p:extLst>
      <p:ext uri="{BB962C8B-B14F-4D97-AF65-F5344CB8AC3E}">
        <p14:creationId xmlns:p14="http://schemas.microsoft.com/office/powerpoint/2010/main" val="3287224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Step5</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BCAC90D-28A1-4810-B8DD-E1F628D3E397}"/>
              </a:ext>
            </a:extLst>
          </p:cNvPr>
          <p:cNvPicPr>
            <a:picLocks noChangeAspect="1"/>
          </p:cNvPicPr>
          <p:nvPr/>
        </p:nvPicPr>
        <p:blipFill>
          <a:blip r:embed="rId8"/>
          <a:stretch>
            <a:fillRect/>
          </a:stretch>
        </p:blipFill>
        <p:spPr>
          <a:xfrm>
            <a:off x="2288189" y="3624310"/>
            <a:ext cx="6339128" cy="1781243"/>
          </a:xfrm>
          <a:prstGeom prst="rect">
            <a:avLst/>
          </a:prstGeom>
        </p:spPr>
      </p:pic>
      <p:pic>
        <p:nvPicPr>
          <p:cNvPr id="13" name="圖片 12">
            <a:extLst>
              <a:ext uri="{FF2B5EF4-FFF2-40B4-BE49-F238E27FC236}">
                <a16:creationId xmlns:a16="http://schemas.microsoft.com/office/drawing/2014/main" id="{0229E470-F626-4DB4-BF98-48DA4D9C0572}"/>
              </a:ext>
            </a:extLst>
          </p:cNvPr>
          <p:cNvPicPr>
            <a:picLocks noChangeAspect="1"/>
          </p:cNvPicPr>
          <p:nvPr/>
        </p:nvPicPr>
        <p:blipFill>
          <a:blip r:embed="rId9"/>
          <a:stretch>
            <a:fillRect/>
          </a:stretch>
        </p:blipFill>
        <p:spPr>
          <a:xfrm>
            <a:off x="2280999" y="6185754"/>
            <a:ext cx="14884641" cy="2539145"/>
          </a:xfrm>
          <a:prstGeom prst="rect">
            <a:avLst/>
          </a:prstGeom>
        </p:spPr>
      </p:pic>
    </p:spTree>
    <p:extLst>
      <p:ext uri="{BB962C8B-B14F-4D97-AF65-F5344CB8AC3E}">
        <p14:creationId xmlns:p14="http://schemas.microsoft.com/office/powerpoint/2010/main" val="1785731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Step6</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1263181F-7419-4ED0-8F22-1C77F4CE1213}"/>
              </a:ext>
            </a:extLst>
          </p:cNvPr>
          <p:cNvPicPr>
            <a:picLocks noChangeAspect="1"/>
          </p:cNvPicPr>
          <p:nvPr/>
        </p:nvPicPr>
        <p:blipFill>
          <a:blip r:embed="rId8"/>
          <a:stretch>
            <a:fillRect/>
          </a:stretch>
        </p:blipFill>
        <p:spPr>
          <a:xfrm>
            <a:off x="2281000" y="3634401"/>
            <a:ext cx="5670073" cy="1100164"/>
          </a:xfrm>
          <a:prstGeom prst="rect">
            <a:avLst/>
          </a:prstGeom>
        </p:spPr>
      </p:pic>
      <p:pic>
        <p:nvPicPr>
          <p:cNvPr id="7" name="圖片 6">
            <a:extLst>
              <a:ext uri="{FF2B5EF4-FFF2-40B4-BE49-F238E27FC236}">
                <a16:creationId xmlns:a16="http://schemas.microsoft.com/office/drawing/2014/main" id="{E3A92EB8-E5E5-4351-85BD-39E6FBD385B9}"/>
              </a:ext>
            </a:extLst>
          </p:cNvPr>
          <p:cNvPicPr>
            <a:picLocks noChangeAspect="1"/>
          </p:cNvPicPr>
          <p:nvPr/>
        </p:nvPicPr>
        <p:blipFill>
          <a:blip r:embed="rId9"/>
          <a:stretch>
            <a:fillRect/>
          </a:stretch>
        </p:blipFill>
        <p:spPr>
          <a:xfrm>
            <a:off x="9144000" y="1405582"/>
            <a:ext cx="8761227" cy="8202229"/>
          </a:xfrm>
          <a:prstGeom prst="rect">
            <a:avLst/>
          </a:prstGeom>
        </p:spPr>
      </p:pic>
      <p:pic>
        <p:nvPicPr>
          <p:cNvPr id="10" name="圖片 9">
            <a:extLst>
              <a:ext uri="{FF2B5EF4-FFF2-40B4-BE49-F238E27FC236}">
                <a16:creationId xmlns:a16="http://schemas.microsoft.com/office/drawing/2014/main" id="{7831A7FC-8796-46C7-A37B-20A245CA6F6F}"/>
              </a:ext>
            </a:extLst>
          </p:cNvPr>
          <p:cNvPicPr>
            <a:picLocks noChangeAspect="1"/>
          </p:cNvPicPr>
          <p:nvPr/>
        </p:nvPicPr>
        <p:blipFill>
          <a:blip r:embed="rId10"/>
          <a:stretch>
            <a:fillRect/>
          </a:stretch>
        </p:blipFill>
        <p:spPr>
          <a:xfrm>
            <a:off x="609600" y="6736186"/>
            <a:ext cx="7507595" cy="2871625"/>
          </a:xfrm>
          <a:prstGeom prst="rect">
            <a:avLst/>
          </a:prstGeom>
        </p:spPr>
      </p:pic>
    </p:spTree>
    <p:extLst>
      <p:ext uri="{BB962C8B-B14F-4D97-AF65-F5344CB8AC3E}">
        <p14:creationId xmlns:p14="http://schemas.microsoft.com/office/powerpoint/2010/main" val="158330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5972686D-50F4-4396-9EF2-6FDF29BBEBC4}"/>
              </a:ext>
            </a:extLst>
          </p:cNvPr>
          <p:cNvPicPr>
            <a:picLocks noChangeAspect="1"/>
          </p:cNvPicPr>
          <p:nvPr/>
        </p:nvPicPr>
        <p:blipFill>
          <a:blip r:embed="rId8"/>
          <a:stretch>
            <a:fillRect/>
          </a:stretch>
        </p:blipFill>
        <p:spPr>
          <a:xfrm>
            <a:off x="2281000" y="3706767"/>
            <a:ext cx="7884632" cy="533422"/>
          </a:xfrm>
          <a:prstGeom prst="rect">
            <a:avLst/>
          </a:prstGeom>
        </p:spPr>
      </p:pic>
      <p:pic>
        <p:nvPicPr>
          <p:cNvPr id="7" name="圖片 6">
            <a:extLst>
              <a:ext uri="{FF2B5EF4-FFF2-40B4-BE49-F238E27FC236}">
                <a16:creationId xmlns:a16="http://schemas.microsoft.com/office/drawing/2014/main" id="{D37AA6AD-F81D-4227-AC12-6202B12B45FC}"/>
              </a:ext>
            </a:extLst>
          </p:cNvPr>
          <p:cNvPicPr>
            <a:picLocks noChangeAspect="1"/>
          </p:cNvPicPr>
          <p:nvPr/>
        </p:nvPicPr>
        <p:blipFill>
          <a:blip r:embed="rId9"/>
          <a:stretch>
            <a:fillRect/>
          </a:stretch>
        </p:blipFill>
        <p:spPr>
          <a:xfrm>
            <a:off x="1117108" y="5705737"/>
            <a:ext cx="16836559" cy="3115714"/>
          </a:xfrm>
          <a:prstGeom prst="rect">
            <a:avLst/>
          </a:prstGeom>
        </p:spPr>
      </p:pic>
    </p:spTree>
    <p:extLst>
      <p:ext uri="{BB962C8B-B14F-4D97-AF65-F5344CB8AC3E}">
        <p14:creationId xmlns:p14="http://schemas.microsoft.com/office/powerpoint/2010/main" val="1553777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4FB67064-E053-427E-A56F-9BCDD313250B}"/>
              </a:ext>
            </a:extLst>
          </p:cNvPr>
          <p:cNvPicPr>
            <a:picLocks noChangeAspect="1"/>
          </p:cNvPicPr>
          <p:nvPr/>
        </p:nvPicPr>
        <p:blipFill>
          <a:blip r:embed="rId8"/>
          <a:stretch>
            <a:fillRect/>
          </a:stretch>
        </p:blipFill>
        <p:spPr>
          <a:xfrm>
            <a:off x="5486400" y="2095501"/>
            <a:ext cx="9573207" cy="7399580"/>
          </a:xfrm>
          <a:prstGeom prst="rect">
            <a:avLst/>
          </a:prstGeom>
        </p:spPr>
      </p:pic>
    </p:spTree>
    <p:extLst>
      <p:ext uri="{BB962C8B-B14F-4D97-AF65-F5344CB8AC3E}">
        <p14:creationId xmlns:p14="http://schemas.microsoft.com/office/powerpoint/2010/main" val="4098726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FBE19DBF-3555-44C4-967E-DF340F9FAA65}"/>
              </a:ext>
            </a:extLst>
          </p:cNvPr>
          <p:cNvPicPr>
            <a:picLocks noChangeAspect="1"/>
          </p:cNvPicPr>
          <p:nvPr/>
        </p:nvPicPr>
        <p:blipFill>
          <a:blip r:embed="rId8"/>
          <a:stretch>
            <a:fillRect/>
          </a:stretch>
        </p:blipFill>
        <p:spPr>
          <a:xfrm>
            <a:off x="4575694" y="2412528"/>
            <a:ext cx="13073951" cy="7150572"/>
          </a:xfrm>
          <a:prstGeom prst="rect">
            <a:avLst/>
          </a:prstGeom>
        </p:spPr>
      </p:pic>
    </p:spTree>
    <p:extLst>
      <p:ext uri="{BB962C8B-B14F-4D97-AF65-F5344CB8AC3E}">
        <p14:creationId xmlns:p14="http://schemas.microsoft.com/office/powerpoint/2010/main" val="24588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F48A0E57-BBCB-439E-B7B9-7C0C658078D8}"/>
              </a:ext>
            </a:extLst>
          </p:cNvPr>
          <p:cNvPicPr>
            <a:picLocks noChangeAspect="1"/>
          </p:cNvPicPr>
          <p:nvPr/>
        </p:nvPicPr>
        <p:blipFill>
          <a:blip r:embed="rId8"/>
          <a:stretch>
            <a:fillRect/>
          </a:stretch>
        </p:blipFill>
        <p:spPr>
          <a:xfrm>
            <a:off x="2298253" y="4903884"/>
            <a:ext cx="10926709" cy="3867318"/>
          </a:xfrm>
          <a:prstGeom prst="rect">
            <a:avLst/>
          </a:prstGeom>
        </p:spPr>
      </p:pic>
      <p:pic>
        <p:nvPicPr>
          <p:cNvPr id="10" name="圖片 9">
            <a:extLst>
              <a:ext uri="{FF2B5EF4-FFF2-40B4-BE49-F238E27FC236}">
                <a16:creationId xmlns:a16="http://schemas.microsoft.com/office/drawing/2014/main" id="{36A6B671-4DED-4CBC-B4DC-3C8D8EECB86A}"/>
              </a:ext>
            </a:extLst>
          </p:cNvPr>
          <p:cNvPicPr>
            <a:picLocks noChangeAspect="1"/>
          </p:cNvPicPr>
          <p:nvPr/>
        </p:nvPicPr>
        <p:blipFill>
          <a:blip r:embed="rId9"/>
          <a:stretch>
            <a:fillRect/>
          </a:stretch>
        </p:blipFill>
        <p:spPr>
          <a:xfrm>
            <a:off x="11685810" y="1646016"/>
            <a:ext cx="5992590" cy="2448192"/>
          </a:xfrm>
          <a:prstGeom prst="rect">
            <a:avLst/>
          </a:prstGeom>
        </p:spPr>
      </p:pic>
    </p:spTree>
    <p:extLst>
      <p:ext uri="{BB962C8B-B14F-4D97-AF65-F5344CB8AC3E}">
        <p14:creationId xmlns:p14="http://schemas.microsoft.com/office/powerpoint/2010/main" val="3664089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84776903-706A-4484-8AB7-D1A48F733856}"/>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Step8</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22EAEABC-EECA-4EE8-AD25-F33AED21F404}"/>
              </a:ext>
            </a:extLst>
          </p:cNvPr>
          <p:cNvPicPr>
            <a:picLocks noChangeAspect="1"/>
          </p:cNvPicPr>
          <p:nvPr/>
        </p:nvPicPr>
        <p:blipFill>
          <a:blip r:embed="rId8"/>
          <a:stretch>
            <a:fillRect/>
          </a:stretch>
        </p:blipFill>
        <p:spPr>
          <a:xfrm>
            <a:off x="2234478" y="3805050"/>
            <a:ext cx="9386368" cy="5072250"/>
          </a:xfrm>
          <a:prstGeom prst="rect">
            <a:avLst/>
          </a:prstGeom>
        </p:spPr>
      </p:pic>
    </p:spTree>
    <p:extLst>
      <p:ext uri="{BB962C8B-B14F-4D97-AF65-F5344CB8AC3E}">
        <p14:creationId xmlns:p14="http://schemas.microsoft.com/office/powerpoint/2010/main" val="1053101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9172F7B0-202C-4272-88A4-26A332C6BD4F}"/>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D1504A9D-E2D8-4305-BB68-FC3126B68A87}"/>
              </a:ext>
            </a:extLst>
          </p:cNvPr>
          <p:cNvPicPr>
            <a:picLocks noChangeAspect="1"/>
          </p:cNvPicPr>
          <p:nvPr/>
        </p:nvPicPr>
        <p:blipFill>
          <a:blip r:embed="rId8"/>
          <a:stretch>
            <a:fillRect/>
          </a:stretch>
        </p:blipFill>
        <p:spPr>
          <a:xfrm>
            <a:off x="4966192" y="5801735"/>
            <a:ext cx="8449763" cy="4287627"/>
          </a:xfrm>
          <a:prstGeom prst="rect">
            <a:avLst/>
          </a:prstGeom>
        </p:spPr>
      </p:pic>
      <p:pic>
        <p:nvPicPr>
          <p:cNvPr id="8" name="圖片 7">
            <a:extLst>
              <a:ext uri="{FF2B5EF4-FFF2-40B4-BE49-F238E27FC236}">
                <a16:creationId xmlns:a16="http://schemas.microsoft.com/office/drawing/2014/main" id="{57E4966D-B856-4F98-AF7D-29089EB355BF}"/>
              </a:ext>
            </a:extLst>
          </p:cNvPr>
          <p:cNvPicPr>
            <a:picLocks noChangeAspect="1"/>
          </p:cNvPicPr>
          <p:nvPr/>
        </p:nvPicPr>
        <p:blipFill>
          <a:blip r:embed="rId9"/>
          <a:stretch>
            <a:fillRect/>
          </a:stretch>
        </p:blipFill>
        <p:spPr>
          <a:xfrm>
            <a:off x="2281000" y="3252788"/>
            <a:ext cx="14178200" cy="2393003"/>
          </a:xfrm>
          <a:prstGeom prst="rect">
            <a:avLst/>
          </a:prstGeom>
        </p:spPr>
      </p:pic>
    </p:spTree>
    <p:extLst>
      <p:ext uri="{BB962C8B-B14F-4D97-AF65-F5344CB8AC3E}">
        <p14:creationId xmlns:p14="http://schemas.microsoft.com/office/powerpoint/2010/main" val="1855993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3BE2A38E-88FD-4B45-ABD8-CE0CA3A9D9B6}"/>
              </a:ext>
            </a:extLst>
          </p:cNvPr>
          <p:cNvPicPr>
            <a:picLocks noChangeAspect="1"/>
          </p:cNvPicPr>
          <p:nvPr/>
        </p:nvPicPr>
        <p:blipFill>
          <a:blip r:embed="rId8"/>
          <a:stretch>
            <a:fillRect/>
          </a:stretch>
        </p:blipFill>
        <p:spPr>
          <a:xfrm>
            <a:off x="2193243" y="3375945"/>
            <a:ext cx="5192956" cy="747898"/>
          </a:xfrm>
          <a:prstGeom prst="rect">
            <a:avLst/>
          </a:prstGeom>
        </p:spPr>
      </p:pic>
      <p:pic>
        <p:nvPicPr>
          <p:cNvPr id="13" name="圖片 12">
            <a:extLst>
              <a:ext uri="{FF2B5EF4-FFF2-40B4-BE49-F238E27FC236}">
                <a16:creationId xmlns:a16="http://schemas.microsoft.com/office/drawing/2014/main" id="{A6D239EF-8332-4A5C-9EBB-818A9805E287}"/>
              </a:ext>
            </a:extLst>
          </p:cNvPr>
          <p:cNvPicPr>
            <a:picLocks noChangeAspect="1"/>
          </p:cNvPicPr>
          <p:nvPr/>
        </p:nvPicPr>
        <p:blipFill>
          <a:blip r:embed="rId9"/>
          <a:stretch>
            <a:fillRect/>
          </a:stretch>
        </p:blipFill>
        <p:spPr>
          <a:xfrm>
            <a:off x="7585642" y="1881340"/>
            <a:ext cx="10502915" cy="7364594"/>
          </a:xfrm>
          <a:prstGeom prst="rect">
            <a:avLst/>
          </a:prstGeom>
        </p:spPr>
      </p:pic>
      <p:pic>
        <p:nvPicPr>
          <p:cNvPr id="15" name="圖片 14">
            <a:extLst>
              <a:ext uri="{FF2B5EF4-FFF2-40B4-BE49-F238E27FC236}">
                <a16:creationId xmlns:a16="http://schemas.microsoft.com/office/drawing/2014/main" id="{76EEEA75-289F-4667-9AC7-D7096B397A0A}"/>
              </a:ext>
            </a:extLst>
          </p:cNvPr>
          <p:cNvPicPr>
            <a:picLocks noChangeAspect="1"/>
          </p:cNvPicPr>
          <p:nvPr/>
        </p:nvPicPr>
        <p:blipFill>
          <a:blip r:embed="rId10"/>
          <a:stretch>
            <a:fillRect/>
          </a:stretch>
        </p:blipFill>
        <p:spPr>
          <a:xfrm>
            <a:off x="2193243" y="9429271"/>
            <a:ext cx="14662594" cy="589759"/>
          </a:xfrm>
          <a:prstGeom prst="rect">
            <a:avLst/>
          </a:prstGeom>
        </p:spPr>
      </p:pic>
    </p:spTree>
    <p:extLst>
      <p:ext uri="{BB962C8B-B14F-4D97-AF65-F5344CB8AC3E}">
        <p14:creationId xmlns:p14="http://schemas.microsoft.com/office/powerpoint/2010/main" val="2866846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D19A516-9EB5-4D64-91BF-83D1EC39E58B}"/>
              </a:ext>
            </a:extLst>
          </p:cNvPr>
          <p:cNvPicPr>
            <a:picLocks noChangeAspect="1"/>
          </p:cNvPicPr>
          <p:nvPr/>
        </p:nvPicPr>
        <p:blipFill>
          <a:blip r:embed="rId8"/>
          <a:stretch>
            <a:fillRect/>
          </a:stretch>
        </p:blipFill>
        <p:spPr>
          <a:xfrm>
            <a:off x="1371528" y="2870112"/>
            <a:ext cx="14763592" cy="6109614"/>
          </a:xfrm>
          <a:prstGeom prst="rect">
            <a:avLst/>
          </a:prstGeom>
        </p:spPr>
      </p:pic>
    </p:spTree>
    <p:extLst>
      <p:ext uri="{BB962C8B-B14F-4D97-AF65-F5344CB8AC3E}">
        <p14:creationId xmlns:p14="http://schemas.microsoft.com/office/powerpoint/2010/main" val="992019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Step10</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2F97493C-9C2C-41D0-ABA4-AD676F1D1B99}"/>
              </a:ext>
            </a:extLst>
          </p:cNvPr>
          <p:cNvPicPr>
            <a:picLocks noChangeAspect="1"/>
          </p:cNvPicPr>
          <p:nvPr/>
        </p:nvPicPr>
        <p:blipFill>
          <a:blip r:embed="rId8"/>
          <a:stretch>
            <a:fillRect/>
          </a:stretch>
        </p:blipFill>
        <p:spPr>
          <a:xfrm>
            <a:off x="10143031" y="1939674"/>
            <a:ext cx="7840169" cy="7983064"/>
          </a:xfrm>
          <a:prstGeom prst="rect">
            <a:avLst/>
          </a:prstGeom>
        </p:spPr>
      </p:pic>
      <p:pic>
        <p:nvPicPr>
          <p:cNvPr id="10" name="圖片 9">
            <a:extLst>
              <a:ext uri="{FF2B5EF4-FFF2-40B4-BE49-F238E27FC236}">
                <a16:creationId xmlns:a16="http://schemas.microsoft.com/office/drawing/2014/main" id="{4B96EBE1-1AE6-4719-9B83-3F4FDC6DE95D}"/>
              </a:ext>
            </a:extLst>
          </p:cNvPr>
          <p:cNvPicPr>
            <a:picLocks noChangeAspect="1"/>
          </p:cNvPicPr>
          <p:nvPr/>
        </p:nvPicPr>
        <p:blipFill>
          <a:blip r:embed="rId9"/>
          <a:stretch>
            <a:fillRect/>
          </a:stretch>
        </p:blipFill>
        <p:spPr>
          <a:xfrm>
            <a:off x="1814069" y="3264442"/>
            <a:ext cx="8052384" cy="5761190"/>
          </a:xfrm>
          <a:prstGeom prst="rect">
            <a:avLst/>
          </a:prstGeom>
        </p:spPr>
      </p:pic>
    </p:spTree>
    <p:extLst>
      <p:ext uri="{BB962C8B-B14F-4D97-AF65-F5344CB8AC3E}">
        <p14:creationId xmlns:p14="http://schemas.microsoft.com/office/powerpoint/2010/main" val="4182837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ADC2DAB4-4E59-4897-8535-5B46FD9639C8}"/>
              </a:ext>
            </a:extLst>
          </p:cNvPr>
          <p:cNvPicPr>
            <a:picLocks noChangeAspect="1"/>
          </p:cNvPicPr>
          <p:nvPr/>
        </p:nvPicPr>
        <p:blipFill>
          <a:blip r:embed="rId8"/>
          <a:stretch>
            <a:fillRect/>
          </a:stretch>
        </p:blipFill>
        <p:spPr>
          <a:xfrm>
            <a:off x="8704555" y="2014629"/>
            <a:ext cx="9278645" cy="8106906"/>
          </a:xfrm>
          <a:prstGeom prst="rect">
            <a:avLst/>
          </a:prstGeom>
        </p:spPr>
      </p:pic>
      <p:pic>
        <p:nvPicPr>
          <p:cNvPr id="11" name="圖片 10">
            <a:extLst>
              <a:ext uri="{FF2B5EF4-FFF2-40B4-BE49-F238E27FC236}">
                <a16:creationId xmlns:a16="http://schemas.microsoft.com/office/drawing/2014/main" id="{834A4774-B3CB-48F6-A091-2394722F2936}"/>
              </a:ext>
            </a:extLst>
          </p:cNvPr>
          <p:cNvPicPr>
            <a:picLocks noChangeAspect="1"/>
          </p:cNvPicPr>
          <p:nvPr/>
        </p:nvPicPr>
        <p:blipFill>
          <a:blip r:embed="rId9"/>
          <a:stretch>
            <a:fillRect/>
          </a:stretch>
        </p:blipFill>
        <p:spPr>
          <a:xfrm>
            <a:off x="2743200" y="3298174"/>
            <a:ext cx="5400273" cy="6823361"/>
          </a:xfrm>
          <a:prstGeom prst="rect">
            <a:avLst/>
          </a:prstGeom>
        </p:spPr>
      </p:pic>
    </p:spTree>
    <p:extLst>
      <p:ext uri="{BB962C8B-B14F-4D97-AF65-F5344CB8AC3E}">
        <p14:creationId xmlns:p14="http://schemas.microsoft.com/office/powerpoint/2010/main" val="2221280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286D2985-0B34-4F3E-BC09-0438B3015E4A}"/>
              </a:ext>
            </a:extLst>
          </p:cNvPr>
          <p:cNvPicPr>
            <a:picLocks noChangeAspect="1"/>
          </p:cNvPicPr>
          <p:nvPr/>
        </p:nvPicPr>
        <p:blipFill>
          <a:blip r:embed="rId8"/>
          <a:stretch>
            <a:fillRect/>
          </a:stretch>
        </p:blipFill>
        <p:spPr>
          <a:xfrm>
            <a:off x="1656615" y="2973374"/>
            <a:ext cx="13918894" cy="6818326"/>
          </a:xfrm>
          <a:prstGeom prst="rect">
            <a:avLst/>
          </a:prstGeom>
        </p:spPr>
      </p:pic>
    </p:spTree>
    <p:extLst>
      <p:ext uri="{BB962C8B-B14F-4D97-AF65-F5344CB8AC3E}">
        <p14:creationId xmlns:p14="http://schemas.microsoft.com/office/powerpoint/2010/main" val="2290491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3411885" y="3296841"/>
            <a:ext cx="11464230" cy="3693319"/>
          </a:xfrm>
          <a:prstGeom prst="rect">
            <a:avLst/>
          </a:prstGeom>
        </p:spPr>
        <p:txBody>
          <a:bodyPr lIns="0" tIns="0" rIns="0" bIns="0" rtlCol="0" anchor="t">
            <a:spAutoFit/>
          </a:bodyPr>
          <a:lstStyle/>
          <a:p>
            <a:pPr algn="ctr"/>
            <a:r>
              <a:rPr lang="en-US" sz="12000" spc="-672" dirty="0">
                <a:solidFill>
                  <a:srgbClr val="F1A988"/>
                </a:solidFill>
                <a:latin typeface="Lazydog"/>
                <a:ea typeface="Lazydog"/>
                <a:cs typeface="Lazydog"/>
                <a:sym typeface="Lazydog"/>
              </a:rPr>
              <a:t>D</a:t>
            </a:r>
            <a:r>
              <a:rPr lang="en-US" sz="12000" spc="-672" dirty="0">
                <a:solidFill>
                  <a:srgbClr val="5B1C14"/>
                </a:solidFill>
                <a:latin typeface="Lazydog"/>
                <a:ea typeface="Lazydog"/>
                <a:cs typeface="Lazydog"/>
                <a:sym typeface="Lazydog"/>
              </a:rPr>
              <a:t>o</a:t>
            </a:r>
            <a:r>
              <a:rPr lang="en-US" sz="12000" spc="-672" dirty="0">
                <a:solidFill>
                  <a:srgbClr val="8E2423"/>
                </a:solidFill>
                <a:latin typeface="Lazydog"/>
                <a:ea typeface="Lazydog"/>
                <a:cs typeface="Lazydog"/>
                <a:sym typeface="Lazydog"/>
              </a:rPr>
              <a:t>e</a:t>
            </a:r>
            <a:r>
              <a:rPr lang="en-US" sz="12000" spc="-672" dirty="0">
                <a:solidFill>
                  <a:srgbClr val="338168"/>
                </a:solidFill>
                <a:latin typeface="Lazydog"/>
                <a:ea typeface="Lazydog"/>
                <a:cs typeface="Lazydog"/>
                <a:sym typeface="Lazydog"/>
              </a:rPr>
              <a:t>s</a:t>
            </a:r>
            <a:r>
              <a:rPr lang="en-US" sz="12000" spc="-672" dirty="0">
                <a:solidFill>
                  <a:srgbClr val="F1A988"/>
                </a:solidFill>
                <a:latin typeface="Lazydog"/>
                <a:ea typeface="Lazydog"/>
                <a:cs typeface="Lazydog"/>
                <a:sym typeface="Lazydog"/>
              </a:rPr>
              <a:t> </a:t>
            </a:r>
            <a:r>
              <a:rPr lang="en-US" sz="12000" spc="-672" dirty="0">
                <a:solidFill>
                  <a:srgbClr val="2DBCB7"/>
                </a:solidFill>
                <a:latin typeface="Lazydog"/>
                <a:ea typeface="Lazydog"/>
                <a:cs typeface="Lazydog"/>
                <a:sym typeface="Lazydog"/>
              </a:rPr>
              <a:t>a</a:t>
            </a:r>
            <a:r>
              <a:rPr lang="en-US" sz="12000" spc="-672" dirty="0">
                <a:solidFill>
                  <a:srgbClr val="1D949A"/>
                </a:solidFill>
                <a:latin typeface="Lazydog"/>
                <a:ea typeface="Lazydog"/>
                <a:cs typeface="Lazydog"/>
                <a:sym typeface="Lazydog"/>
              </a:rPr>
              <a:t>n</a:t>
            </a:r>
            <a:r>
              <a:rPr lang="en-US" sz="12000" spc="-672" dirty="0">
                <a:solidFill>
                  <a:srgbClr val="029316"/>
                </a:solidFill>
                <a:latin typeface="Lazydog"/>
                <a:ea typeface="Lazydog"/>
                <a:cs typeface="Lazydog"/>
                <a:sym typeface="Lazydog"/>
              </a:rPr>
              <a:t>y</a:t>
            </a:r>
            <a:r>
              <a:rPr lang="en-US" sz="12000" spc="-672" dirty="0">
                <a:solidFill>
                  <a:srgbClr val="64331F"/>
                </a:solidFill>
                <a:latin typeface="Lazydog"/>
                <a:ea typeface="Lazydog"/>
                <a:cs typeface="Lazydog"/>
                <a:sym typeface="Lazydog"/>
              </a:rPr>
              <a:t>o</a:t>
            </a:r>
            <a:r>
              <a:rPr lang="en-US" sz="12000" spc="-672" dirty="0">
                <a:solidFill>
                  <a:srgbClr val="B26628"/>
                </a:solidFill>
                <a:latin typeface="Lazydog"/>
                <a:ea typeface="Lazydog"/>
                <a:cs typeface="Lazydog"/>
                <a:sym typeface="Lazydog"/>
              </a:rPr>
              <a:t>n</a:t>
            </a:r>
            <a:r>
              <a:rPr lang="en-US" sz="12000" spc="-672" dirty="0">
                <a:solidFill>
                  <a:srgbClr val="C13E27"/>
                </a:solidFill>
                <a:latin typeface="Lazydog"/>
                <a:ea typeface="Lazydog"/>
                <a:cs typeface="Lazydog"/>
                <a:sym typeface="Lazydog"/>
              </a:rPr>
              <a:t>e</a:t>
            </a:r>
          </a:p>
          <a:p>
            <a:pPr marL="0" lvl="0" indent="0" algn="ctr"/>
            <a:r>
              <a:rPr lang="en-US" sz="12000" spc="-672" dirty="0">
                <a:solidFill>
                  <a:srgbClr val="AE6428"/>
                </a:solidFill>
                <a:latin typeface="Lazydog"/>
                <a:ea typeface="Lazydog"/>
                <a:cs typeface="Lazydog"/>
                <a:sym typeface="Lazydog"/>
              </a:rPr>
              <a:t>h</a:t>
            </a:r>
            <a:r>
              <a:rPr lang="en-US" sz="12000" spc="-672" dirty="0">
                <a:solidFill>
                  <a:srgbClr val="A42B2B"/>
                </a:solidFill>
                <a:latin typeface="Lazydog"/>
                <a:ea typeface="Lazydog"/>
                <a:cs typeface="Lazydog"/>
                <a:sym typeface="Lazydog"/>
              </a:rPr>
              <a:t>a</a:t>
            </a:r>
            <a:r>
              <a:rPr lang="en-US" sz="12000" spc="-672" dirty="0">
                <a:solidFill>
                  <a:srgbClr val="556458"/>
                </a:solidFill>
                <a:latin typeface="Lazydog"/>
                <a:ea typeface="Lazydog"/>
                <a:cs typeface="Lazydog"/>
                <a:sym typeface="Lazydog"/>
              </a:rPr>
              <a:t>v</a:t>
            </a:r>
            <a:r>
              <a:rPr lang="en-US" sz="12000" spc="-672" dirty="0">
                <a:solidFill>
                  <a:srgbClr val="338168"/>
                </a:solidFill>
                <a:latin typeface="Lazydog"/>
                <a:ea typeface="Lazydog"/>
                <a:cs typeface="Lazydog"/>
                <a:sym typeface="Lazydog"/>
              </a:rPr>
              <a:t>e</a:t>
            </a:r>
            <a:r>
              <a:rPr lang="en-US" sz="12000" spc="-672" dirty="0">
                <a:solidFill>
                  <a:srgbClr val="F1A988"/>
                </a:solidFill>
                <a:latin typeface="Lazydog"/>
                <a:ea typeface="Lazydog"/>
                <a:cs typeface="Lazydog"/>
                <a:sym typeface="Lazydog"/>
              </a:rPr>
              <a:t> </a:t>
            </a:r>
            <a:r>
              <a:rPr lang="en-US" sz="12000" spc="-672" dirty="0">
                <a:solidFill>
                  <a:srgbClr val="266753"/>
                </a:solidFill>
                <a:latin typeface="Lazydog"/>
                <a:ea typeface="Lazydog"/>
                <a:cs typeface="Lazydog"/>
                <a:sym typeface="Lazydog"/>
              </a:rPr>
              <a:t>q</a:t>
            </a:r>
            <a:r>
              <a:rPr lang="en-US" sz="12000" spc="-672" dirty="0">
                <a:solidFill>
                  <a:srgbClr val="009200"/>
                </a:solidFill>
                <a:latin typeface="Lazydog"/>
                <a:ea typeface="Lazydog"/>
                <a:cs typeface="Lazydog"/>
                <a:sym typeface="Lazydog"/>
              </a:rPr>
              <a:t>u</a:t>
            </a:r>
            <a:r>
              <a:rPr lang="en-US" sz="12000" spc="-672" dirty="0">
                <a:solidFill>
                  <a:srgbClr val="1D949A"/>
                </a:solidFill>
                <a:latin typeface="Lazydog"/>
                <a:ea typeface="Lazydog"/>
                <a:cs typeface="Lazydog"/>
                <a:sym typeface="Lazydog"/>
              </a:rPr>
              <a:t>e</a:t>
            </a:r>
            <a:r>
              <a:rPr lang="en-US" sz="12000" spc="-672" dirty="0">
                <a:solidFill>
                  <a:srgbClr val="2E1B5B"/>
                </a:solidFill>
                <a:latin typeface="Lazydog"/>
                <a:ea typeface="Lazydog"/>
                <a:cs typeface="Lazydog"/>
                <a:sym typeface="Lazydog"/>
              </a:rPr>
              <a:t>s</a:t>
            </a:r>
            <a:r>
              <a:rPr lang="en-US" sz="12000" spc="-672" dirty="0">
                <a:solidFill>
                  <a:srgbClr val="58585B"/>
                </a:solidFill>
                <a:latin typeface="Lazydog"/>
                <a:ea typeface="Lazydog"/>
                <a:cs typeface="Lazydog"/>
                <a:sym typeface="Lazydog"/>
              </a:rPr>
              <a:t>t</a:t>
            </a:r>
            <a:r>
              <a:rPr lang="en-US" sz="12000" spc="-672" dirty="0">
                <a:solidFill>
                  <a:srgbClr val="4E893F"/>
                </a:solidFill>
                <a:latin typeface="Lazydog"/>
                <a:ea typeface="Lazydog"/>
                <a:cs typeface="Lazydog"/>
                <a:sym typeface="Lazydog"/>
              </a:rPr>
              <a:t>i</a:t>
            </a:r>
            <a:r>
              <a:rPr lang="en-US" sz="12000" spc="-672" dirty="0">
                <a:solidFill>
                  <a:srgbClr val="76482E"/>
                </a:solidFill>
                <a:latin typeface="Lazydog"/>
                <a:ea typeface="Lazydog"/>
                <a:cs typeface="Lazydog"/>
                <a:sym typeface="Lazydog"/>
              </a:rPr>
              <a:t>o</a:t>
            </a:r>
            <a:r>
              <a:rPr lang="en-US" sz="12000" spc="-672" dirty="0">
                <a:solidFill>
                  <a:srgbClr val="5E1815"/>
                </a:solidFill>
                <a:latin typeface="Lazydog"/>
                <a:ea typeface="Lazydog"/>
                <a:cs typeface="Lazydog"/>
                <a:sym typeface="Lazydog"/>
              </a:rPr>
              <a:t>n</a:t>
            </a:r>
            <a:r>
              <a:rPr lang="en-US" sz="12000" spc="-672" dirty="0">
                <a:solidFill>
                  <a:srgbClr val="7DADC5"/>
                </a:solidFill>
                <a:latin typeface="Lazydog"/>
                <a:ea typeface="Lazydog"/>
                <a:cs typeface="Lazydog"/>
                <a:sym typeface="Lazydog"/>
              </a:rPr>
              <a:t>s</a:t>
            </a:r>
            <a:r>
              <a:rPr lang="en-US" sz="12000" spc="-672" dirty="0">
                <a:solidFill>
                  <a:srgbClr val="ACD03C"/>
                </a:solidFill>
                <a:latin typeface="Lazydog"/>
                <a:ea typeface="Lazydog"/>
                <a:cs typeface="Lazydog"/>
                <a:sym typeface="Lazydog"/>
              </a:rPr>
              <a:t>?</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CIFAR-10</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特點：彩色圖像分類的經典資料集</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圖像尺寸：</a:t>
            </a:r>
            <a:r>
              <a:rPr lang="en-US" altLang="zh-TW" sz="3200" dirty="0">
                <a:solidFill>
                  <a:srgbClr val="3F2619"/>
                </a:solidFill>
                <a:latin typeface="Noto Sans SC Medium" panose="020B0200000000000000" pitchFamily="34" charset="-128"/>
                <a:ea typeface="Noto Sans SC Medium" panose="020B0200000000000000" pitchFamily="34" charset="-128"/>
              </a:rPr>
              <a:t>32×32</a:t>
            </a:r>
            <a:r>
              <a:rPr lang="zh-TW" altLang="en-US" sz="3200" dirty="0">
                <a:solidFill>
                  <a:srgbClr val="3F2619"/>
                </a:solidFill>
                <a:latin typeface="Noto Sans SC Medium" panose="020B0200000000000000" pitchFamily="34" charset="-128"/>
                <a:ea typeface="Noto Sans SC Medium" panose="020B0200000000000000" pitchFamily="34" charset="-128"/>
              </a:rPr>
              <a:t>像素，</a:t>
            </a:r>
            <a:r>
              <a:rPr lang="en-US" altLang="zh-TW" sz="3200" dirty="0">
                <a:solidFill>
                  <a:srgbClr val="3F2619"/>
                </a:solidFill>
                <a:latin typeface="Noto Sans SC Medium" panose="020B0200000000000000" pitchFamily="34" charset="-128"/>
                <a:ea typeface="Noto Sans SC Medium" panose="020B0200000000000000" pitchFamily="34" charset="-128"/>
              </a:rPr>
              <a:t>RGB</a:t>
            </a:r>
            <a:r>
              <a:rPr lang="zh-TW" altLang="en-US" sz="3200" dirty="0">
                <a:solidFill>
                  <a:srgbClr val="3F2619"/>
                </a:solidFill>
                <a:latin typeface="Noto Sans SC Medium" panose="020B0200000000000000" pitchFamily="34" charset="-128"/>
                <a:ea typeface="Noto Sans SC Medium" panose="020B0200000000000000" pitchFamily="34" charset="-128"/>
              </a:rPr>
              <a:t>彩色圖像</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類別數：</a:t>
            </a:r>
            <a:r>
              <a:rPr lang="en-US" altLang="zh-TW" sz="3200" dirty="0">
                <a:solidFill>
                  <a:srgbClr val="3F2619"/>
                </a:solidFill>
                <a:latin typeface="Noto Sans SC Medium" panose="020B0200000000000000" pitchFamily="34" charset="-128"/>
                <a:ea typeface="Noto Sans SC Medium" panose="020B0200000000000000" pitchFamily="34" charset="-128"/>
              </a:rPr>
              <a:t>10</a:t>
            </a:r>
            <a:r>
              <a:rPr lang="zh-TW" altLang="en-US" sz="3200" dirty="0">
                <a:solidFill>
                  <a:srgbClr val="3F2619"/>
                </a:solidFill>
                <a:latin typeface="Noto Sans SC Medium" panose="020B0200000000000000" pitchFamily="34" charset="-128"/>
                <a:ea typeface="Noto Sans SC Medium" panose="020B0200000000000000" pitchFamily="34" charset="-128"/>
              </a:rPr>
              <a:t>個（飛機、汽車、鳥、貓、鹿、狗、青蛙、馬、船、卡車）</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資料量：</a:t>
            </a:r>
            <a:r>
              <a:rPr lang="en-US" altLang="zh-TW" sz="3200" dirty="0">
                <a:solidFill>
                  <a:srgbClr val="3F2619"/>
                </a:solidFill>
                <a:latin typeface="Noto Sans SC Medium" panose="020B0200000000000000" pitchFamily="34" charset="-128"/>
                <a:ea typeface="Noto Sans SC Medium" panose="020B0200000000000000" pitchFamily="34" charset="-128"/>
              </a:rPr>
              <a:t>50,000</a:t>
            </a:r>
            <a:r>
              <a:rPr lang="zh-TW" altLang="en-US" sz="3200" dirty="0">
                <a:solidFill>
                  <a:srgbClr val="3F2619"/>
                </a:solidFill>
                <a:latin typeface="Noto Sans SC Medium" panose="020B0200000000000000" pitchFamily="34" charset="-128"/>
                <a:ea typeface="Noto Sans SC Medium" panose="020B0200000000000000" pitchFamily="34" charset="-128"/>
              </a:rPr>
              <a:t>筆訓練資料，</a:t>
            </a:r>
            <a:r>
              <a:rPr lang="en-US" altLang="zh-TW" sz="3200" dirty="0">
                <a:solidFill>
                  <a:srgbClr val="3F2619"/>
                </a:solidFill>
                <a:latin typeface="Noto Sans SC Medium" panose="020B0200000000000000" pitchFamily="34" charset="-128"/>
                <a:ea typeface="Noto Sans SC Medium" panose="020B0200000000000000" pitchFamily="34" charset="-128"/>
              </a:rPr>
              <a:t>10,000</a:t>
            </a:r>
            <a:r>
              <a:rPr lang="zh-TW" altLang="en-US" sz="3200" dirty="0">
                <a:solidFill>
                  <a:srgbClr val="3F2619"/>
                </a:solidFill>
                <a:latin typeface="Noto Sans SC Medium" panose="020B0200000000000000" pitchFamily="34" charset="-128"/>
                <a:ea typeface="Noto Sans SC Medium" panose="020B0200000000000000" pitchFamily="34" charset="-128"/>
              </a:rPr>
              <a:t>筆測試資料</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優點：從灰階到彩色的自然過渡，計算需求適中</a:t>
            </a:r>
          </a:p>
          <a:p>
            <a:pPr marL="742950" lvl="1" indent="-285750" fontAlgn="base">
              <a:lnSpc>
                <a:spcPct val="150000"/>
              </a:lnSpc>
              <a:spcBef>
                <a:spcPct val="0"/>
              </a:spcBef>
              <a:spcAft>
                <a:spcPct val="0"/>
              </a:spcAft>
              <a:buFont typeface="Wingdings" panose="05000000000000000000" pitchFamily="2" charset="2"/>
              <a:buChar char="l"/>
            </a:pPr>
            <a:r>
              <a:rPr lang="en-US" altLang="zh-TW" sz="3200" dirty="0" err="1">
                <a:solidFill>
                  <a:srgbClr val="3F2619"/>
                </a:solidFill>
                <a:latin typeface="Noto Sans SC Medium" panose="020B0200000000000000" pitchFamily="34" charset="-128"/>
                <a:ea typeface="Noto Sans SC Medium" panose="020B0200000000000000" pitchFamily="34" charset="-128"/>
              </a:rPr>
              <a:t>PyTorch</a:t>
            </a:r>
            <a:r>
              <a:rPr lang="zh-TW" altLang="en-US" sz="3200" dirty="0">
                <a:solidFill>
                  <a:srgbClr val="3F2619"/>
                </a:solidFill>
                <a:latin typeface="Noto Sans SC Medium" panose="020B0200000000000000" pitchFamily="34" charset="-128"/>
                <a:ea typeface="Noto Sans SC Medium" panose="020B0200000000000000" pitchFamily="34" charset="-128"/>
              </a:rPr>
              <a:t>載入：</a:t>
            </a:r>
            <a:r>
              <a:rPr lang="en-US" altLang="zh-TW" sz="3200" dirty="0">
                <a:solidFill>
                  <a:srgbClr val="3F2619"/>
                </a:solidFill>
                <a:latin typeface="Noto Sans SC Medium" panose="020B0200000000000000" pitchFamily="34" charset="-128"/>
                <a:ea typeface="Noto Sans SC Medium" panose="020B0200000000000000" pitchFamily="34" charset="-128"/>
              </a:rPr>
              <a:t>`torchvision.datasets.CIFAR10`</a:t>
            </a:r>
            <a:endParaRPr lang="zh-TW" altLang="en-US" sz="32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43050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1564467"/>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原圖：</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8" name="圖片 7">
            <a:extLst>
              <a:ext uri="{FF2B5EF4-FFF2-40B4-BE49-F238E27FC236}">
                <a16:creationId xmlns:a16="http://schemas.microsoft.com/office/drawing/2014/main" id="{ADBAFF04-45E6-47E2-B152-0FBABA624DE8}"/>
              </a:ext>
            </a:extLst>
          </p:cNvPr>
          <p:cNvPicPr>
            <a:picLocks noChangeAspect="1"/>
          </p:cNvPicPr>
          <p:nvPr/>
        </p:nvPicPr>
        <p:blipFill>
          <a:blip r:embed="rId7"/>
          <a:stretch>
            <a:fillRect/>
          </a:stretch>
        </p:blipFill>
        <p:spPr>
          <a:xfrm>
            <a:off x="3038615" y="3413937"/>
            <a:ext cx="12714293" cy="6301345"/>
          </a:xfrm>
          <a:prstGeom prst="rect">
            <a:avLst/>
          </a:prstGeom>
        </p:spPr>
      </p:pic>
    </p:spTree>
    <p:extLst>
      <p:ext uri="{BB962C8B-B14F-4D97-AF65-F5344CB8AC3E}">
        <p14:creationId xmlns:p14="http://schemas.microsoft.com/office/powerpoint/2010/main" val="129014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Tiny ImageNet</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zh-TW" sz="3200" dirty="0">
                <a:solidFill>
                  <a:srgbClr val="3F2619"/>
                </a:solidFill>
                <a:latin typeface="Noto Sans SC Medium" panose="020B0200000000000000" pitchFamily="34" charset="-128"/>
                <a:ea typeface="Noto Sans SC Medium" panose="020B0200000000000000" pitchFamily="34" charset="-128"/>
              </a:rPr>
              <a:t>規模適中：200 類、每類 500 張訓練圖、50 張驗證圖、50 張測試圖，總計 100k+ 圖片。</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解析度 64×64：</a:t>
            </a:r>
            <a:r>
              <a:rPr lang="zh-TW" altLang="zh-TW" sz="3200">
                <a:solidFill>
                  <a:srgbClr val="3F2619"/>
                </a:solidFill>
                <a:latin typeface="Noto Sans SC Medium" panose="020B0200000000000000" pitchFamily="34" charset="-128"/>
                <a:ea typeface="Noto Sans SC Medium" panose="020B0200000000000000" pitchFamily="34" charset="-128"/>
              </a:rPr>
              <a:t>不需要 </a:t>
            </a:r>
            <a:r>
              <a:rPr lang="zh-TW" altLang="zh-TW" sz="3200" dirty="0">
                <a:solidFill>
                  <a:srgbClr val="3F2619"/>
                </a:solidFill>
                <a:latin typeface="Noto Sans SC Medium" panose="020B0200000000000000" pitchFamily="34" charset="-128"/>
                <a:ea typeface="Noto Sans SC Medium" panose="020B0200000000000000" pitchFamily="34" charset="-128"/>
              </a:rPr>
              <a:t>GPU</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筆電 GPU/桌機單卡即可順跑（甚至 CPU 也能做小模型/子集）。</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任務彈性大：可做分類、長尾練習（自抽子集）、CutMix/Mixup、Label Smoothing、Cosine LR 等</a:t>
            </a:r>
          </a:p>
          <a:p>
            <a:pPr marL="742950" lvl="1"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66335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5590580" y="2681288"/>
            <a:ext cx="7106841" cy="4924425"/>
          </a:xfrm>
          <a:prstGeom prst="rect">
            <a:avLst/>
          </a:prstGeom>
        </p:spPr>
        <p:txBody>
          <a:bodyPr lIns="0" tIns="0" rIns="0" bIns="0" rtlCol="0" anchor="t">
            <a:spAutoFit/>
          </a:bodyPr>
          <a:lstStyle/>
          <a:p>
            <a:pPr marL="0" lvl="0" indent="0" algn="ctr"/>
            <a:r>
              <a:rPr lang="en-US" sz="16000" spc="-672" dirty="0">
                <a:solidFill>
                  <a:srgbClr val="891942"/>
                </a:solidFill>
                <a:latin typeface="Lazydog"/>
                <a:ea typeface="Lazydog"/>
                <a:cs typeface="Lazydog"/>
                <a:sym typeface="Lazydog"/>
              </a:rPr>
              <a:t>t</a:t>
            </a:r>
            <a:r>
              <a:rPr lang="en-US" sz="16000" spc="-672" dirty="0">
                <a:solidFill>
                  <a:srgbClr val="4E893F"/>
                </a:solidFill>
                <a:latin typeface="Lazydog"/>
                <a:ea typeface="Lazydog"/>
                <a:cs typeface="Lazydog"/>
                <a:sym typeface="Lazydog"/>
              </a:rPr>
              <a:t>h</a:t>
            </a:r>
            <a:r>
              <a:rPr lang="en-US" sz="16000" spc="-672" dirty="0">
                <a:solidFill>
                  <a:srgbClr val="9F2A22"/>
                </a:solidFill>
                <a:latin typeface="Lazydog"/>
                <a:ea typeface="Lazydog"/>
                <a:cs typeface="Lazydog"/>
                <a:sym typeface="Lazydog"/>
              </a:rPr>
              <a:t>a</a:t>
            </a:r>
            <a:r>
              <a:rPr lang="en-US" sz="16000" spc="-672" dirty="0">
                <a:solidFill>
                  <a:srgbClr val="F1A988"/>
                </a:solidFill>
                <a:latin typeface="Lazydog"/>
                <a:ea typeface="Lazydog"/>
                <a:cs typeface="Lazydog"/>
                <a:sym typeface="Lazydog"/>
              </a:rPr>
              <a:t>n</a:t>
            </a:r>
            <a:r>
              <a:rPr lang="en-US" sz="16000" spc="-672" dirty="0">
                <a:solidFill>
                  <a:srgbClr val="BC5E28"/>
                </a:solidFill>
                <a:latin typeface="Lazydog"/>
                <a:ea typeface="Lazydog"/>
                <a:cs typeface="Lazydog"/>
                <a:sym typeface="Lazydog"/>
              </a:rPr>
              <a:t>k</a:t>
            </a:r>
            <a:r>
              <a:rPr lang="en-US" sz="16000" spc="-672" dirty="0">
                <a:solidFill>
                  <a:srgbClr val="F1A988"/>
                </a:solidFill>
                <a:latin typeface="Lazydog"/>
                <a:ea typeface="Lazydog"/>
                <a:cs typeface="Lazydog"/>
                <a:sym typeface="Lazydog"/>
              </a:rPr>
              <a:t> </a:t>
            </a:r>
            <a:r>
              <a:rPr lang="en-US" sz="16000" spc="-672" dirty="0">
                <a:solidFill>
                  <a:srgbClr val="175C71"/>
                </a:solidFill>
                <a:latin typeface="Lazydog"/>
                <a:ea typeface="Lazydog"/>
                <a:cs typeface="Lazydog"/>
                <a:sym typeface="Lazydog"/>
              </a:rPr>
              <a:t>y</a:t>
            </a:r>
            <a:r>
              <a:rPr lang="en-US" sz="16000" spc="-672" dirty="0">
                <a:solidFill>
                  <a:srgbClr val="2FBCB7"/>
                </a:solidFill>
                <a:latin typeface="Lazydog"/>
                <a:ea typeface="Lazydog"/>
                <a:cs typeface="Lazydog"/>
                <a:sym typeface="Lazydog"/>
              </a:rPr>
              <a:t>o</a:t>
            </a:r>
            <a:r>
              <a:rPr lang="en-US" sz="16000" spc="-672" dirty="0">
                <a:solidFill>
                  <a:srgbClr val="4E893F"/>
                </a:solidFill>
                <a:latin typeface="Lazydog"/>
                <a:ea typeface="Lazydog"/>
                <a:cs typeface="Lazydog"/>
                <a:sym typeface="Lazydog"/>
              </a:rPr>
              <a:t>u</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資料載入總覽</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Consolas"/>
                <a:ea typeface="Microsoft JhengHei"/>
                <a:cs typeface="+mn-cs"/>
              </a:rPr>
              <a:t>datasets.FashionMNIST</a:t>
            </a: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 會自動下載、讀檔；自己找的資料集要自己讀進來</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從檔案到 DataLoader"/>
          <p:cNvSpPr/>
          <p:nvPr/>
        </p:nvSpPr>
        <p:spPr>
          <a:xfrm>
            <a:off x="8399948" y="1033272"/>
            <a:ext cx="4237736"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從檔案到 DataLoader</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Flow card 1"/>
          <p:cNvSpPr/>
          <p:nvPr/>
        </p:nvSpPr>
        <p:spPr>
          <a:xfrm>
            <a:off x="2227748" y="3310128"/>
            <a:ext cx="3356695" cy="1417320"/>
          </a:xfrm>
          <a:prstGeom prst="roundRect">
            <a:avLst>
              <a:gd name="adj" fmla="val 8000"/>
            </a:avLst>
          </a:prstGeom>
          <a:solidFill>
            <a:srgbClr val="DAF3F2"/>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3" name="Flow num 1"/>
          <p:cNvSpPr/>
          <p:nvPr/>
        </p:nvSpPr>
        <p:spPr>
          <a:xfrm>
            <a:off x="2456348" y="3511296"/>
            <a:ext cx="512064" cy="512064"/>
          </a:xfrm>
          <a:prstGeom prst="ellipse">
            <a:avLst/>
          </a:prstGeom>
          <a:solidFill>
            <a:srgbClr val="2FBCB7"/>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1</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Flow title 1"/>
          <p:cNvSpPr txBox="1"/>
          <p:nvPr/>
        </p:nvSpPr>
        <p:spPr>
          <a:xfrm>
            <a:off x="3114716" y="3511296"/>
            <a:ext cx="233256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讀檔</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Flow caption 1"/>
          <p:cNvSpPr txBox="1"/>
          <p:nvPr/>
        </p:nvSpPr>
        <p:spPr>
          <a:xfrm>
            <a:off x="2456348" y="4133088"/>
            <a:ext cx="2990935" cy="41148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pd、np、pickle、PIL</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Flow arrow 1"/>
          <p:cNvSpPr/>
          <p:nvPr/>
        </p:nvSpPr>
        <p:spPr>
          <a:xfrm>
            <a:off x="5694171" y="3835908"/>
            <a:ext cx="457200" cy="365760"/>
          </a:xfrm>
          <a:prstGeom prst="rightArrow">
            <a:avLst/>
          </a:prstGeom>
          <a:solidFill>
            <a:srgbClr val="C9B8A8"/>
          </a:solidFill>
          <a:ln>
            <a:no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7" name="Flow card 2"/>
          <p:cNvSpPr/>
          <p:nvPr/>
        </p:nvSpPr>
        <p:spPr>
          <a:xfrm>
            <a:off x="6261099" y="3310128"/>
            <a:ext cx="3356695" cy="1417320"/>
          </a:xfrm>
          <a:prstGeom prst="roundRect">
            <a:avLst>
              <a:gd name="adj" fmla="val 8000"/>
            </a:avLst>
          </a:prstGeom>
          <a:solidFill>
            <a:srgbClr val="FCECE5"/>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8" name="Flow num 2"/>
          <p:cNvSpPr/>
          <p:nvPr/>
        </p:nvSpPr>
        <p:spPr>
          <a:xfrm>
            <a:off x="6489699" y="3511296"/>
            <a:ext cx="512064" cy="512064"/>
          </a:xfrm>
          <a:prstGeom prst="ellipse">
            <a:avLst/>
          </a:prstGeom>
          <a:solidFill>
            <a:srgbClr val="F1A988"/>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2</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9" name="Flow title 2"/>
          <p:cNvSpPr txBox="1"/>
          <p:nvPr/>
        </p:nvSpPr>
        <p:spPr>
          <a:xfrm>
            <a:off x="7148067" y="3511296"/>
            <a:ext cx="233256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轉成 Tensor</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0" name="Flow caption 2"/>
          <p:cNvSpPr txBox="1"/>
          <p:nvPr/>
        </p:nvSpPr>
        <p:spPr>
          <a:xfrm>
            <a:off x="6489699" y="4133088"/>
            <a:ext cx="2990935" cy="41148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輸入 float32、標籤 long</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1" name="Flow arrow 2"/>
          <p:cNvSpPr/>
          <p:nvPr/>
        </p:nvSpPr>
        <p:spPr>
          <a:xfrm>
            <a:off x="9727522" y="3835908"/>
            <a:ext cx="457200" cy="365760"/>
          </a:xfrm>
          <a:prstGeom prst="rightArrow">
            <a:avLst/>
          </a:prstGeom>
          <a:solidFill>
            <a:srgbClr val="C9B8A8"/>
          </a:solidFill>
          <a:ln>
            <a:no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2" name="Flow card 3"/>
          <p:cNvSpPr/>
          <p:nvPr/>
        </p:nvSpPr>
        <p:spPr>
          <a:xfrm>
            <a:off x="10294450" y="3310128"/>
            <a:ext cx="3356695" cy="1417320"/>
          </a:xfrm>
          <a:prstGeom prst="roundRect">
            <a:avLst>
              <a:gd name="adj" fmla="val 8000"/>
            </a:avLst>
          </a:prstGeom>
          <a:solidFill>
            <a:srgbClr val="ECF3DC"/>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3" name="Flow num 3"/>
          <p:cNvSpPr/>
          <p:nvPr/>
        </p:nvSpPr>
        <p:spPr>
          <a:xfrm>
            <a:off x="10523050" y="3511296"/>
            <a:ext cx="512064" cy="512064"/>
          </a:xfrm>
          <a:prstGeom prst="ellipse">
            <a:avLst/>
          </a:prstGeom>
          <a:solidFill>
            <a:srgbClr val="94BC3D"/>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3</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4" name="Flow title 3"/>
          <p:cNvSpPr txBox="1"/>
          <p:nvPr/>
        </p:nvSpPr>
        <p:spPr>
          <a:xfrm>
            <a:off x="11181418" y="3511296"/>
            <a:ext cx="233256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包成 Dataset</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5" name="Flow caption 3"/>
          <p:cNvSpPr txBox="1"/>
          <p:nvPr/>
        </p:nvSpPr>
        <p:spPr>
          <a:xfrm>
            <a:off x="10523050" y="4133088"/>
            <a:ext cx="2990935" cy="41148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每一筆回傳 (x, y)</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6" name="Flow arrow 3"/>
          <p:cNvSpPr/>
          <p:nvPr/>
        </p:nvSpPr>
        <p:spPr>
          <a:xfrm>
            <a:off x="13760873" y="3835908"/>
            <a:ext cx="457200" cy="365760"/>
          </a:xfrm>
          <a:prstGeom prst="rightArrow">
            <a:avLst/>
          </a:prstGeom>
          <a:solidFill>
            <a:srgbClr val="C9B8A8"/>
          </a:solidFill>
          <a:ln>
            <a:no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7" name="Flow card 4"/>
          <p:cNvSpPr/>
          <p:nvPr/>
        </p:nvSpPr>
        <p:spPr>
          <a:xfrm>
            <a:off x="14327801" y="3310128"/>
            <a:ext cx="3356695" cy="1417320"/>
          </a:xfrm>
          <a:prstGeom prst="roundRect">
            <a:avLst>
              <a:gd name="adj" fmla="val 8000"/>
            </a:avLst>
          </a:prstGeom>
          <a:solidFill>
            <a:srgbClr val="FEF3D3"/>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8" name="Flow num 4"/>
          <p:cNvSpPr/>
          <p:nvPr/>
        </p:nvSpPr>
        <p:spPr>
          <a:xfrm>
            <a:off x="14556401" y="3511296"/>
            <a:ext cx="512064" cy="512064"/>
          </a:xfrm>
          <a:prstGeom prst="ellipse">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4</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9" name="Flow title 4"/>
          <p:cNvSpPr txBox="1"/>
          <p:nvPr/>
        </p:nvSpPr>
        <p:spPr>
          <a:xfrm>
            <a:off x="15214769" y="3511296"/>
            <a:ext cx="233256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DataLoader</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20" name="Flow caption 4"/>
          <p:cNvSpPr txBox="1"/>
          <p:nvPr/>
        </p:nvSpPr>
        <p:spPr>
          <a:xfrm>
            <a:off x="14556401" y="4133088"/>
            <a:ext cx="2990935" cy="41148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分批、打亂，送進模型</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graphicFrame>
        <p:nvGraphicFramePr>
          <p:cNvPr id="221" name="Format table"/>
          <p:cNvGraphicFramePr>
            <a:graphicFrameLocks noGrp="1"/>
          </p:cNvGraphicFramePr>
          <p:nvPr/>
        </p:nvGraphicFramePr>
        <p:xfrm>
          <a:off x="2227748" y="5138928"/>
          <a:ext cx="15453360" cy="4334256"/>
        </p:xfrm>
        <a:graphic>
          <a:graphicData uri="http://schemas.openxmlformats.org/drawingml/2006/table">
            <a:tbl>
              <a:tblPr firstRow="1" bandRow="1"/>
              <a:tblGrid>
                <a:gridCol w="3429000"/>
                <a:gridCol w="4892040"/>
                <a:gridCol w="3154680"/>
                <a:gridCol w="3977640"/>
              </a:tblGrid>
              <a:tr h="548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格式</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用什麼讀</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讀出來是</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包成 Dataset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CSV（.csv）</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pd.read_csv()</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DataFrame</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TensorDataset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NumPy（.npy、.npz）</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np.load()</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ndarray</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TensorDataset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Pickle（.pkl）</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pickle.load()</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當初存進去的物件</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TensorDataset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壓縮檔（.zip、.tar.gz）</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shutil.unpack_archive()</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解壓後的資料夾</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依裡面的格式</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圖片資料夾</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datasets.ImageFolder()</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 + 類別</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ImageFolder 本身</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30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 + 標籤檔</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Image.open()、pd.read_csv()</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圖片、標籤</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自訂 Dataset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bl>
          </a:graphicData>
        </a:graphic>
      </p:graphicFrame>
    </p:spTree>
    <p:extLst>
      <p:ext uri="{BB962C8B-B14F-4D97-AF65-F5344CB8AC3E}">
        <p14:creationId xmlns:p14="http://schemas.microsoft.com/office/powerpoint/2010/main" val="1097355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CSV 表格資料</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最常見的格式：一列是一筆資料、一欄是一個特徵，通常有一欄是標籤</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csv"/>
          <p:cNvSpPr/>
          <p:nvPr/>
        </p:nvSpPr>
        <p:spPr>
          <a:xfrm>
            <a:off x="8820572" y="1033272"/>
            <a:ext cx="1464056"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.csv</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1_csv.py"/>
          <p:cNvSpPr/>
          <p:nvPr/>
        </p:nvSpPr>
        <p:spPr>
          <a:xfrm>
            <a:off x="2227748" y="3310128"/>
            <a:ext cx="10515600" cy="57302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pandas</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as</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pd</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utils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TensorDataset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DataLoader</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pd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read_csv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'data/train.csv'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shape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(60000, 785)：label + 784 個像素</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'label'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values</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drop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columns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'label'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values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255.0</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 縮放到 0~1</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tensor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float32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view</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28</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28</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給 CNN：(N, 1, 28, 28)</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tensor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long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標籤要 long</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TensorDataset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128</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shuffle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True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Tip card 重點"/>
          <p:cNvSpPr/>
          <p:nvPr/>
        </p:nvSpPr>
        <p:spPr>
          <a:xfrm>
            <a:off x="13063388" y="3310128"/>
            <a:ext cx="4621108" cy="5730240"/>
          </a:xfrm>
          <a:prstGeom prst="roundRect">
            <a:avLst>
              <a:gd name="adj" fmla="val 5000"/>
            </a:avLst>
          </a:prstGeom>
          <a:solidFill>
            <a:srgbClr val="DAF3F2"/>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Tip mark 重點"/>
          <p:cNvSpPr/>
          <p:nvPr/>
        </p:nvSpPr>
        <p:spPr>
          <a:xfrm>
            <a:off x="13337708" y="3584448"/>
            <a:ext cx="566928" cy="566928"/>
          </a:xfrm>
          <a:prstGeom prst="ellipse">
            <a:avLst/>
          </a:prstGeom>
          <a:solidFill>
            <a:srgbClr val="2FBCB7"/>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Tip header 重點"/>
          <p:cNvSpPr txBox="1"/>
          <p:nvPr/>
        </p:nvSpPr>
        <p:spPr>
          <a:xfrm>
            <a:off x="14069228" y="3584448"/>
            <a:ext cx="3340948" cy="56692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重點</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Tip body 重點"/>
          <p:cNvSpPr txBox="1"/>
          <p:nvPr/>
        </p:nvSpPr>
        <p:spPr>
          <a:xfrm>
            <a:off x="13337708" y="4379976"/>
            <a:ext cx="4072468" cy="4386072"/>
          </a:xfrm>
          <a:prstGeom prst="rect">
            <a:avLst/>
          </a:prstGeom>
          <a:noFill/>
        </p:spPr>
        <p:txBody>
          <a:bodyPr wrap="square" lIns="0" tIns="0" rIns="0" bIns="0" rtlCol="0" anchor="t">
            <a:noAutofit/>
          </a:bodyPr>
          <a:lstStyle/>
          <a:p>
            <a:pPr marL="274320" marR="0" lvl="0" indent="-274320" algn="l" defTabSz="914400" rtl="0" eaLnBrk="1" fontAlgn="auto" latinLnBrk="0" hangingPunct="1">
              <a:lnSpc>
                <a:spcPts val="2900"/>
              </a:lnSpc>
              <a:spcBef>
                <a:spcPts val="0"/>
              </a:spcBef>
              <a:spcAft>
                <a:spcPts val="0"/>
              </a:spcAft>
              <a:buClr>
                <a:srgbClr val="2FBCB7"/>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先用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df.head()</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df.shape</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看內容</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2FBCB7"/>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表格資料給 DNN 時不用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view</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，維持 (N, 特徵數)</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2FBCB7"/>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沒有標題列：加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header=None</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2FBCB7"/>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標籤是文字：用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pd.factorize()</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轉成數字</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097355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NumPy 陣列</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.npy 存一個陣列；.npz 把好幾個陣列打包成一個檔，用名稱取出</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npy / .npz"/>
          <p:cNvSpPr/>
          <p:nvPr/>
        </p:nvSpPr>
        <p:spPr>
          <a:xfrm>
            <a:off x="8052476" y="1033272"/>
            <a:ext cx="2616200"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.npy / .npz</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2_numpy.py"/>
          <p:cNvSpPr/>
          <p:nvPr/>
        </p:nvSpPr>
        <p:spPr>
          <a:xfrm>
            <a:off x="2227748" y="3310128"/>
            <a:ext cx="10515600" cy="57302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numpy</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as</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np</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utils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TensorDataset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load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'data/x_train.npy'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.npy：一個檔 = 一個陣列</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load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'data/y_train.npy'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load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'data/train.npz'</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.npz：多個陣列包成一個檔</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files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['x', 'y']</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shape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(50000, 32, 32, 3) uint8</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from_numpy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float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255.0</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 轉 float32、縮放</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permute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(N,H,W,C)-&gt;(N,C,H,W)</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from_numpy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long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TensorDataset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Tip card 重點"/>
          <p:cNvSpPr/>
          <p:nvPr/>
        </p:nvSpPr>
        <p:spPr>
          <a:xfrm>
            <a:off x="13063388" y="3310128"/>
            <a:ext cx="4621108" cy="5730240"/>
          </a:xfrm>
          <a:prstGeom prst="roundRect">
            <a:avLst>
              <a:gd name="adj" fmla="val 5000"/>
            </a:avLst>
          </a:prstGeom>
          <a:solidFill>
            <a:srgbClr val="FCECE5"/>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Tip mark 重點"/>
          <p:cNvSpPr/>
          <p:nvPr/>
        </p:nvSpPr>
        <p:spPr>
          <a:xfrm>
            <a:off x="13337708" y="3584448"/>
            <a:ext cx="566928" cy="566928"/>
          </a:xfrm>
          <a:prstGeom prst="ellipse">
            <a:avLst/>
          </a:prstGeom>
          <a:solidFill>
            <a:srgbClr val="F1A988"/>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Tip header 重點"/>
          <p:cNvSpPr txBox="1"/>
          <p:nvPr/>
        </p:nvSpPr>
        <p:spPr>
          <a:xfrm>
            <a:off x="14069228" y="3584448"/>
            <a:ext cx="3340948" cy="56692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重點</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Tip body 重點"/>
          <p:cNvSpPr txBox="1"/>
          <p:nvPr/>
        </p:nvSpPr>
        <p:spPr>
          <a:xfrm>
            <a:off x="13337708" y="4379976"/>
            <a:ext cx="4072468" cy="4386072"/>
          </a:xfrm>
          <a:prstGeom prst="rect">
            <a:avLst/>
          </a:prstGeom>
          <a:noFill/>
        </p:spPr>
        <p:txBody>
          <a:bodyPr wrap="square" lIns="0" tIns="0" rIns="0" bIns="0" rtlCol="0" anchor="t">
            <a:noAutofit/>
          </a:bodyPr>
          <a:lstStyle/>
          <a:p>
            <a:pPr marL="274320" marR="0" lvl="0" indent="-274320" algn="l" defTabSz="914400" rtl="0" eaLnBrk="1" fontAlgn="auto" latinLnBrk="0" hangingPunct="1">
              <a:lnSpc>
                <a:spcPts val="2900"/>
              </a:lnSpc>
              <a:spcBef>
                <a:spcPts val="0"/>
              </a:spcBef>
              <a:spcAft>
                <a:spcPts val="0"/>
              </a:spcAft>
              <a:buClr>
                <a:srgbClr val="F1A988"/>
              </a:buClr>
              <a:buSzPct val="100000"/>
              <a:buFont typeface="Wingdings" panose="05000000000000000000" pitchFamily="2" charset="2"/>
              <a:buChar char="l"/>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data.files</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看裡面有哪些陣列</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1A988"/>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圖片常是 (N, H, W, C)，要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permute</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成 (N, C, H, W)</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1A988"/>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NumPy 小數預設 float64，用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.float()</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轉</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1A988"/>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存檔：</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np.save()</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np.savez()</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097355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Pickle 檔</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pickle 能把 Python 物件直接存成檔；CIFAR-10 的原始檔就是 pickle</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pkl / .pickle"/>
          <p:cNvSpPr/>
          <p:nvPr/>
        </p:nvSpPr>
        <p:spPr>
          <a:xfrm>
            <a:off x="6936908" y="1033272"/>
            <a:ext cx="2957576"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.pkl / .pickle</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3_pickle.py"/>
          <p:cNvSpPr/>
          <p:nvPr/>
        </p:nvSpPr>
        <p:spPr>
          <a:xfrm>
            <a:off x="2227748" y="3310128"/>
            <a:ext cx="10515600" cy="54254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pickle</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utils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TensorDataset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'data/cifar-10-batches-py/data_batch_1'</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with</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open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'rb'</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as</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二進位模式 'rb'</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batch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pickle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load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encoding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'latin1'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&lt;class 'dict'&gt;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keys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有 'data'、'labels' 等 key</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(10000, 3072) uint8，3072 = 3*32*32</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'labels'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list：10000 個 0~9 的整數</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from_numpy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float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view</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255.0</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tensor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long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TensorDataset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y</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Tip card 重點"/>
          <p:cNvSpPr/>
          <p:nvPr/>
        </p:nvSpPr>
        <p:spPr>
          <a:xfrm>
            <a:off x="13063388" y="3310128"/>
            <a:ext cx="4621108" cy="5425440"/>
          </a:xfrm>
          <a:prstGeom prst="roundRect">
            <a:avLst>
              <a:gd name="adj" fmla="val 5000"/>
            </a:avLst>
          </a:prstGeom>
          <a:solidFill>
            <a:srgbClr val="ECF3DC"/>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Tip mark 重點"/>
          <p:cNvSpPr/>
          <p:nvPr/>
        </p:nvSpPr>
        <p:spPr>
          <a:xfrm>
            <a:off x="13337708" y="3584448"/>
            <a:ext cx="566928" cy="566928"/>
          </a:xfrm>
          <a:prstGeom prst="ellipse">
            <a:avLst/>
          </a:prstGeom>
          <a:solidFill>
            <a:srgbClr val="94BC3D"/>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Tip header 重點"/>
          <p:cNvSpPr txBox="1"/>
          <p:nvPr/>
        </p:nvSpPr>
        <p:spPr>
          <a:xfrm>
            <a:off x="14069228" y="3584448"/>
            <a:ext cx="3340948" cy="56692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重點</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Tip body 重點"/>
          <p:cNvSpPr txBox="1"/>
          <p:nvPr/>
        </p:nvSpPr>
        <p:spPr>
          <a:xfrm>
            <a:off x="13337708" y="4379976"/>
            <a:ext cx="4072468" cy="4081272"/>
          </a:xfrm>
          <a:prstGeom prst="rect">
            <a:avLst/>
          </a:prstGeom>
          <a:noFill/>
        </p:spPr>
        <p:txBody>
          <a:bodyPr wrap="square" lIns="0" tIns="0" rIns="0" bIns="0" rtlCol="0" anchor="t">
            <a:noAutofit/>
          </a:bodyPr>
          <a:lstStyle/>
          <a:p>
            <a:pPr marL="274320" marR="0" lvl="0" indent="-274320" algn="l" defTabSz="914400" rtl="0" eaLnBrk="1" fontAlgn="auto" latinLnBrk="0" hangingPunct="1">
              <a:lnSpc>
                <a:spcPts val="2900"/>
              </a:lnSpc>
              <a:spcBef>
                <a:spcPts val="0"/>
              </a:spcBef>
              <a:spcAft>
                <a:spcPts val="0"/>
              </a:spcAft>
              <a:buClr>
                <a:srgbClr val="94BC3D"/>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存什麼就讀出什麼：先用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type()</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keys()</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看</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94BC3D"/>
              </a:buClr>
              <a:buSzPct val="100000"/>
              <a:buFont typeface="Wingdings" panose="05000000000000000000" pitchFamily="2" charset="2"/>
              <a:buChar char="l"/>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encoding='latin1'</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：Python 2 存的舊檔才要加</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94BC3D"/>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存檔用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pickle.dump()</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，開檔模式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'wb'</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94BC3D"/>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注意：只讀信任的來源，載入時可能執行程式碼</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09735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壓縮檔</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Kaggle 下載的資料集通常是 .zip；解壓縮後，再依裡面的格式讀</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zip / .tar.gz"/>
          <p:cNvSpPr/>
          <p:nvPr/>
        </p:nvSpPr>
        <p:spPr>
          <a:xfrm>
            <a:off x="5656748" y="1033272"/>
            <a:ext cx="2865120"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.zip / .tar.gz</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4_archive.py"/>
          <p:cNvSpPr/>
          <p:nvPr/>
        </p:nvSpPr>
        <p:spPr>
          <a:xfrm>
            <a:off x="2227748" y="3310128"/>
            <a:ext cx="10515600" cy="51206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io</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shutil</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zipfile</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pandas</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as</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pd</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PIL</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Image</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方法 1：先解壓縮成資料夾，再讀裡面的檔案（最常用）</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shutil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unpack_archive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'archive.zip'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shutil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unpack_archive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'cifar-10-python.tar.gz'</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方法 2：不解壓縮，直接讀壓縮檔裡的檔案</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with</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zipfile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ZipFile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'archive.zip'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as</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zf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zf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namelist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先看裡面有哪些檔案</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pd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read_csv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zf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open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'train.csv'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img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Image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open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io</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BytesIO</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zf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read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'images/0001.jpg'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Tip card 重點"/>
          <p:cNvSpPr/>
          <p:nvPr/>
        </p:nvSpPr>
        <p:spPr>
          <a:xfrm>
            <a:off x="13063388" y="3310128"/>
            <a:ext cx="4621108" cy="5120640"/>
          </a:xfrm>
          <a:prstGeom prst="roundRect">
            <a:avLst>
              <a:gd name="adj" fmla="val 5000"/>
            </a:avLst>
          </a:prstGeom>
          <a:solidFill>
            <a:srgbClr val="FEF3D3"/>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Tip mark 重點"/>
          <p:cNvSpPr/>
          <p:nvPr/>
        </p:nvSpPr>
        <p:spPr>
          <a:xfrm>
            <a:off x="13337708" y="3584448"/>
            <a:ext cx="566928" cy="566928"/>
          </a:xfrm>
          <a:prstGeom prst="ellipse">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Tip header 重點"/>
          <p:cNvSpPr txBox="1"/>
          <p:nvPr/>
        </p:nvSpPr>
        <p:spPr>
          <a:xfrm>
            <a:off x="14069228" y="3584448"/>
            <a:ext cx="3340948" cy="56692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6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重點</a:t>
            </a:r>
            <a:endParaRPr kumimoji="0" lang="zh-TW" altLang="en-US" sz="26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Tip body 重點"/>
          <p:cNvSpPr txBox="1"/>
          <p:nvPr/>
        </p:nvSpPr>
        <p:spPr>
          <a:xfrm>
            <a:off x="13337708" y="4379976"/>
            <a:ext cx="4072468" cy="3776472"/>
          </a:xfrm>
          <a:prstGeom prst="rect">
            <a:avLst/>
          </a:prstGeom>
          <a:noFill/>
        </p:spPr>
        <p:txBody>
          <a:bodyPr wrap="square" lIns="0" tIns="0" rIns="0" bIns="0" rtlCol="0" anchor="t">
            <a:noAutofit/>
          </a:bodyPr>
          <a:lstStyle/>
          <a:p>
            <a:pPr marL="274320" marR="0" lvl="0" indent="-274320" algn="l" defTabSz="914400" rtl="0" eaLnBrk="1" fontAlgn="auto" latinLnBrk="0" hangingPunct="1">
              <a:lnSpc>
                <a:spcPts val="2900"/>
              </a:lnSpc>
              <a:spcBef>
                <a:spcPts val="0"/>
              </a:spcBef>
              <a:spcAft>
                <a:spcPts val="0"/>
              </a:spcAft>
              <a:buClr>
                <a:srgbClr val="FBB116"/>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解壓縮一次就好，之後讀資料夾</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BB116"/>
              </a:buClr>
              <a:buSzPct val="100000"/>
              <a:buFont typeface="Wingdings" panose="05000000000000000000" pitchFamily="2" charset="2"/>
              <a:buChar char="l"/>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.tar.gz</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.tar</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用法相同</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BB116"/>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zip 裡只有一個 CSV：可直接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pd.read_csv('train.zip')</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900"/>
              </a:lnSpc>
              <a:spcBef>
                <a:spcPts val="1400"/>
              </a:spcBef>
              <a:spcAft>
                <a:spcPts val="0"/>
              </a:spcAft>
              <a:buClr>
                <a:srgbClr val="FBB116"/>
              </a:buClr>
              <a:buSzPct val="10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先用 </a:t>
            </a: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namelist()</a:t>
            </a: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確認路徑（常多包一層資料夾）</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097355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圖片資料夾</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資料夾名稱就是類別：ImageFolder 會自動讀圖，並依資料夾標上標籤</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ImageFolder"/>
          <p:cNvSpPr/>
          <p:nvPr/>
        </p:nvSpPr>
        <p:spPr>
          <a:xfrm>
            <a:off x="7485548" y="1033272"/>
            <a:ext cx="2822448"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ImageFolder</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3" name="Tree card"/>
          <p:cNvSpPr/>
          <p:nvPr/>
        </p:nvSpPr>
        <p:spPr>
          <a:xfrm>
            <a:off x="2227748" y="3310128"/>
            <a:ext cx="3703320" cy="4815840"/>
          </a:xfrm>
          <a:prstGeom prst="roundRect">
            <a:avLst>
              <a:gd name="adj" fmla="val 5000"/>
            </a:avLst>
          </a:prstGeom>
          <a:solidFill>
            <a:srgbClr val="FFFFFF"/>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Tree text"/>
          <p:cNvSpPr txBox="1"/>
          <p:nvPr/>
        </p:nvSpPr>
        <p:spPr>
          <a:xfrm>
            <a:off x="2547788" y="3584448"/>
            <a:ext cx="3154680" cy="4267200"/>
          </a:xfrm>
          <a:prstGeom prst="rect">
            <a:avLst/>
          </a:prstGeom>
          <a:noFill/>
        </p:spPr>
        <p:txBody>
          <a:bodyPr wrap="square" lIns="0" tIns="0" rIns="0" bIns="0" rtlCol="0" anchor="t">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資料夾結構</a:t>
            </a:r>
            <a:endParaRPr kumimoji="0" lang="zh-TW" altLang="en-US" sz="22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400"/>
              </a:lnSpc>
              <a:spcBef>
                <a:spcPts val="8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Consolas"/>
                <a:ea typeface="Microsoft JhengHei"/>
                <a:cs typeface="+mn-cs"/>
              </a:rPr>
              <a:t>data/train/</a:t>
            </a:r>
            <a:endPar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1E8C88"/>
                </a:solidFill>
                <a:effectLst/>
                <a:uLnTx/>
                <a:uFillTx/>
                <a:latin typeface="Consolas"/>
                <a:ea typeface="Microsoft JhengHei"/>
                <a:cs typeface="+mn-cs"/>
              </a:rPr>
              <a:t>  bird/</a:t>
            </a:r>
            <a:endParaRPr kumimoji="0" lang="zh-TW" altLang="en-US" sz="2000" b="0" i="0" u="none" strike="noStrike" kern="1200" cap="none" spc="0" normalizeH="0" baseline="0" noProof="0" dirty="0">
              <a:ln>
                <a:noFill/>
              </a:ln>
              <a:solidFill>
                <a:srgbClr val="1E8C88"/>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rPr>
              <a:t>    001.jpg</a:t>
            </a:r>
            <a:endPar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rPr>
              <a:t>    002.jpg</a:t>
            </a:r>
            <a:endPar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C4562F"/>
                </a:solidFill>
                <a:effectLst/>
                <a:uLnTx/>
                <a:uFillTx/>
                <a:latin typeface="Consolas"/>
                <a:ea typeface="Microsoft JhengHei"/>
                <a:cs typeface="+mn-cs"/>
              </a:rPr>
              <a:t>  cat/</a:t>
            </a:r>
            <a:endParaRPr kumimoji="0" lang="zh-TW" altLang="en-US" sz="2000" b="0" i="0" u="none" strike="noStrike" kern="1200" cap="none" spc="0" normalizeH="0" baseline="0" noProof="0" dirty="0">
              <a:ln>
                <a:noFill/>
              </a:ln>
              <a:solidFill>
                <a:srgbClr val="C4562F"/>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rPr>
              <a:t>    003.jpg</a:t>
            </a:r>
            <a:endPar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rPr>
              <a:t>    …</a:t>
            </a:r>
            <a:endPar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5E8A1C"/>
                </a:solidFill>
                <a:effectLst/>
                <a:uLnTx/>
                <a:uFillTx/>
                <a:latin typeface="Consolas"/>
                <a:ea typeface="Microsoft JhengHei"/>
                <a:cs typeface="+mn-cs"/>
              </a:rPr>
              <a:t>  dog/</a:t>
            </a:r>
            <a:endParaRPr kumimoji="0" lang="zh-TW" altLang="en-US" sz="2000" b="0" i="0" u="none" strike="noStrike" kern="1200" cap="none" spc="0" normalizeH="0" baseline="0" noProof="0" dirty="0">
              <a:ln>
                <a:noFill/>
              </a:ln>
              <a:solidFill>
                <a:srgbClr val="5E8A1C"/>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rPr>
              <a:t>    …</a:t>
            </a:r>
            <a:endParaRPr kumimoji="0" lang="zh-TW" altLang="en-US" sz="2000" b="0" i="0" u="none" strike="noStrike" kern="1200" cap="none" spc="0" normalizeH="0" baseline="0" noProof="0" dirty="0">
              <a:ln>
                <a:noFill/>
              </a:ln>
              <a:solidFill>
                <a:srgbClr val="7A6555"/>
              </a:solidFill>
              <a:effectLst/>
              <a:uLnTx/>
              <a:uFillTx/>
              <a:latin typeface="Consolas"/>
              <a:ea typeface="Microsoft JhengHei"/>
              <a:cs typeface="+mn-cs"/>
            </a:endParaRPr>
          </a:p>
        </p:txBody>
      </p:sp>
      <p:sp>
        <p:nvSpPr>
          <p:cNvPr id="205" name="Tree caption"/>
          <p:cNvSpPr txBox="1"/>
          <p:nvPr/>
        </p:nvSpPr>
        <p:spPr>
          <a:xfrm>
            <a:off x="2547788" y="6982968"/>
            <a:ext cx="3154680" cy="868680"/>
          </a:xfrm>
          <a:prstGeom prst="rect">
            <a:avLst/>
          </a:prstGeom>
          <a:noFill/>
        </p:spPr>
        <p:txBody>
          <a:bodyPr wrap="square" lIns="0" tIns="0" rIns="0" bIns="0" rtlCol="0" anchor="b">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3 個資料夾</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8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7A6555"/>
                </a:solidFill>
                <a:effectLst/>
                <a:uLnTx/>
                <a:uFillTx/>
                <a:latin typeface="微軟正黑體" panose="020B0604030504040204" pitchFamily="34" charset="-120"/>
                <a:ea typeface="微軟正黑體" panose="020B0604030504040204" pitchFamily="34" charset="-120"/>
                <a:cs typeface="+mn-cs"/>
              </a:rPr>
              <a:t>＝ 3 個類別</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5_imagefolder.py"/>
          <p:cNvSpPr/>
          <p:nvPr/>
        </p:nvSpPr>
        <p:spPr>
          <a:xfrm>
            <a:off x="6251108" y="3310128"/>
            <a:ext cx="11433388" cy="48158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torchvision</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datasets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transforms</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utils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DataLoader</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tfm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transforms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Compose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transforms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64</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64</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每張圖大小不同，先統一尺寸</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transforms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ToTensor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transforms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Normalize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0.5</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datasets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ImageFolder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'data/train'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transform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tfm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classes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['bird', 'cat', 'dog']</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class_to_idx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{'bird': 0, 'cat': 1, 'dog': 2}</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64</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shuffle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True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6" name="Follow-up bullets"/>
          <p:cNvSpPr txBox="1"/>
          <p:nvPr/>
        </p:nvSpPr>
        <p:spPr>
          <a:xfrm>
            <a:off x="2227748" y="8418576"/>
            <a:ext cx="15456748" cy="1117600"/>
          </a:xfrm>
          <a:prstGeom prst="rect">
            <a:avLst/>
          </a:prstGeom>
          <a:noFill/>
        </p:spPr>
        <p:txBody>
          <a:bodyPr wrap="square" lIns="0" tIns="0" rIns="0" bIns="0" rtlCol="0" anchor="t">
            <a:noAutofit/>
          </a:bodyPr>
          <a:lstStyle/>
          <a:p>
            <a:pPr marL="285750" marR="0" lvl="0" indent="-285750" algn="l" defTabSz="914400" rtl="0" eaLnBrk="1" fontAlgn="auto" latinLnBrk="0" hangingPunct="1">
              <a:lnSpc>
                <a:spcPts val="4400"/>
              </a:lnSpc>
              <a:spcBef>
                <a:spcPts val="0"/>
              </a:spcBef>
              <a:spcAft>
                <a:spcPts val="0"/>
              </a:spcAft>
              <a:buClrTx/>
              <a:buSzTx/>
              <a:buFont typeface="Wingdings" panose="05000000000000000000" pitchFamily="2" charset="2"/>
              <a:buChar char="l"/>
              <a:tabLst/>
              <a:defRPr/>
            </a:pP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類別編號依資料夾名稱排序；圖片一律讀成 RGB（3 通道）</a:t>
            </a:r>
            <a:endPar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4400"/>
              </a:lnSpc>
              <a:spcBef>
                <a:spcPts val="0"/>
              </a:spcBef>
              <a:spcAft>
                <a:spcPts val="0"/>
              </a:spcAft>
              <a:buClrTx/>
              <a:buSzTx/>
              <a:buFont typeface="Wingdings" panose="05000000000000000000" pitchFamily="2" charset="2"/>
              <a:buChar char="l"/>
              <a:tabLst/>
              <a:defRPr/>
            </a:pP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灰階想用 1 通道：加 </a:t>
            </a:r>
            <a:r>
              <a:rPr kumimoji="0" lang="zh-TW" altLang="en-US" sz="2600" b="0" i="0" u="none" strike="noStrike" kern="1200" cap="none" spc="0" normalizeH="0" baseline="0" noProof="0" dirty="0">
                <a:ln>
                  <a:noFill/>
                </a:ln>
                <a:solidFill>
                  <a:srgbClr val="3F2619"/>
                </a:solidFill>
                <a:effectLst/>
                <a:uLnTx/>
                <a:uFillTx/>
                <a:latin typeface="Consolas"/>
                <a:ea typeface="Microsoft JhengHei"/>
                <a:cs typeface="+mn-cs"/>
              </a:rPr>
              <a:t>transforms.Grayscale()</a:t>
            </a: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，Normalize 改成 </a:t>
            </a:r>
            <a:r>
              <a:rPr kumimoji="0" lang="zh-TW" altLang="en-US" sz="2600" b="0" i="0" u="none" strike="noStrike" kern="1200" cap="none" spc="0" normalizeH="0" baseline="0" noProof="0" dirty="0">
                <a:ln>
                  <a:noFill/>
                </a:ln>
                <a:solidFill>
                  <a:srgbClr val="3F2619"/>
                </a:solidFill>
                <a:effectLst/>
                <a:uLnTx/>
                <a:uFillTx/>
                <a:latin typeface="Consolas"/>
                <a:ea typeface="Microsoft JhengHei"/>
                <a:cs typeface="+mn-cs"/>
              </a:rPr>
              <a:t>(0.5,), (0.5,)</a:t>
            </a:r>
            <a:endPar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Tree>
    <p:extLst>
      <p:ext uri="{BB962C8B-B14F-4D97-AF65-F5344CB8AC3E}">
        <p14:creationId xmlns:p14="http://schemas.microsoft.com/office/powerpoint/2010/main" val="1097355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自訂 Dataset</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圖片 + 標籤檔"/>
          <p:cNvSpPr/>
          <p:nvPr/>
        </p:nvSpPr>
        <p:spPr>
          <a:xfrm>
            <a:off x="8381660" y="1033272"/>
            <a:ext cx="2929128"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圖片 + 標籤檔</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6_custom.py"/>
          <p:cNvSpPr/>
          <p:nvPr/>
        </p:nvSpPr>
        <p:spPr>
          <a:xfrm>
            <a:off x="2227748" y="2194560"/>
            <a:ext cx="11521440" cy="75590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pandas</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as</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pd</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PIL</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Image</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from</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utils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import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DataLoader</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class</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 MyDataset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def</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__init__</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csv_path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img_dir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transform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None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pd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read_csv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csv_path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兩欄：filename, label</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img_dir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img_dir</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transform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transform</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def</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__len__</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return</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len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def</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 __getitem__</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idx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name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label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iloc</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idx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img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Image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open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f'</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img_dir</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name</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convert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'RGB'</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if</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 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transform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img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self</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transform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        return</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 img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label</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tfm：用上一頁 ImageFolder 的 transforms</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MyDataset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'data/labels.csv'</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E9178"/>
                </a:solidFill>
                <a:effectLst/>
                <a:uLnTx/>
                <a:uFillTx/>
                <a:latin typeface="Consolas"/>
                <a:ea typeface="Microsoft JhengHei"/>
                <a:cs typeface="+mn-cs"/>
              </a:rPr>
              <a:t>'data/images'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tfm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DataLoader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train_dataset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batch_size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64</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shuffle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569CD6"/>
                </a:solidFill>
                <a:effectLst/>
                <a:uLnTx/>
                <a:uFillTx/>
                <a:latin typeface="Consolas"/>
                <a:ea typeface="Microsoft JhengHei"/>
                <a:cs typeface="+mn-cs"/>
              </a:rPr>
              <a:t>True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Brace 準備清單"/>
          <p:cNvSpPr/>
          <p:nvPr/>
        </p:nvSpPr>
        <p:spPr>
          <a:xfrm>
            <a:off x="14023508" y="4038600"/>
            <a:ext cx="274320" cy="1127760"/>
          </a:xfrm>
          <a:prstGeom prst="rightBrace">
            <a:avLst/>
          </a:prstGeom>
          <a:noFill/>
          <a:ln w="25400">
            <a:solidFill>
              <a:srgbClr val="3F2619"/>
            </a:solid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Brace label 準備清單"/>
          <p:cNvSpPr txBox="1"/>
          <p:nvPr/>
        </p:nvSpPr>
        <p:spPr>
          <a:xfrm>
            <a:off x="14480708" y="4099560"/>
            <a:ext cx="3203788" cy="1005840"/>
          </a:xfrm>
          <a:prstGeom prst="rect">
            <a:avLst/>
          </a:prstGeom>
          <a:noFill/>
        </p:spPr>
        <p:txBody>
          <a:bodyPr wrap="square" lIns="0" tIns="0" rIns="0" bIns="0" rtlCol="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準備清單</a:t>
            </a:r>
            <a:endPar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0" marR="0" lvl="0" indent="0" algn="l" defTabSz="914400" rtl="0" eaLnBrk="1" fontAlgn="auto" latinLnBrk="0" hangingPunct="1">
              <a:lnSpc>
                <a:spcPts val="26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panose="020B0200000000000000" pitchFamily="34" charset="-128"/>
                <a:ea typeface="Noto Sans SC Medium" panose="020B0200000000000000" pitchFamily="34" charset="-128"/>
                <a:cs typeface="+mn-cs"/>
              </a:rPr>
              <a:t>讀標籤檔、記住圖片路徑</a:t>
            </a:r>
            <a:endParaRPr kumimoji="0" lang="zh-TW" altLang="en-US" sz="1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205" name="Brace 總共幾筆"/>
          <p:cNvSpPr/>
          <p:nvPr/>
        </p:nvSpPr>
        <p:spPr>
          <a:xfrm>
            <a:off x="14023508" y="5562600"/>
            <a:ext cx="274320" cy="518160"/>
          </a:xfrm>
          <a:prstGeom prst="rightBrace">
            <a:avLst/>
          </a:prstGeom>
          <a:noFill/>
          <a:ln w="25400">
            <a:solidFill>
              <a:srgbClr val="3F2619"/>
            </a:solid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Brace label 總共幾筆"/>
          <p:cNvSpPr txBox="1"/>
          <p:nvPr/>
        </p:nvSpPr>
        <p:spPr>
          <a:xfrm>
            <a:off x="14480708" y="5318760"/>
            <a:ext cx="3203788" cy="1005840"/>
          </a:xfrm>
          <a:prstGeom prst="rect">
            <a:avLst/>
          </a:prstGeom>
          <a:noFill/>
        </p:spPr>
        <p:txBody>
          <a:bodyPr wrap="square" lIns="0" tIns="0" rIns="0" bIns="0" rtlCol="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總共幾筆</a:t>
            </a:r>
            <a:endPar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0" marR="0" lvl="0" indent="0" algn="l" defTabSz="914400" rtl="0" eaLnBrk="1" fontAlgn="auto" latinLnBrk="0" hangingPunct="1">
              <a:lnSpc>
                <a:spcPts val="26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panose="020B0200000000000000" pitchFamily="34" charset="-128"/>
                <a:ea typeface="Noto Sans SC Medium" panose="020B0200000000000000" pitchFamily="34" charset="-128"/>
                <a:cs typeface="+mn-cs"/>
              </a:rPr>
              <a:t>DataLoader 用它算有幾批</a:t>
            </a:r>
            <a:endParaRPr kumimoji="0" lang="zh-TW" altLang="en-US" sz="1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207" name="Brace 第 idx 筆怎麼讀"/>
          <p:cNvSpPr/>
          <p:nvPr/>
        </p:nvSpPr>
        <p:spPr>
          <a:xfrm>
            <a:off x="14023508" y="6477000"/>
            <a:ext cx="274320" cy="1737360"/>
          </a:xfrm>
          <a:prstGeom prst="rightBrace">
            <a:avLst/>
          </a:prstGeom>
          <a:noFill/>
          <a:ln w="25400">
            <a:solidFill>
              <a:srgbClr val="3F2619"/>
            </a:solidFill>
          </a:ln>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8" name="Brace label 第 idx 筆怎麼讀"/>
          <p:cNvSpPr txBox="1"/>
          <p:nvPr/>
        </p:nvSpPr>
        <p:spPr>
          <a:xfrm>
            <a:off x="14480708" y="6842760"/>
            <a:ext cx="3203788" cy="1005840"/>
          </a:xfrm>
          <a:prstGeom prst="rect">
            <a:avLst/>
          </a:prstGeom>
          <a:noFill/>
        </p:spPr>
        <p:txBody>
          <a:bodyPr wrap="square" lIns="0" tIns="0" rIns="0" bIns="0" rtlCol="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第 idx 筆怎麼讀</a:t>
            </a:r>
            <a:endParaRPr kumimoji="0" lang="zh-TW" altLang="en-US" sz="2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0" marR="0" lvl="0" indent="0" algn="l" defTabSz="914400" rtl="0" eaLnBrk="1" fontAlgn="auto" latinLnBrk="0" hangingPunct="1">
              <a:lnSpc>
                <a:spcPts val="26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panose="020B0200000000000000" pitchFamily="34" charset="-128"/>
                <a:ea typeface="Noto Sans SC Medium" panose="020B0200000000000000" pitchFamily="34" charset="-128"/>
                <a:cs typeface="+mn-cs"/>
              </a:rPr>
              <a:t>開圖 → transform → 回傳</a:t>
            </a:r>
            <a:endParaRPr kumimoji="0" lang="zh-TW" altLang="en-US" sz="16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209" name="Example note"/>
          <p:cNvSpPr/>
          <p:nvPr/>
        </p:nvSpPr>
        <p:spPr>
          <a:xfrm>
            <a:off x="14480708" y="8488680"/>
            <a:ext cx="3203788" cy="1264920"/>
          </a:xfrm>
          <a:prstGeom prst="roundRect">
            <a:avLst>
              <a:gd name="adj" fmla="val 8000"/>
            </a:avLst>
          </a:prstGeom>
          <a:solidFill>
            <a:srgbClr val="FEF3D3"/>
          </a:solidFill>
          <a:ln>
            <a:noFill/>
          </a:ln>
          <a:effectLst>
            <a:outerShdw blurRad="152400" dist="38100" dir="5400000" algn="t" rotWithShape="0">
              <a:srgbClr val="3F2619">
                <a:alpha val="14000"/>
              </a:srgbClr>
            </a:outerShdw>
          </a:effectLst>
        </p:spPr>
        <p:txBody>
          <a:bodyPr wrap="square" lIns="201168" tIns="109728" rIns="182880" bIns="109728" rtlCol="0" anchor="ctr">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例：Tiny ImageNet 的 val</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17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標籤寫在</a:t>
            </a:r>
            <a:endParaRPr kumimoji="0" lang="zh-TW" altLang="en-US" sz="17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3E1D"/>
                </a:solidFill>
                <a:effectLst/>
                <a:uLnTx/>
                <a:uFillTx/>
                <a:latin typeface="Consolas"/>
                <a:ea typeface="Microsoft JhengHei"/>
                <a:cs typeface="+mn-cs"/>
              </a:rPr>
              <a:t>val_annotations.txt</a:t>
            </a:r>
            <a:endParaRPr kumimoji="0" lang="zh-TW" altLang="en-US" sz="1600" b="0" i="0" u="none" strike="noStrike" kern="1200" cap="none" spc="0" normalizeH="0" baseline="0" noProof="0" dirty="0">
              <a:ln>
                <a:noFill/>
              </a:ln>
              <a:solidFill>
                <a:srgbClr val="7A3E1D"/>
              </a:solidFill>
              <a:effectLst/>
              <a:uLnTx/>
              <a:uFillTx/>
              <a:latin typeface="Consolas"/>
              <a:ea typeface="Microsoft JhengHei"/>
              <a:cs typeface="+mn-cs"/>
            </a:endParaRPr>
          </a:p>
        </p:txBody>
      </p:sp>
    </p:spTree>
    <p:extLst>
      <p:ext uri="{BB962C8B-B14F-4D97-AF65-F5344CB8AC3E}">
        <p14:creationId xmlns:p14="http://schemas.microsoft.com/office/powerpoint/2010/main" val="1097355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其他常見格式</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格式不同，只差在「用什麼讀」；讀成陣列或 Tensor 之後的步驟都一樣</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速查表"/>
          <p:cNvSpPr/>
          <p:nvPr/>
        </p:nvSpPr>
        <p:spPr>
          <a:xfrm>
            <a:off x="8399948" y="1033272"/>
            <a:ext cx="1798320"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速查表</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graphicFrame>
        <p:nvGraphicFramePr>
          <p:cNvPr id="202" name="Other formats table"/>
          <p:cNvGraphicFramePr>
            <a:graphicFrameLocks noGrp="1"/>
          </p:cNvGraphicFramePr>
          <p:nvPr/>
        </p:nvGraphicFramePr>
        <p:xfrm>
          <a:off x="2227748" y="3310128"/>
          <a:ext cx="15453360" cy="5961888"/>
        </p:xfrm>
        <a:graphic>
          <a:graphicData uri="http://schemas.openxmlformats.org/drawingml/2006/table">
            <a:tbl>
              <a:tblPr firstRow="1" bandRow="1"/>
              <a:tblGrid>
                <a:gridCol w="3611880"/>
                <a:gridCol w="6629400"/>
                <a:gridCol w="5212080"/>
              </a:tblGrid>
              <a:tr h="548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格式</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用什麼讀</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備註</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3F2619"/>
                      </a:solidFill>
                    </a:lnT>
                    <a:lnB w="12700">
                      <a:solidFill>
                        <a:srgbClr val="3F2619"/>
                      </a:solidFill>
                    </a:lnB>
                    <a:solidFill>
                      <a:srgbClr val="3F2619"/>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JSON（.json）</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json.load(open(path, encoding='utf-8'))</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標註檔常見，讀出來是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dict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Excel（.xlsx）</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pd.read_excel(path)</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需安裝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openpyxl</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文字檔（.txt）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np.loadtxt(path)</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以空白分隔的數字</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Parquet（.parquet）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pd.read_parquet(path)</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需安裝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pyarrow</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PyTorch（.pt）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torch.load(path)</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讀回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torch.save()</a:t>
                      </a: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存的資料</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HDF5（.h5）</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h5py.File(path, 'r')['x'][:]</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先用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keys()</a:t>
                      </a: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 看有哪些資料</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MATLAB（.mat）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scipy.io.loadmat(path)</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讀出來是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dict</a:t>
                      </a: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；v7.3 版改用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h5py</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FFFFF"/>
                    </a:solidFill>
                  </a:tcPr>
                </a:tc>
              </a:tr>
              <a:tr h="67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DICOM（.dcm）</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pydicom.dcmread(path).pixel_array</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醫學影像，需安裝 </a:t>
                      </a:r>
                      <a:r>
                        <a:rPr kumimoji="0" lang="zh-TW" altLang="en-US" sz="2000" b="0" i="0" u="none" strike="noStrike" kern="1200" cap="none" spc="0" normalizeH="0" baseline="0" noProof="0" dirty="0">
                          <a:ln>
                            <a:noFill/>
                          </a:ln>
                          <a:solidFill>
                            <a:srgbClr val="3F2619"/>
                          </a:solidFill>
                          <a:effectLst/>
                          <a:uLnTx/>
                          <a:uFillTx/>
                          <a:latin typeface="Consolas"/>
                          <a:ea typeface="Microsoft JhengHei"/>
                          <a:cs typeface="+mn-cs"/>
                        </a:rPr>
                        <a:t>pydicom</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txBody>
                  <a:tcPr marL="128016" marR="128016" marT="54864" marB="54864" anchor="ctr">
                    <a:lnL w="12700">
                      <a:noFill/>
                    </a:lnL>
                    <a:lnR w="12700">
                      <a:noFill/>
                    </a:lnR>
                    <a:lnT w="12700">
                      <a:solidFill>
                        <a:srgbClr val="E3D9CE"/>
                      </a:solidFill>
                    </a:lnT>
                    <a:lnB w="12700">
                      <a:solidFill>
                        <a:srgbClr val="E3D9CE"/>
                      </a:solidFill>
                    </a:lnB>
                    <a:solidFill>
                      <a:srgbClr val="F7F2EC"/>
                    </a:solidFill>
                  </a:tcPr>
                </a:tc>
              </a:tr>
            </a:tbl>
          </a:graphicData>
        </a:graphic>
      </p:graphicFrame>
    </p:spTree>
    <p:extLst>
      <p:ext uri="{BB962C8B-B14F-4D97-AF65-F5344CB8AC3E}">
        <p14:creationId xmlns:p14="http://schemas.microsoft.com/office/powerpoint/2010/main" val="1097355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讀完先檢查</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71120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從 DataLoader 拿一個 batch 印出來，確認形狀、型態、數值範圍都對</a:t>
            </a:r>
            <a:endPar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1" name="Badge shape、dtype、標籤"/>
          <p:cNvSpPr/>
          <p:nvPr/>
        </p:nvSpPr>
        <p:spPr>
          <a:xfrm>
            <a:off x="7485548" y="1033272"/>
            <a:ext cx="4123944"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shape、dtype、標籤</a:t>
            </a:r>
            <a:endParaRPr kumimoji="0" lang="zh-TW" altLang="en-US" sz="2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2" name="Code s8_check.py"/>
          <p:cNvSpPr/>
          <p:nvPr/>
        </p:nvSpPr>
        <p:spPr>
          <a:xfrm>
            <a:off x="2227748" y="3310128"/>
            <a:ext cx="11521440" cy="23774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labels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next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iter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train_loader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shape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[128, 1, 28, 28]：(N, C, H, W)</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torch.float32</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labels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dtype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torch.int64（就是 long）</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min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images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max</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0~1（Normalize 後約 -1~1）</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labels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unique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0 ~ 類別數-1</a:t>
            </a:r>
            <a:endPar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endParaRPr>
          </a:p>
        </p:txBody>
      </p:sp>
      <p:sp>
        <p:nvSpPr>
          <p:cNvPr id="203" name="Loss needs card"/>
          <p:cNvSpPr/>
          <p:nvPr/>
        </p:nvSpPr>
        <p:spPr>
          <a:xfrm>
            <a:off x="14023508" y="3310128"/>
            <a:ext cx="3660988" cy="2377440"/>
          </a:xfrm>
          <a:prstGeom prst="roundRect">
            <a:avLst>
              <a:gd name="adj" fmla="val 6000"/>
            </a:avLst>
          </a:prstGeom>
          <a:solidFill>
            <a:srgbClr val="FEF3D3"/>
          </a:solidFill>
          <a:ln>
            <a:noFill/>
          </a:ln>
          <a:effectLst>
            <a:outerShdw blurRad="152400" dist="38100" dir="5400000" algn="t" rotWithShape="0">
              <a:srgbClr val="3F2619">
                <a:alpha val="14000"/>
              </a:srgbClr>
            </a:outerShdw>
          </a:effectLst>
        </p:spPr>
        <p:txBody>
          <a:bodyPr wrap="square" lIns="274320" tIns="182880" rIns="228600" bIns="182880" rtlCol="0" anchor="ctr">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zh-TW" altLang="en-US" sz="19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CrossEntropyLoss 要的是</a:t>
            </a:r>
            <a:endParaRPr kumimoji="0" lang="zh-TW" altLang="en-US" sz="19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800"/>
              </a:lnSpc>
              <a:spcBef>
                <a:spcPts val="600"/>
              </a:spcBef>
              <a:spcAft>
                <a:spcPts val="0"/>
              </a:spcAft>
              <a:buClr>
                <a:srgbClr val="FBB116"/>
              </a:buClr>
              <a:buSzPct val="100000"/>
              <a:buFont typeface="Wingdings" panose="05000000000000000000" pitchFamily="2" charset="2"/>
              <a:buChar char="l"/>
              <a:tabLst/>
              <a:defRPr/>
            </a:pPr>
            <a:r>
              <a:rPr kumimoji="0" lang="zh-TW" altLang="en-US" sz="19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輸入：</a:t>
            </a:r>
            <a:r>
              <a:rPr kumimoji="0" lang="zh-TW" altLang="en-US" sz="1900" b="0" i="0" u="none" strike="noStrike" kern="1200" cap="none" spc="0" normalizeH="0" baseline="0" noProof="0" dirty="0">
                <a:ln>
                  <a:noFill/>
                </a:ln>
                <a:solidFill>
                  <a:srgbClr val="7A3E1D"/>
                </a:solidFill>
                <a:effectLst/>
                <a:uLnTx/>
                <a:uFillTx/>
                <a:latin typeface="Consolas"/>
                <a:ea typeface="Microsoft JhengHei"/>
                <a:cs typeface="+mn-cs"/>
              </a:rPr>
              <a:t>float32</a:t>
            </a:r>
            <a:endParaRPr kumimoji="0" lang="zh-TW" altLang="en-US" sz="19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800"/>
              </a:lnSpc>
              <a:spcBef>
                <a:spcPts val="600"/>
              </a:spcBef>
              <a:spcAft>
                <a:spcPts val="0"/>
              </a:spcAft>
              <a:buClr>
                <a:srgbClr val="FBB116"/>
              </a:buClr>
              <a:buSzPct val="100000"/>
              <a:buFont typeface="Wingdings" panose="05000000000000000000" pitchFamily="2" charset="2"/>
              <a:buChar char="l"/>
              <a:tabLst/>
              <a:defRPr/>
            </a:pPr>
            <a:r>
              <a:rPr kumimoji="0" lang="zh-TW" altLang="en-US" sz="19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a:t>
            </a:r>
            <a:r>
              <a:rPr kumimoji="0" lang="zh-TW" altLang="en-US" sz="1900" b="0" i="0" u="none" strike="noStrike" kern="1200" cap="none" spc="0" normalizeH="0" baseline="0" noProof="0" dirty="0">
                <a:ln>
                  <a:noFill/>
                </a:ln>
                <a:solidFill>
                  <a:srgbClr val="7A3E1D"/>
                </a:solidFill>
                <a:effectLst/>
                <a:uLnTx/>
                <a:uFillTx/>
                <a:latin typeface="Consolas"/>
                <a:ea typeface="Microsoft JhengHei"/>
                <a:cs typeface="+mn-cs"/>
              </a:rPr>
              <a:t>int64</a:t>
            </a:r>
            <a:r>
              <a:rPr kumimoji="0" lang="zh-TW" altLang="en-US" sz="19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（long）</a:t>
            </a:r>
            <a:endParaRPr kumimoji="0" lang="zh-TW" altLang="en-US" sz="19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274320" marR="0" lvl="0" indent="-274320" algn="l" defTabSz="914400" rtl="0" eaLnBrk="1" fontAlgn="auto" latinLnBrk="0" hangingPunct="1">
              <a:lnSpc>
                <a:spcPts val="2800"/>
              </a:lnSpc>
              <a:spcBef>
                <a:spcPts val="600"/>
              </a:spcBef>
              <a:spcAft>
                <a:spcPts val="0"/>
              </a:spcAft>
              <a:buClr>
                <a:srgbClr val="FBB116"/>
              </a:buClr>
              <a:buSzPct val="100000"/>
              <a:buFont typeface="Wingdings" panose="05000000000000000000" pitchFamily="2" charset="2"/>
              <a:buChar char="l"/>
              <a:tabLst/>
              <a:defRPr/>
            </a:pPr>
            <a:r>
              <a:rPr kumimoji="0" lang="zh-TW" altLang="en-US" sz="19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標籤從 0 開始編號</a:t>
            </a:r>
            <a:endParaRPr kumimoji="0" lang="zh-TW" altLang="en-US" sz="19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4" name="Error card 1"/>
          <p:cNvSpPr/>
          <p:nvPr/>
        </p:nvSpPr>
        <p:spPr>
          <a:xfrm>
            <a:off x="2227748" y="5980176"/>
            <a:ext cx="3658447" cy="3730752"/>
          </a:xfrm>
          <a:prstGeom prst="roundRect">
            <a:avLst>
              <a:gd name="adj" fmla="val 5000"/>
            </a:avLst>
          </a:prstGeom>
          <a:solidFill>
            <a:srgbClr val="DAF3F2"/>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5" name="Error num 1"/>
          <p:cNvSpPr/>
          <p:nvPr/>
        </p:nvSpPr>
        <p:spPr>
          <a:xfrm>
            <a:off x="2456348" y="6163056"/>
            <a:ext cx="512064" cy="512064"/>
          </a:xfrm>
          <a:prstGeom prst="ellipse">
            <a:avLst/>
          </a:prstGeom>
          <a:solidFill>
            <a:srgbClr val="2FBCB7"/>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1</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6" name="Error head 1"/>
          <p:cNvSpPr txBox="1"/>
          <p:nvPr/>
        </p:nvSpPr>
        <p:spPr>
          <a:xfrm>
            <a:off x="3096428" y="6163056"/>
            <a:ext cx="265260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型態不對</a:t>
            </a:r>
            <a:endParaRPr kumimoji="0" lang="zh-TW" altLang="en-US" sz="22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7" name="Error body 1"/>
          <p:cNvSpPr txBox="1"/>
          <p:nvPr/>
        </p:nvSpPr>
        <p:spPr>
          <a:xfrm>
            <a:off x="2456348" y="6803136"/>
            <a:ext cx="3292687" cy="2770632"/>
          </a:xfrm>
          <a:prstGeom prst="rect">
            <a:avLst/>
          </a:prstGeom>
          <a:noFill/>
        </p:spPr>
        <p:txBody>
          <a:bodyPr wrap="square" lIns="0" tIns="0" rIns="0" bIns="0" rtlCol="0" anchor="t">
            <a:no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rPr>
              <a:t>Input type (double) and bias type (float) should be the same</a:t>
            </a:r>
            <a:endPar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900"/>
              </a:lnSpc>
              <a:spcBef>
                <a:spcPts val="12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原因：NumPy 預設 float64</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900"/>
              </a:lnSpc>
              <a:spcBef>
                <a:spcPts val="6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解法：</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X.float()</a:t>
            </a:r>
            <a:endPar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endParaRPr>
          </a:p>
        </p:txBody>
      </p:sp>
      <p:sp>
        <p:nvSpPr>
          <p:cNvPr id="208" name="Error card 2"/>
          <p:cNvSpPr/>
          <p:nvPr/>
        </p:nvSpPr>
        <p:spPr>
          <a:xfrm>
            <a:off x="6160515" y="5980176"/>
            <a:ext cx="3658447" cy="3730752"/>
          </a:xfrm>
          <a:prstGeom prst="roundRect">
            <a:avLst>
              <a:gd name="adj" fmla="val 5000"/>
            </a:avLst>
          </a:prstGeom>
          <a:solidFill>
            <a:srgbClr val="FCECE5"/>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09" name="Error num 2"/>
          <p:cNvSpPr/>
          <p:nvPr/>
        </p:nvSpPr>
        <p:spPr>
          <a:xfrm>
            <a:off x="6389115" y="6163056"/>
            <a:ext cx="512064" cy="512064"/>
          </a:xfrm>
          <a:prstGeom prst="ellipse">
            <a:avLst/>
          </a:prstGeom>
          <a:solidFill>
            <a:srgbClr val="F1A988"/>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2</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0" name="Error head 2"/>
          <p:cNvSpPr txBox="1"/>
          <p:nvPr/>
        </p:nvSpPr>
        <p:spPr>
          <a:xfrm>
            <a:off x="7029195" y="6163056"/>
            <a:ext cx="265260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維度順序不對</a:t>
            </a:r>
            <a:endParaRPr kumimoji="0" lang="zh-TW" altLang="en-US" sz="22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1" name="Error body 2"/>
          <p:cNvSpPr txBox="1"/>
          <p:nvPr/>
        </p:nvSpPr>
        <p:spPr>
          <a:xfrm>
            <a:off x="6389115" y="6803136"/>
            <a:ext cx="3292687" cy="2770632"/>
          </a:xfrm>
          <a:prstGeom prst="rect">
            <a:avLst/>
          </a:prstGeom>
          <a:noFill/>
        </p:spPr>
        <p:txBody>
          <a:bodyPr wrap="square" lIns="0" tIns="0" rIns="0" bIns="0" rtlCol="0" anchor="t">
            <a:no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rPr>
              <a:t>expected input[64, 28, 28, 1] to have 1 channels, but got 28 channels instead</a:t>
            </a:r>
            <a:endPar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900"/>
              </a:lnSpc>
              <a:spcBef>
                <a:spcPts val="12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原因：圖片是 (N, H, W, C)</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900"/>
              </a:lnSpc>
              <a:spcBef>
                <a:spcPts val="6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解法：</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X.permute(0, 3, 1, 2)</a:t>
            </a:r>
            <a:endPar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endParaRPr>
          </a:p>
        </p:txBody>
      </p:sp>
      <p:sp>
        <p:nvSpPr>
          <p:cNvPr id="212" name="Error card 3"/>
          <p:cNvSpPr/>
          <p:nvPr/>
        </p:nvSpPr>
        <p:spPr>
          <a:xfrm>
            <a:off x="10093282" y="5980176"/>
            <a:ext cx="3658447" cy="3730752"/>
          </a:xfrm>
          <a:prstGeom prst="roundRect">
            <a:avLst>
              <a:gd name="adj" fmla="val 5000"/>
            </a:avLst>
          </a:prstGeom>
          <a:solidFill>
            <a:srgbClr val="ECF3DC"/>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3" name="Error num 3"/>
          <p:cNvSpPr/>
          <p:nvPr/>
        </p:nvSpPr>
        <p:spPr>
          <a:xfrm>
            <a:off x="10321882" y="6163056"/>
            <a:ext cx="512064" cy="512064"/>
          </a:xfrm>
          <a:prstGeom prst="ellipse">
            <a:avLst/>
          </a:prstGeom>
          <a:solidFill>
            <a:srgbClr val="94BC3D"/>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3</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4" name="Error head 3"/>
          <p:cNvSpPr txBox="1"/>
          <p:nvPr/>
        </p:nvSpPr>
        <p:spPr>
          <a:xfrm>
            <a:off x="10961962" y="6163056"/>
            <a:ext cx="265260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標籤型態不對</a:t>
            </a:r>
            <a:endParaRPr kumimoji="0" lang="zh-TW" altLang="en-US" sz="22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5" name="Error body 3"/>
          <p:cNvSpPr txBox="1"/>
          <p:nvPr/>
        </p:nvSpPr>
        <p:spPr>
          <a:xfrm>
            <a:off x="10321882" y="6803136"/>
            <a:ext cx="3292687" cy="2770632"/>
          </a:xfrm>
          <a:prstGeom prst="rect">
            <a:avLst/>
          </a:prstGeom>
          <a:noFill/>
        </p:spPr>
        <p:txBody>
          <a:bodyPr wrap="square" lIns="0" tIns="0" rIns="0" bIns="0" rtlCol="0" anchor="t">
            <a:no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rPr>
              <a:t>expected target dtype to be Long or Byte, but got Float</a:t>
            </a:r>
            <a:endPar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900"/>
              </a:lnSpc>
              <a:spcBef>
                <a:spcPts val="12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原因：標籤是 float</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900"/>
              </a:lnSpc>
              <a:spcBef>
                <a:spcPts val="6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解法：</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y.long()</a:t>
            </a:r>
            <a:endPar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endParaRPr>
          </a:p>
        </p:txBody>
      </p:sp>
      <p:sp>
        <p:nvSpPr>
          <p:cNvPr id="216" name="Error card 4"/>
          <p:cNvSpPr/>
          <p:nvPr/>
        </p:nvSpPr>
        <p:spPr>
          <a:xfrm>
            <a:off x="14026049" y="5980176"/>
            <a:ext cx="3658447" cy="3730752"/>
          </a:xfrm>
          <a:prstGeom prst="roundRect">
            <a:avLst>
              <a:gd name="adj" fmla="val 5000"/>
            </a:avLst>
          </a:prstGeom>
          <a:solidFill>
            <a:srgbClr val="FEF3D3"/>
          </a:solidFill>
          <a:ln>
            <a:noFill/>
          </a:ln>
          <a:effectLst>
            <a:outerShdw blurRad="152400" dist="38100" dir="5400000" algn="t" rotWithShape="0">
              <a:srgbClr val="3F2619">
                <a:alpha val="14000"/>
              </a:srgbClr>
            </a:outerShdw>
          </a:effectLst>
        </p:spPr>
        <p:txBody>
          <a:bodyPr wrap="square" lIns="0" tIns="0" rIns="0" bIns="0" rtlCol="0" anchor="t">
            <a:noAutofit/>
          </a:bodyPr>
          <a:lstStyle/>
          <a:p>
            <a:endParaRPr kumimoji="0" lang="zh-TW" altLang="en-US" sz="18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7" name="Error num 4"/>
          <p:cNvSpPr/>
          <p:nvPr/>
        </p:nvSpPr>
        <p:spPr>
          <a:xfrm>
            <a:off x="14254649" y="6163056"/>
            <a:ext cx="512064" cy="512064"/>
          </a:xfrm>
          <a:prstGeom prst="ellipse">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4</a:t>
            </a:r>
            <a:endParaRPr kumimoji="0" lang="zh-TW" altLang="en-US" sz="24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8" name="Error head 4"/>
          <p:cNvSpPr txBox="1"/>
          <p:nvPr/>
        </p:nvSpPr>
        <p:spPr>
          <a:xfrm>
            <a:off x="14894729" y="6163056"/>
            <a:ext cx="2652607" cy="5120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標籤超出範圍</a:t>
            </a:r>
            <a:endParaRPr kumimoji="0" lang="zh-TW" altLang="en-US" sz="22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p:txBody>
      </p:sp>
      <p:sp>
        <p:nvSpPr>
          <p:cNvPr id="219" name="Error body 4"/>
          <p:cNvSpPr txBox="1"/>
          <p:nvPr/>
        </p:nvSpPr>
        <p:spPr>
          <a:xfrm>
            <a:off x="14254649" y="6803136"/>
            <a:ext cx="3292687" cy="2770632"/>
          </a:xfrm>
          <a:prstGeom prst="rect">
            <a:avLst/>
          </a:prstGeom>
          <a:noFill/>
        </p:spPr>
        <p:txBody>
          <a:bodyPr wrap="square" lIns="0" tIns="0" rIns="0" bIns="0" rtlCol="0" anchor="t">
            <a:no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rPr>
              <a:t>IndexError: Target 10 is out of bounds.</a:t>
            </a:r>
            <a:endParaRPr kumimoji="0" lang="zh-TW" altLang="en-US" sz="1600" b="0" i="0" u="none" strike="noStrike" kern="1200" cap="none" spc="0" normalizeH="0" baseline="0" noProof="0" dirty="0">
              <a:ln>
                <a:noFill/>
              </a:ln>
              <a:solidFill>
                <a:srgbClr val="7A6555"/>
              </a:solidFill>
              <a:effectLst/>
              <a:uLnTx/>
              <a:uFillTx/>
              <a:latin typeface="Consolas"/>
              <a:ea typeface="Microsoft JhengHei"/>
              <a:cs typeface="+mn-cs"/>
            </a:endParaRPr>
          </a:p>
          <a:p>
            <a:pPr marL="0" marR="0" lvl="0" indent="0" algn="l" defTabSz="914400" rtl="0" eaLnBrk="1" fontAlgn="auto" latinLnBrk="0" hangingPunct="1">
              <a:lnSpc>
                <a:spcPts val="2900"/>
              </a:lnSpc>
              <a:spcBef>
                <a:spcPts val="12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原因：標籤從 1 開始</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900"/>
              </a:lnSpc>
              <a:spcBef>
                <a:spcPts val="600"/>
              </a:spcBef>
              <a:spcAft>
                <a:spcPts val="0"/>
              </a:spcAft>
              <a:buClrTx/>
              <a:buSzTx/>
              <a:buFontTx/>
              <a:buNone/>
              <a:tabLst/>
              <a:defRPr/>
            </a:pPr>
            <a:r>
              <a:rPr kumimoji="0" lang="zh-TW" altLang="en-US" sz="20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解法：</a:t>
            </a:r>
            <a:endParaRPr kumimoji="0" lang="zh-TW" altLang="en-US" sz="2000" b="0"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rPr>
              <a:t>y - 1</a:t>
            </a:r>
            <a:endParaRPr kumimoji="0" lang="zh-TW" altLang="en-US" sz="2000" b="0" i="0" u="none" strike="noStrike" kern="1200" cap="none" spc="0" normalizeH="0" baseline="0" noProof="0" dirty="0">
              <a:ln>
                <a:noFill/>
              </a:ln>
              <a:solidFill>
                <a:srgbClr val="7A3E1D"/>
              </a:solidFill>
              <a:effectLst/>
              <a:uLnTx/>
              <a:uFillTx/>
              <a:latin typeface="Consolas"/>
              <a:ea typeface="Microsoft JhengHei"/>
              <a:cs typeface="+mn-cs"/>
            </a:endParaRPr>
          </a:p>
        </p:txBody>
      </p:sp>
    </p:spTree>
    <p:extLst>
      <p:ext uri="{BB962C8B-B14F-4D97-AF65-F5344CB8AC3E}">
        <p14:creationId xmlns:p14="http://schemas.microsoft.com/office/powerpoint/2010/main" val="1097355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6015</TotalTime>
  <Words>2227</Words>
  <Application>Microsoft Office PowerPoint</Application>
  <PresentationFormat>自訂</PresentationFormat>
  <Paragraphs>263</Paragraphs>
  <Slides>35</Slides>
  <Notes>28</Notes>
  <HiddenSlides>1</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35</vt:i4>
      </vt:variant>
    </vt:vector>
  </HeadingPairs>
  <TitlesOfParts>
    <vt:vector size="49" baseType="lpstr">
      <vt:lpstr>Consolas</vt:lpstr>
      <vt:lpstr>Zen Maru Gothic Black</vt:lpstr>
      <vt:lpstr>Arial</vt:lpstr>
      <vt:lpstr>Lazydog</vt:lpstr>
      <vt:lpstr>Cambria Math</vt:lpstr>
      <vt:lpstr>Noto Sans SC Medium</vt:lpstr>
      <vt:lpstr>Noto Sans HK DemiLight</vt:lpstr>
      <vt:lpstr>source-serif-pro</vt:lpstr>
      <vt:lpstr>Chiron GoRound TC ExtraBold</vt:lpstr>
      <vt:lpstr>Wingdings</vt:lpstr>
      <vt:lpstr>sohne</vt:lpstr>
      <vt:lpstr>微軟正黑體</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Blue and Red Playful Monsters Team Presentation</dc:title>
  <cp:lastModifiedBy>易 李</cp:lastModifiedBy>
  <cp:revision>88</cp:revision>
  <dcterms:created xsi:type="dcterms:W3CDTF">2006-08-16T00:00:00Z</dcterms:created>
  <dcterms:modified xsi:type="dcterms:W3CDTF">2026-10-06T00:42:54Z</dcterms:modified>
  <dc:identifier>DAGxjVAmauM</dc:identifier>
</cp:coreProperties>
</file>