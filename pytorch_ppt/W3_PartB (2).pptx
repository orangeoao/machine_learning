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6"/>
  </p:notesMasterIdLst>
  <p:sldIdLst>
    <p:sldId id="256" r:id="rId2"/>
    <p:sldId id="267" r:id="rId3"/>
    <p:sldId id="287" r:id="rId4"/>
    <p:sldId id="331" r:id="rId5"/>
    <p:sldId id="332" r:id="rId6"/>
    <p:sldId id="368" r:id="rId7"/>
    <p:sldId id="336" r:id="rId8"/>
    <p:sldId id="333" r:id="rId9"/>
    <p:sldId id="335" r:id="rId10"/>
    <p:sldId id="369" r:id="rId11"/>
    <p:sldId id="344" r:id="rId12"/>
    <p:sldId id="356" r:id="rId13"/>
    <p:sldId id="350" r:id="rId14"/>
    <p:sldId id="357" r:id="rId15"/>
    <p:sldId id="351" r:id="rId16"/>
    <p:sldId id="352" r:id="rId17"/>
    <p:sldId id="353" r:id="rId18"/>
    <p:sldId id="354" r:id="rId19"/>
    <p:sldId id="355" r:id="rId20"/>
    <p:sldId id="362" r:id="rId21"/>
    <p:sldId id="363" r:id="rId22"/>
    <p:sldId id="364" r:id="rId23"/>
    <p:sldId id="345" r:id="rId24"/>
    <p:sldId id="346" r:id="rId25"/>
    <p:sldId id="347" r:id="rId26"/>
    <p:sldId id="340" r:id="rId27"/>
    <p:sldId id="366" r:id="rId28"/>
    <p:sldId id="367" r:id="rId29"/>
    <p:sldId id="343" r:id="rId30"/>
    <p:sldId id="265" r:id="rId31"/>
    <p:sldId id="321" r:id="rId32"/>
    <p:sldId id="337" r:id="rId33"/>
    <p:sldId id="365" r:id="rId34"/>
    <p:sldId id="266" r:id="rId35"/>
  </p:sldIdLst>
  <p:sldSz cx="18288000" cy="10287000"/>
  <p:notesSz cx="6858000" cy="9144000"/>
  <p:embeddedFontLst>
    <p:embeddedFont>
      <p:font typeface="Chiron GoRound TC ExtraBold" panose="02020500000000000000" charset="-120"/>
      <p:bold r:id="rId37"/>
    </p:embeddedFont>
    <p:embeddedFont>
      <p:font typeface="Zen Maru Gothic Black" panose="02020500000000000000" charset="-120"/>
      <p:bold r:id="rId38"/>
    </p:embeddedFont>
    <p:embeddedFont>
      <p:font typeface="Calibri" panose="020F0502020204030204" pitchFamily="34" charset="0"/>
      <p:regular r:id="rId39"/>
      <p:bold r:id="rId40"/>
      <p:italic r:id="rId41"/>
      <p:boldItalic r:id="rId42"/>
    </p:embeddedFont>
    <p:embeddedFont>
      <p:font typeface="Cambria Math" panose="02040503050406030204" pitchFamily="18" charset="0"/>
      <p:regular r:id="rId43"/>
    </p:embeddedFont>
    <p:embeddedFont>
      <p:font typeface="Consolas" panose="020B0609020204030204" pitchFamily="49" charset="0"/>
      <p:regular r:id="rId44"/>
      <p:bold r:id="rId45"/>
      <p:italic r:id="rId46"/>
      <p:boldItalic r:id="rId47"/>
    </p:embeddedFont>
    <p:embeddedFont>
      <p:font typeface="Lazydog" panose="02020500000000000000" charset="0"/>
      <p:regular r:id="rId48"/>
    </p:embeddedFont>
    <p:embeddedFont>
      <p:font typeface="Noto Sans HK DemiLight" panose="020B0200000000000000" pitchFamily="34" charset="-120"/>
      <p:regular r:id="rId49"/>
    </p:embeddedFont>
    <p:embeddedFont>
      <p:font typeface="Noto Sans SC Medium" panose="020B0200000000000000" pitchFamily="34" charset="-128"/>
      <p:regular r:id="rId50"/>
    </p:embeddedFont>
    <p:embeddedFont>
      <p:font typeface="微軟正黑體" panose="020B0604030504040204" pitchFamily="34" charset="-120"/>
      <p:regular r:id="rId51"/>
      <p:bold r:id="rId5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F2619"/>
    <a:srgbClr val="653C27"/>
    <a:srgbClr val="76482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4323" autoAdjust="0"/>
  </p:normalViewPr>
  <p:slideViewPr>
    <p:cSldViewPr>
      <p:cViewPr varScale="1">
        <p:scale>
          <a:sx n="64" d="100"/>
          <a:sy n="64" d="100"/>
        </p:scale>
        <p:origin x="1134"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font" Target="fonts/font14.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8.fntdata"/><Relationship Id="rId52"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48" Type="http://schemas.openxmlformats.org/officeDocument/2006/relationships/font" Target="fonts/font12.fntdata"/><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1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font" Target="fonts/font5.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E711E1-EEF4-43BD-BD7E-E8356AC69CF2}" type="datetimeFigureOut">
              <a:rPr lang="zh-TW" altLang="en-US" smtClean="0"/>
              <a:t>2026/9/28</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48369D-F222-478C-AEF5-EEAA719F9735}" type="slidenum">
              <a:rPr lang="zh-TW" altLang="en-US" smtClean="0"/>
              <a:t>‹#›</a:t>
            </a:fld>
            <a:endParaRPr lang="zh-TW" altLang="en-US"/>
          </a:p>
        </p:txBody>
      </p:sp>
    </p:spTree>
    <p:extLst>
      <p:ext uri="{BB962C8B-B14F-4D97-AF65-F5344CB8AC3E}">
        <p14:creationId xmlns:p14="http://schemas.microsoft.com/office/powerpoint/2010/main" val="2542248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0" i="0" dirty="0">
                <a:solidFill>
                  <a:srgbClr val="6B6B6B"/>
                </a:solidFill>
                <a:effectLst/>
                <a:latin typeface="sohne"/>
              </a:rPr>
              <a:t>100*784 (weights)+100 (bias)= 78500</a:t>
            </a:r>
            <a:r>
              <a:rPr lang="zh-TW" altLang="en-US" b="0" i="0" dirty="0">
                <a:solidFill>
                  <a:srgbClr val="6B6B6B"/>
                </a:solidFill>
                <a:effectLst/>
                <a:latin typeface="sohne"/>
              </a:rPr>
              <a:t>個參數</a:t>
            </a:r>
            <a:br>
              <a:rPr lang="en-US" altLang="zh-TW" b="0" i="0" dirty="0">
                <a:solidFill>
                  <a:srgbClr val="6B6B6B"/>
                </a:solidFill>
                <a:effectLst/>
                <a:latin typeface="sohne"/>
              </a:rPr>
            </a:br>
            <a:r>
              <a:rPr lang="zh-TW" altLang="en-US" b="0" i="0" dirty="0">
                <a:solidFill>
                  <a:srgbClr val="242424"/>
                </a:solidFill>
                <a:effectLst/>
                <a:latin typeface="source-serif-pro"/>
              </a:rPr>
              <a:t>簡單來說，圖片經過</a:t>
            </a:r>
            <a:r>
              <a:rPr lang="en-US" altLang="zh-TW" b="0" i="0" dirty="0">
                <a:solidFill>
                  <a:srgbClr val="242424"/>
                </a:solidFill>
                <a:effectLst/>
                <a:latin typeface="source-serif-pro"/>
              </a:rPr>
              <a:t>Convolution, Pooling, Fully Connected</a:t>
            </a:r>
            <a:r>
              <a:rPr lang="zh-TW" altLang="en-US" b="0" i="0" dirty="0">
                <a:solidFill>
                  <a:srgbClr val="242424"/>
                </a:solidFill>
                <a:effectLst/>
                <a:latin typeface="source-serif-pro"/>
              </a:rPr>
              <a:t>就是</a:t>
            </a:r>
            <a:r>
              <a:rPr lang="en-US" altLang="zh-TW" b="0" i="0" dirty="0">
                <a:solidFill>
                  <a:srgbClr val="242424"/>
                </a:solidFill>
                <a:effectLst/>
                <a:latin typeface="source-serif-pro"/>
              </a:rPr>
              <a:t>CNN</a:t>
            </a:r>
            <a:r>
              <a:rPr lang="zh-TW" altLang="en-US" b="0" i="0" dirty="0">
                <a:solidFill>
                  <a:srgbClr val="242424"/>
                </a:solidFill>
                <a:effectLst/>
                <a:latin typeface="source-serif-pro"/>
              </a:rPr>
              <a:t>的架構了</a:t>
            </a:r>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4</a:t>
            </a:fld>
            <a:endParaRPr lang="zh-TW" altLang="en-US"/>
          </a:p>
        </p:txBody>
      </p:sp>
    </p:spTree>
    <p:extLst>
      <p:ext uri="{BB962C8B-B14F-4D97-AF65-F5344CB8AC3E}">
        <p14:creationId xmlns:p14="http://schemas.microsoft.com/office/powerpoint/2010/main" val="28030399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卷積層主要是由許多不同的 </a:t>
            </a:r>
            <a:r>
              <a:rPr lang="en-US" altLang="zh-TW" dirty="0"/>
              <a:t>kernel </a:t>
            </a:r>
            <a:r>
              <a:rPr lang="zh-TW" altLang="en-US" dirty="0"/>
              <a:t>在輸入圖片上進行卷積運算。</a:t>
            </a:r>
          </a:p>
          <a:p>
            <a:pPr algn="l"/>
            <a:r>
              <a:rPr lang="zh-TW" altLang="en-US" dirty="0"/>
              <a:t>什麼是卷積 </a:t>
            </a:r>
            <a:r>
              <a:rPr lang="en-US" altLang="zh-TW" dirty="0"/>
              <a:t>? </a:t>
            </a:r>
            <a:r>
              <a:rPr lang="zh-TW" altLang="en-US" dirty="0"/>
              <a:t>在這邊卷積其實就是兩個步驟組成的運算 </a:t>
            </a:r>
            <a:r>
              <a:rPr lang="en-US" altLang="zh-TW" dirty="0"/>
              <a:t>: </a:t>
            </a:r>
            <a:r>
              <a:rPr lang="zh-TW" altLang="en-US" dirty="0"/>
              <a:t>滑動 </a:t>
            </a:r>
            <a:r>
              <a:rPr lang="en-US" altLang="zh-TW" dirty="0"/>
              <a:t>+ </a:t>
            </a:r>
            <a:r>
              <a:rPr lang="zh-TW" altLang="en-US" dirty="0"/>
              <a:t>內積，利用 </a:t>
            </a:r>
            <a:r>
              <a:rPr lang="en-US" altLang="zh-TW" dirty="0"/>
              <a:t>filter </a:t>
            </a:r>
            <a:r>
              <a:rPr lang="zh-TW" altLang="en-US" dirty="0"/>
              <a:t>在輸入圖片上滑動並且持續進行矩陣內積，卷積後得到的圖片我們稱之為 </a:t>
            </a:r>
            <a:r>
              <a:rPr lang="en-US" altLang="zh-TW" dirty="0"/>
              <a:t>feature map</a:t>
            </a:r>
            <a:r>
              <a:rPr lang="zh-TW" altLang="en-US" dirty="0"/>
              <a:t>。</a:t>
            </a:r>
            <a:br>
              <a:rPr lang="en-US" altLang="zh-TW" dirty="0"/>
            </a:br>
            <a:br>
              <a:rPr lang="en-US" altLang="zh-TW" dirty="0"/>
            </a:br>
            <a:r>
              <a:rPr lang="zh-TW" altLang="en-US" b="0" i="0" dirty="0">
                <a:solidFill>
                  <a:srgbClr val="242424"/>
                </a:solidFill>
                <a:effectLst/>
                <a:latin typeface="source-serif-pro"/>
              </a:rPr>
              <a:t>卷積核</a:t>
            </a:r>
            <a:r>
              <a:rPr lang="en-US" altLang="zh-TW" b="0" i="0" dirty="0">
                <a:solidFill>
                  <a:srgbClr val="242424"/>
                </a:solidFill>
                <a:effectLst/>
                <a:latin typeface="source-serif-pro"/>
              </a:rPr>
              <a:t>(Kernel)</a:t>
            </a:r>
            <a:r>
              <a:rPr lang="zh-TW" altLang="en-US" b="0" i="0" dirty="0">
                <a:solidFill>
                  <a:srgbClr val="242424"/>
                </a:solidFill>
                <a:effectLst/>
                <a:latin typeface="source-serif-pro"/>
              </a:rPr>
              <a:t>又稱為</a:t>
            </a:r>
            <a:r>
              <a:rPr lang="en-US" altLang="zh-TW" b="0" i="0" dirty="0">
                <a:solidFill>
                  <a:srgbClr val="242424"/>
                </a:solidFill>
                <a:effectLst/>
                <a:latin typeface="source-serif-pro"/>
              </a:rPr>
              <a:t>Filters</a:t>
            </a:r>
            <a:r>
              <a:rPr lang="zh-TW" altLang="en-US" b="0" i="0" dirty="0">
                <a:solidFill>
                  <a:srgbClr val="242424"/>
                </a:solidFill>
                <a:effectLst/>
                <a:latin typeface="source-serif-pro"/>
              </a:rPr>
              <a:t>、</a:t>
            </a:r>
            <a:r>
              <a:rPr lang="en-US" altLang="zh-TW" b="0" i="0" dirty="0">
                <a:solidFill>
                  <a:srgbClr val="242424"/>
                </a:solidFill>
                <a:effectLst/>
                <a:latin typeface="source-serif-pro"/>
              </a:rPr>
              <a:t>Features Detectors</a:t>
            </a:r>
          </a:p>
          <a:p>
            <a:pPr algn="l"/>
            <a:r>
              <a:rPr lang="zh-TW" altLang="en-US" b="0" i="0" dirty="0">
                <a:solidFill>
                  <a:srgbClr val="242424"/>
                </a:solidFill>
                <a:effectLst/>
                <a:latin typeface="source-serif-pro"/>
              </a:rPr>
              <a:t>我們可以藉由選擇</a:t>
            </a:r>
            <a:r>
              <a:rPr lang="en-US" altLang="zh-TW" b="0" i="0" dirty="0">
                <a:solidFill>
                  <a:srgbClr val="242424"/>
                </a:solidFill>
                <a:effectLst/>
                <a:latin typeface="source-serif-pro"/>
              </a:rPr>
              <a:t>Kernel</a:t>
            </a:r>
            <a:r>
              <a:rPr lang="zh-TW" altLang="en-US" b="0" i="0" dirty="0">
                <a:solidFill>
                  <a:srgbClr val="242424"/>
                </a:solidFill>
                <a:effectLst/>
                <a:latin typeface="source-serif-pro"/>
              </a:rPr>
              <a:t>的張數控制 </a:t>
            </a:r>
            <a:r>
              <a:rPr lang="en-US" altLang="zh-TW" b="0" i="0" dirty="0">
                <a:solidFill>
                  <a:srgbClr val="242424"/>
                </a:solidFill>
                <a:effectLst/>
                <a:latin typeface="source-serif-pro"/>
              </a:rPr>
              <a:t>Feature maps (</a:t>
            </a:r>
            <a:r>
              <a:rPr lang="zh-TW" altLang="en-US" b="0" i="0" dirty="0">
                <a:solidFill>
                  <a:srgbClr val="242424"/>
                </a:solidFill>
                <a:effectLst/>
                <a:latin typeface="source-serif-pro"/>
              </a:rPr>
              <a:t>圖像經由</a:t>
            </a:r>
            <a:r>
              <a:rPr lang="en-US" altLang="zh-TW" b="0" i="0" dirty="0">
                <a:solidFill>
                  <a:srgbClr val="242424"/>
                </a:solidFill>
                <a:effectLst/>
                <a:latin typeface="source-serif-pro"/>
              </a:rPr>
              <a:t>Kernel</a:t>
            </a:r>
            <a:r>
              <a:rPr lang="zh-TW" altLang="en-US" b="0" i="0" dirty="0">
                <a:solidFill>
                  <a:srgbClr val="242424"/>
                </a:solidFill>
                <a:effectLst/>
                <a:latin typeface="source-serif-pro"/>
              </a:rPr>
              <a:t>卷積後的結果，也就是下圖中粉紅色的部分</a:t>
            </a:r>
            <a:r>
              <a:rPr lang="en-US" altLang="zh-TW" b="0" i="0" dirty="0">
                <a:solidFill>
                  <a:srgbClr val="242424"/>
                </a:solidFill>
                <a:effectLst/>
                <a:latin typeface="source-serif-pro"/>
              </a:rPr>
              <a:t>)</a:t>
            </a:r>
            <a:r>
              <a:rPr lang="zh-TW" altLang="en-US" b="0" i="0" dirty="0">
                <a:solidFill>
                  <a:srgbClr val="242424"/>
                </a:solidFill>
                <a:effectLst/>
                <a:latin typeface="source-serif-pro"/>
              </a:rPr>
              <a:t>的深度，藉由調整</a:t>
            </a:r>
            <a:r>
              <a:rPr lang="en-US" altLang="zh-TW" b="0" i="0" dirty="0">
                <a:solidFill>
                  <a:srgbClr val="242424"/>
                </a:solidFill>
                <a:effectLst/>
                <a:latin typeface="source-serif-pro"/>
              </a:rPr>
              <a:t>Kernel</a:t>
            </a:r>
            <a:r>
              <a:rPr lang="zh-TW" altLang="en-US" b="0" i="0" dirty="0">
                <a:solidFill>
                  <a:srgbClr val="242424"/>
                </a:solidFill>
                <a:effectLst/>
                <a:latin typeface="source-serif-pro"/>
              </a:rPr>
              <a:t>大小決定</a:t>
            </a:r>
            <a:r>
              <a:rPr lang="en-US" altLang="zh-TW" b="0" i="0" dirty="0">
                <a:solidFill>
                  <a:srgbClr val="242424"/>
                </a:solidFill>
                <a:effectLst/>
                <a:latin typeface="source-serif-pro"/>
              </a:rPr>
              <a:t>Kernels</a:t>
            </a:r>
            <a:r>
              <a:rPr lang="zh-TW" altLang="en-US" b="0" i="0" dirty="0">
                <a:solidFill>
                  <a:srgbClr val="242424"/>
                </a:solidFill>
                <a:effectLst/>
                <a:latin typeface="source-serif-pro"/>
              </a:rPr>
              <a:t>的特徵接受域 </a:t>
            </a:r>
            <a:r>
              <a:rPr lang="en-US" altLang="zh-TW" b="0" i="0" dirty="0">
                <a:solidFill>
                  <a:srgbClr val="242424"/>
                </a:solidFill>
                <a:effectLst/>
                <a:latin typeface="source-serif-pro"/>
              </a:rPr>
              <a:t>(Receptive field)</a:t>
            </a:r>
            <a:r>
              <a:rPr lang="zh-TW" altLang="en-US" b="0" i="0" dirty="0">
                <a:solidFill>
                  <a:srgbClr val="242424"/>
                </a:solidFill>
                <a:effectLst/>
                <a:latin typeface="source-serif-pro"/>
              </a:rPr>
              <a:t>。</a:t>
            </a:r>
            <a:br>
              <a:rPr lang="en-US" altLang="zh-TW" dirty="0"/>
            </a:br>
            <a:endParaRPr lang="zh-TW" altLang="en-US" dirty="0"/>
          </a:p>
          <a:p>
            <a:r>
              <a:rPr lang="zh-TW" altLang="en-US" dirty="0"/>
              <a:t>在全連接層神經網路中經由學習不斷更新的權重，在 </a:t>
            </a:r>
            <a:r>
              <a:rPr lang="en-US" altLang="zh-TW" dirty="0"/>
              <a:t>CNN </a:t>
            </a:r>
            <a:r>
              <a:rPr lang="zh-TW" altLang="en-US" dirty="0"/>
              <a:t>這邊指的就是 </a:t>
            </a:r>
            <a:r>
              <a:rPr lang="en-US" altLang="zh-TW" dirty="0"/>
              <a:t>filter </a:t>
            </a:r>
            <a:r>
              <a:rPr lang="zh-TW" altLang="en-US" dirty="0"/>
              <a:t>，如上圖 </a:t>
            </a:r>
            <a:r>
              <a:rPr lang="en-US" altLang="zh-TW" dirty="0"/>
              <a:t>3X3 </a:t>
            </a:r>
            <a:r>
              <a:rPr lang="zh-TW" altLang="en-US" dirty="0"/>
              <a:t>的 </a:t>
            </a:r>
            <a:r>
              <a:rPr lang="en-US" altLang="zh-TW" dirty="0"/>
              <a:t>filter </a:t>
            </a:r>
            <a:r>
              <a:rPr lang="zh-TW" altLang="en-US" dirty="0"/>
              <a:t>內就相當於有 </a:t>
            </a:r>
            <a:r>
              <a:rPr lang="en-US" altLang="zh-TW" dirty="0"/>
              <a:t>9 </a:t>
            </a:r>
            <a:r>
              <a:rPr lang="zh-TW" altLang="en-US" dirty="0"/>
              <a:t>個權重。我們可以想像，</a:t>
            </a:r>
            <a:r>
              <a:rPr lang="en-US" altLang="zh-TW" dirty="0"/>
              <a:t>CNN </a:t>
            </a:r>
            <a:r>
              <a:rPr lang="zh-TW" altLang="en-US" dirty="0"/>
              <a:t>訓練的過程就是不斷地在改變 </a:t>
            </a:r>
            <a:r>
              <a:rPr lang="en-US" altLang="zh-TW" dirty="0"/>
              <a:t>filter </a:t>
            </a:r>
            <a:r>
              <a:rPr lang="zh-TW" altLang="en-US" dirty="0"/>
              <a:t>來凸顯這個輸入圖像上的特徵。</a:t>
            </a:r>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5</a:t>
            </a:fld>
            <a:endParaRPr lang="zh-TW" altLang="en-US"/>
          </a:p>
        </p:txBody>
      </p:sp>
    </p:spTree>
    <p:extLst>
      <p:ext uri="{BB962C8B-B14F-4D97-AF65-F5344CB8AC3E}">
        <p14:creationId xmlns:p14="http://schemas.microsoft.com/office/powerpoint/2010/main" val="21861038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Kernel 與 filter 的差別：kernel 是一張 k×k 的 2D 權重；filter 是 C_in 張 kernel 疊成的 k×k×C_in 立體權重。</a:t>
            </a:r>
          </a:p>
          <a:p>
            <a:r>
              <a:t>每個 kernel 對自己負責的輸入 channel 做卷積，結果逐位置相加，再加上 1 個 bias，得到 1 張 feature map（1 個輸出 channel）。</a:t>
            </a:r>
          </a:p>
          <a:p>
            <a:r>
              <a:t>輸入只有 1 個 channel 時（例如 28×28×1 的灰階圖），一個 filter 只有一個 kernel，所以兩個詞常被混用。</a:t>
            </a:r>
          </a:p>
          <a:p>
            <a:r>
              <a:t>記法：kernel 對應輸入 channel，filter 對應輸出 channel；filter 數 = 輸出 channel 數 = feature map 數。</a:t>
            </a:r>
          </a:p>
          <a:p>
            <a:r>
              <a:t>例：nn.Conv2d(16, 32, kernel_size=3) 有 32 個 filter，每個 filter 有 16 個 3×3 kernel，共 512 個 kernel，參數量 (3×3×16 + 1) × 32 = 4,640。</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池化層的主要概念是，當我們在做圖片的特徵萃取的過程中，圖形的縮放應該不會影響到我們的目的，經由這樣的 </a:t>
            </a:r>
            <a:r>
              <a:rPr lang="en-US" altLang="zh-TW" dirty="0"/>
              <a:t>scaling </a:t>
            </a:r>
            <a:r>
              <a:rPr lang="zh-TW" altLang="en-US" dirty="0"/>
              <a:t>我們也可以再一次的減少神經網路的參數</a:t>
            </a:r>
            <a:br>
              <a:rPr lang="en-US" altLang="zh-TW" dirty="0"/>
            </a:br>
            <a:br>
              <a:rPr lang="en-US" altLang="zh-TW" dirty="0"/>
            </a:br>
            <a:r>
              <a:rPr lang="zh-TW" altLang="en-US" dirty="0"/>
              <a:t>藉由對輸入圖片的 </a:t>
            </a:r>
            <a:r>
              <a:rPr lang="en-US" altLang="zh-TW" dirty="0"/>
              <a:t>subsampling </a:t>
            </a:r>
            <a:r>
              <a:rPr lang="zh-TW" altLang="en-US" dirty="0"/>
              <a:t>來減少參數，減少計算成本</a:t>
            </a:r>
            <a:br>
              <a:rPr lang="en-US" altLang="zh-TW" dirty="0"/>
            </a:br>
            <a:r>
              <a:rPr lang="zh-TW" altLang="en-US" dirty="0"/>
              <a:t>具有特徵不變性</a:t>
            </a:r>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7</a:t>
            </a:fld>
            <a:endParaRPr lang="zh-TW" altLang="en-US"/>
          </a:p>
        </p:txBody>
      </p:sp>
    </p:spTree>
    <p:extLst>
      <p:ext uri="{BB962C8B-B14F-4D97-AF65-F5344CB8AC3E}">
        <p14:creationId xmlns:p14="http://schemas.microsoft.com/office/powerpoint/2010/main" val="41060057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8</a:t>
            </a:fld>
            <a:endParaRPr lang="zh-TW" altLang="en-US"/>
          </a:p>
        </p:txBody>
      </p:sp>
    </p:spTree>
    <p:extLst>
      <p:ext uri="{BB962C8B-B14F-4D97-AF65-F5344CB8AC3E}">
        <p14:creationId xmlns:p14="http://schemas.microsoft.com/office/powerpoint/2010/main" val="38592426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這邊的全連接層跟我們進行手寫辨識的方式一樣，說穿了就是一個分類器，把我們經過數個卷積、池化後的結果進行分類。</a:t>
            </a:r>
          </a:p>
          <a:p>
            <a:r>
              <a:rPr lang="zh-TW" altLang="en-US" dirty="0"/>
              <a:t>這邊可能會有人有一個問題 </a:t>
            </a:r>
            <a:r>
              <a:rPr lang="en-US" altLang="zh-TW" dirty="0"/>
              <a:t>: </a:t>
            </a:r>
            <a:r>
              <a:rPr lang="zh-TW" altLang="en-US" dirty="0"/>
              <a:t>「 不是說全連接層會破壞圖片的空間結構嗎 </a:t>
            </a:r>
            <a:r>
              <a:rPr lang="en-US" altLang="zh-TW" dirty="0"/>
              <a:t>? </a:t>
            </a:r>
            <a:r>
              <a:rPr lang="zh-TW" altLang="en-US" dirty="0"/>
              <a:t>」</a:t>
            </a:r>
          </a:p>
          <a:p>
            <a:r>
              <a:rPr lang="zh-TW" altLang="en-US" dirty="0"/>
              <a:t>是的，但是別忘了，我們已經經過數個卷積池化層了，現在每一個節點已經包含了空間結構的資訊在裡面，這個時候進行全連接層的分類就不會有破壞空間結構的問題。</a:t>
            </a:r>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9</a:t>
            </a:fld>
            <a:endParaRPr lang="zh-TW" altLang="en-US"/>
          </a:p>
        </p:txBody>
      </p:sp>
    </p:spTree>
    <p:extLst>
      <p:ext uri="{BB962C8B-B14F-4D97-AF65-F5344CB8AC3E}">
        <p14:creationId xmlns:p14="http://schemas.microsoft.com/office/powerpoint/2010/main" val="25374441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前段「卷積</a:t>
            </a:r>
            <a:r>
              <a:rPr dirty="0"/>
              <a:t> → </a:t>
            </a:r>
            <a:r>
              <a:rPr dirty="0" err="1"/>
              <a:t>ReLU</a:t>
            </a:r>
            <a:r>
              <a:rPr dirty="0"/>
              <a:t> → </a:t>
            </a:r>
            <a:r>
              <a:rPr dirty="0" err="1"/>
              <a:t>池化」重複兩次，負責特徵擷取；後段攤平後接</a:t>
            </a:r>
            <a:r>
              <a:rPr dirty="0"/>
              <a:t> </a:t>
            </a:r>
            <a:r>
              <a:rPr dirty="0" err="1"/>
              <a:t>FC，負責把特徵對應到</a:t>
            </a:r>
            <a:r>
              <a:rPr dirty="0"/>
              <a:t> 10 </a:t>
            </a:r>
            <a:r>
              <a:rPr dirty="0" err="1"/>
              <a:t>個類別的分數</a:t>
            </a:r>
            <a:r>
              <a:rPr dirty="0"/>
              <a:t>。</a:t>
            </a:r>
          </a:p>
          <a:p>
            <a:r>
              <a:rPr dirty="0" err="1"/>
              <a:t>卷積層之間的</a:t>
            </a:r>
            <a:r>
              <a:rPr dirty="0"/>
              <a:t> </a:t>
            </a:r>
            <a:r>
              <a:rPr dirty="0" err="1"/>
              <a:t>ReLU</a:t>
            </a:r>
            <a:r>
              <a:rPr dirty="0"/>
              <a:t> </a:t>
            </a:r>
            <a:r>
              <a:rPr dirty="0" err="1"/>
              <a:t>不能省：卷積是線性運算，連續兩層卷積之間沒有激勵函數的話，可以合併成一層等效的卷積</a:t>
            </a:r>
            <a:r>
              <a:rPr dirty="0"/>
              <a:t>。</a:t>
            </a:r>
          </a:p>
          <a:p>
            <a:r>
              <a:rPr dirty="0"/>
              <a:t>各層參數量：Conv2d(1, 16) 為 (3×3×1 + 1) × 16 = 160；Conv2d(16, 32) 為 (3×3×16 + 1) × 32 = 4,640；Linear(1568, 10) 為 (1568 + 1) × 10 = 15,690；ReLU、池化、攤平沒有參數；合計 20,490。</a:t>
            </a:r>
          </a:p>
          <a:p>
            <a:r>
              <a:rPr dirty="0" err="1"/>
              <a:t>約四分之三的參數集中在最後的</a:t>
            </a:r>
            <a:r>
              <a:rPr dirty="0"/>
              <a:t> </a:t>
            </a:r>
            <a:r>
              <a:rPr dirty="0" err="1"/>
              <a:t>FC。對照：同樣的輸入改用</a:t>
            </a:r>
            <a:r>
              <a:rPr dirty="0"/>
              <a:t> 784 → 100 → 10 </a:t>
            </a:r>
            <a:r>
              <a:rPr dirty="0" err="1"/>
              <a:t>的全連接網路，參數量是</a:t>
            </a:r>
            <a:r>
              <a:rPr dirty="0"/>
              <a:t> 79,510。</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11</a:t>
            </a:fld>
            <a:endParaRPr lang="zh-TW" altLang="en-US"/>
          </a:p>
        </p:txBody>
      </p:sp>
    </p:spTree>
    <p:extLst>
      <p:ext uri="{BB962C8B-B14F-4D97-AF65-F5344CB8AC3E}">
        <p14:creationId xmlns:p14="http://schemas.microsoft.com/office/powerpoint/2010/main" val="14244047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12</a:t>
            </a:fld>
            <a:endParaRPr lang="zh-TW" altLang="en-US"/>
          </a:p>
        </p:txBody>
      </p:sp>
    </p:spTree>
    <p:extLst>
      <p:ext uri="{BB962C8B-B14F-4D97-AF65-F5344CB8AC3E}">
        <p14:creationId xmlns:p14="http://schemas.microsoft.com/office/powerpoint/2010/main" val="17986754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13</a:t>
            </a:fld>
            <a:endParaRPr lang="zh-TW" altLang="en-US"/>
          </a:p>
        </p:txBody>
      </p:sp>
    </p:spTree>
    <p:extLst>
      <p:ext uri="{BB962C8B-B14F-4D97-AF65-F5344CB8AC3E}">
        <p14:creationId xmlns:p14="http://schemas.microsoft.com/office/powerpoint/2010/main" val="39041685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14</a:t>
            </a:fld>
            <a:endParaRPr lang="zh-TW" altLang="en-US"/>
          </a:p>
        </p:txBody>
      </p:sp>
    </p:spTree>
    <p:extLst>
      <p:ext uri="{BB962C8B-B14F-4D97-AF65-F5344CB8AC3E}">
        <p14:creationId xmlns:p14="http://schemas.microsoft.com/office/powerpoint/2010/main" val="24585158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15</a:t>
            </a:fld>
            <a:endParaRPr lang="zh-TW" altLang="en-US"/>
          </a:p>
        </p:txBody>
      </p:sp>
    </p:spTree>
    <p:extLst>
      <p:ext uri="{BB962C8B-B14F-4D97-AF65-F5344CB8AC3E}">
        <p14:creationId xmlns:p14="http://schemas.microsoft.com/office/powerpoint/2010/main" val="12692369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16</a:t>
            </a:fld>
            <a:endParaRPr lang="zh-TW" altLang="en-US"/>
          </a:p>
        </p:txBody>
      </p:sp>
    </p:spTree>
    <p:extLst>
      <p:ext uri="{BB962C8B-B14F-4D97-AF65-F5344CB8AC3E}">
        <p14:creationId xmlns:p14="http://schemas.microsoft.com/office/powerpoint/2010/main" val="1129699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17</a:t>
            </a:fld>
            <a:endParaRPr lang="zh-TW" altLang="en-US"/>
          </a:p>
        </p:txBody>
      </p:sp>
    </p:spTree>
    <p:extLst>
      <p:ext uri="{BB962C8B-B14F-4D97-AF65-F5344CB8AC3E}">
        <p14:creationId xmlns:p14="http://schemas.microsoft.com/office/powerpoint/2010/main" val="7750776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18</a:t>
            </a:fld>
            <a:endParaRPr lang="zh-TW" altLang="en-US"/>
          </a:p>
        </p:txBody>
      </p:sp>
    </p:spTree>
    <p:extLst>
      <p:ext uri="{BB962C8B-B14F-4D97-AF65-F5344CB8AC3E}">
        <p14:creationId xmlns:p14="http://schemas.microsoft.com/office/powerpoint/2010/main" val="9305029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19</a:t>
            </a:fld>
            <a:endParaRPr lang="zh-TW" altLang="en-US"/>
          </a:p>
        </p:txBody>
      </p:sp>
    </p:spTree>
    <p:extLst>
      <p:ext uri="{BB962C8B-B14F-4D97-AF65-F5344CB8AC3E}">
        <p14:creationId xmlns:p14="http://schemas.microsoft.com/office/powerpoint/2010/main" val="39842663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20</a:t>
            </a:fld>
            <a:endParaRPr lang="zh-TW" altLang="en-US"/>
          </a:p>
        </p:txBody>
      </p:sp>
    </p:spTree>
    <p:extLst>
      <p:ext uri="{BB962C8B-B14F-4D97-AF65-F5344CB8AC3E}">
        <p14:creationId xmlns:p14="http://schemas.microsoft.com/office/powerpoint/2010/main" val="20482132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21</a:t>
            </a:fld>
            <a:endParaRPr lang="zh-TW" altLang="en-US"/>
          </a:p>
        </p:txBody>
      </p:sp>
    </p:spTree>
    <p:extLst>
      <p:ext uri="{BB962C8B-B14F-4D97-AF65-F5344CB8AC3E}">
        <p14:creationId xmlns:p14="http://schemas.microsoft.com/office/powerpoint/2010/main" val="2758784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22</a:t>
            </a:fld>
            <a:endParaRPr lang="zh-TW" altLang="en-US"/>
          </a:p>
        </p:txBody>
      </p:sp>
    </p:spTree>
    <p:extLst>
      <p:ext uri="{BB962C8B-B14F-4D97-AF65-F5344CB8AC3E}">
        <p14:creationId xmlns:p14="http://schemas.microsoft.com/office/powerpoint/2010/main" val="26649616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23</a:t>
            </a:fld>
            <a:endParaRPr lang="zh-TW" altLang="en-US"/>
          </a:p>
        </p:txBody>
      </p:sp>
    </p:spTree>
    <p:extLst>
      <p:ext uri="{BB962C8B-B14F-4D97-AF65-F5344CB8AC3E}">
        <p14:creationId xmlns:p14="http://schemas.microsoft.com/office/powerpoint/2010/main" val="38186640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24</a:t>
            </a:fld>
            <a:endParaRPr lang="zh-TW" altLang="en-US"/>
          </a:p>
        </p:txBody>
      </p:sp>
    </p:spTree>
    <p:extLst>
      <p:ext uri="{BB962C8B-B14F-4D97-AF65-F5344CB8AC3E}">
        <p14:creationId xmlns:p14="http://schemas.microsoft.com/office/powerpoint/2010/main" val="37092022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25</a:t>
            </a:fld>
            <a:endParaRPr lang="zh-TW" altLang="en-US"/>
          </a:p>
        </p:txBody>
      </p:sp>
    </p:spTree>
    <p:extLst>
      <p:ext uri="{BB962C8B-B14F-4D97-AF65-F5344CB8AC3E}">
        <p14:creationId xmlns:p14="http://schemas.microsoft.com/office/powerpoint/2010/main" val="5034314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這邊的全連接層跟我們進行手寫辨識的方式一樣，說穿了就是一個分類器，把我們經過數個卷積、池化後的結果進行分類。</a:t>
            </a:r>
          </a:p>
          <a:p>
            <a:r>
              <a:rPr lang="zh-TW" altLang="en-US" dirty="0"/>
              <a:t>這邊可能會有人有一個問題 </a:t>
            </a:r>
            <a:r>
              <a:rPr lang="en-US" altLang="zh-TW" dirty="0"/>
              <a:t>: </a:t>
            </a:r>
            <a:r>
              <a:rPr lang="zh-TW" altLang="en-US" dirty="0"/>
              <a:t>「 不是說全連接層會破壞圖片的空間結構嗎 </a:t>
            </a:r>
            <a:r>
              <a:rPr lang="en-US" altLang="zh-TW" dirty="0"/>
              <a:t>? </a:t>
            </a:r>
            <a:r>
              <a:rPr lang="zh-TW" altLang="en-US" dirty="0"/>
              <a:t>」</a:t>
            </a:r>
          </a:p>
          <a:p>
            <a:r>
              <a:rPr lang="zh-TW" altLang="en-US" dirty="0"/>
              <a:t>是的，但是別忘了，我們已經經過數個卷積池化層了，現在每一個節點已經包含了空間結構的資訊在裡面，這個時候進行全連接層的分類就不會有破壞空間結構的問題。</a:t>
            </a:r>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26</a:t>
            </a:fld>
            <a:endParaRPr lang="zh-TW" altLang="en-US"/>
          </a:p>
        </p:txBody>
      </p:sp>
    </p:spTree>
    <p:extLst>
      <p:ext uri="{BB962C8B-B14F-4D97-AF65-F5344CB8AC3E}">
        <p14:creationId xmlns:p14="http://schemas.microsoft.com/office/powerpoint/2010/main" val="2533637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27</a:t>
            </a:fld>
            <a:endParaRPr lang="zh-TW" altLang="en-US"/>
          </a:p>
        </p:txBody>
      </p:sp>
    </p:spTree>
    <p:extLst>
      <p:ext uri="{BB962C8B-B14F-4D97-AF65-F5344CB8AC3E}">
        <p14:creationId xmlns:p14="http://schemas.microsoft.com/office/powerpoint/2010/main" val="28514322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28</a:t>
            </a:fld>
            <a:endParaRPr lang="zh-TW" altLang="en-US"/>
          </a:p>
        </p:txBody>
      </p:sp>
    </p:spTree>
    <p:extLst>
      <p:ext uri="{BB962C8B-B14F-4D97-AF65-F5344CB8AC3E}">
        <p14:creationId xmlns:p14="http://schemas.microsoft.com/office/powerpoint/2010/main" val="30191515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這邊的全連接層跟我們進行手寫辨識的方式一樣，說穿了就是一個分類器，把我們經過數個卷積、池化後的結果進行分類。</a:t>
            </a:r>
          </a:p>
          <a:p>
            <a:r>
              <a:rPr lang="zh-TW" altLang="en-US" dirty="0"/>
              <a:t>這邊可能會有人有一個問題 </a:t>
            </a:r>
            <a:r>
              <a:rPr lang="en-US" altLang="zh-TW" dirty="0"/>
              <a:t>: </a:t>
            </a:r>
            <a:r>
              <a:rPr lang="zh-TW" altLang="en-US" dirty="0"/>
              <a:t>「 不是說全連接層會破壞圖片的空間結構嗎 </a:t>
            </a:r>
            <a:r>
              <a:rPr lang="en-US" altLang="zh-TW" dirty="0"/>
              <a:t>? </a:t>
            </a:r>
            <a:r>
              <a:rPr lang="zh-TW" altLang="en-US" dirty="0"/>
              <a:t>」</a:t>
            </a:r>
          </a:p>
          <a:p>
            <a:r>
              <a:rPr lang="zh-TW" altLang="en-US" dirty="0"/>
              <a:t>是的，但是別忘了，我們已經經過數個卷積池化層了，現在每一個節點已經包含了空間結構的資訊在裡面，這個時候進行全連接層的分類就不會有破壞空間結構的問題。</a:t>
            </a:r>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29</a:t>
            </a:fld>
            <a:endParaRPr lang="zh-TW" altLang="en-US"/>
          </a:p>
        </p:txBody>
      </p:sp>
    </p:spTree>
    <p:extLst>
      <p:ext uri="{BB962C8B-B14F-4D97-AF65-F5344CB8AC3E}">
        <p14:creationId xmlns:p14="http://schemas.microsoft.com/office/powerpoint/2010/main" val="39413143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12.png"/><Relationship Id="rId18" Type="http://schemas.openxmlformats.org/officeDocument/2006/relationships/image" Target="../media/image17.svg"/><Relationship Id="rId26" Type="http://schemas.openxmlformats.org/officeDocument/2006/relationships/image" Target="../media/image25.svg"/><Relationship Id="rId39" Type="http://schemas.openxmlformats.org/officeDocument/2006/relationships/image" Target="../media/image38.png"/><Relationship Id="rId21" Type="http://schemas.openxmlformats.org/officeDocument/2006/relationships/image" Target="../media/image20.png"/><Relationship Id="rId34" Type="http://schemas.openxmlformats.org/officeDocument/2006/relationships/image" Target="../media/image33.svg"/><Relationship Id="rId42" Type="http://schemas.openxmlformats.org/officeDocument/2006/relationships/image" Target="../media/image41.svg"/><Relationship Id="rId47" Type="http://schemas.openxmlformats.org/officeDocument/2006/relationships/image" Target="../media/image46.png"/><Relationship Id="rId50" Type="http://schemas.openxmlformats.org/officeDocument/2006/relationships/image" Target="../media/image49.svg"/><Relationship Id="rId55" Type="http://schemas.openxmlformats.org/officeDocument/2006/relationships/image" Target="../media/image54.png"/><Relationship Id="rId7" Type="http://schemas.openxmlformats.org/officeDocument/2006/relationships/image" Target="../media/image6.png"/><Relationship Id="rId2" Type="http://schemas.openxmlformats.org/officeDocument/2006/relationships/image" Target="../media/image1.jpeg"/><Relationship Id="rId16" Type="http://schemas.openxmlformats.org/officeDocument/2006/relationships/image" Target="../media/image15.svg"/><Relationship Id="rId29" Type="http://schemas.openxmlformats.org/officeDocument/2006/relationships/image" Target="../media/image28.png"/><Relationship Id="rId11" Type="http://schemas.openxmlformats.org/officeDocument/2006/relationships/image" Target="../media/image10.png"/><Relationship Id="rId24" Type="http://schemas.openxmlformats.org/officeDocument/2006/relationships/image" Target="../media/image23.svg"/><Relationship Id="rId32" Type="http://schemas.openxmlformats.org/officeDocument/2006/relationships/image" Target="../media/image31.svg"/><Relationship Id="rId37" Type="http://schemas.openxmlformats.org/officeDocument/2006/relationships/image" Target="../media/image36.png"/><Relationship Id="rId40" Type="http://schemas.openxmlformats.org/officeDocument/2006/relationships/image" Target="../media/image39.svg"/><Relationship Id="rId45" Type="http://schemas.openxmlformats.org/officeDocument/2006/relationships/image" Target="../media/image44.png"/><Relationship Id="rId53" Type="http://schemas.openxmlformats.org/officeDocument/2006/relationships/image" Target="../media/image52.png"/><Relationship Id="rId5" Type="http://schemas.openxmlformats.org/officeDocument/2006/relationships/image" Target="../media/image4.png"/><Relationship Id="rId10" Type="http://schemas.openxmlformats.org/officeDocument/2006/relationships/image" Target="../media/image9.svg"/><Relationship Id="rId19" Type="http://schemas.openxmlformats.org/officeDocument/2006/relationships/image" Target="../media/image18.png"/><Relationship Id="rId31" Type="http://schemas.openxmlformats.org/officeDocument/2006/relationships/image" Target="../media/image30.png"/><Relationship Id="rId44" Type="http://schemas.openxmlformats.org/officeDocument/2006/relationships/image" Target="../media/image43.svg"/><Relationship Id="rId52" Type="http://schemas.openxmlformats.org/officeDocument/2006/relationships/image" Target="../media/image51.svg"/><Relationship Id="rId4" Type="http://schemas.openxmlformats.org/officeDocument/2006/relationships/image" Target="../media/image3.svg"/><Relationship Id="rId9" Type="http://schemas.openxmlformats.org/officeDocument/2006/relationships/image" Target="../media/image8.png"/><Relationship Id="rId14" Type="http://schemas.openxmlformats.org/officeDocument/2006/relationships/image" Target="../media/image13.svg"/><Relationship Id="rId22" Type="http://schemas.openxmlformats.org/officeDocument/2006/relationships/image" Target="../media/image21.svg"/><Relationship Id="rId27" Type="http://schemas.openxmlformats.org/officeDocument/2006/relationships/image" Target="../media/image26.png"/><Relationship Id="rId30" Type="http://schemas.openxmlformats.org/officeDocument/2006/relationships/image" Target="../media/image29.svg"/><Relationship Id="rId35" Type="http://schemas.openxmlformats.org/officeDocument/2006/relationships/image" Target="../media/image34.png"/><Relationship Id="rId43" Type="http://schemas.openxmlformats.org/officeDocument/2006/relationships/image" Target="../media/image42.png"/><Relationship Id="rId48" Type="http://schemas.openxmlformats.org/officeDocument/2006/relationships/image" Target="../media/image47.svg"/><Relationship Id="rId56" Type="http://schemas.openxmlformats.org/officeDocument/2006/relationships/image" Target="../media/image55.svg"/><Relationship Id="rId8" Type="http://schemas.openxmlformats.org/officeDocument/2006/relationships/image" Target="../media/image7.svg"/><Relationship Id="rId51" Type="http://schemas.openxmlformats.org/officeDocument/2006/relationships/image" Target="../media/image50.png"/><Relationship Id="rId3" Type="http://schemas.openxmlformats.org/officeDocument/2006/relationships/image" Target="../media/image2.png"/><Relationship Id="rId12" Type="http://schemas.openxmlformats.org/officeDocument/2006/relationships/image" Target="../media/image11.svg"/><Relationship Id="rId17" Type="http://schemas.openxmlformats.org/officeDocument/2006/relationships/image" Target="../media/image16.png"/><Relationship Id="rId25" Type="http://schemas.openxmlformats.org/officeDocument/2006/relationships/image" Target="../media/image24.png"/><Relationship Id="rId33" Type="http://schemas.openxmlformats.org/officeDocument/2006/relationships/image" Target="../media/image32.png"/><Relationship Id="rId38" Type="http://schemas.openxmlformats.org/officeDocument/2006/relationships/image" Target="../media/image37.svg"/><Relationship Id="rId46" Type="http://schemas.openxmlformats.org/officeDocument/2006/relationships/image" Target="../media/image45.svg"/><Relationship Id="rId20" Type="http://schemas.openxmlformats.org/officeDocument/2006/relationships/image" Target="../media/image19.svg"/><Relationship Id="rId41" Type="http://schemas.openxmlformats.org/officeDocument/2006/relationships/image" Target="../media/image40.png"/><Relationship Id="rId54" Type="http://schemas.openxmlformats.org/officeDocument/2006/relationships/image" Target="../media/image53.svg"/><Relationship Id="rId1" Type="http://schemas.openxmlformats.org/officeDocument/2006/relationships/slideLayout" Target="../slideLayouts/slideLayout7.xml"/><Relationship Id="rId6" Type="http://schemas.openxmlformats.org/officeDocument/2006/relationships/image" Target="../media/image5.svg"/><Relationship Id="rId15" Type="http://schemas.openxmlformats.org/officeDocument/2006/relationships/image" Target="../media/image14.png"/><Relationship Id="rId23" Type="http://schemas.openxmlformats.org/officeDocument/2006/relationships/image" Target="../media/image22.png"/><Relationship Id="rId28" Type="http://schemas.openxmlformats.org/officeDocument/2006/relationships/image" Target="../media/image27.svg"/><Relationship Id="rId36" Type="http://schemas.openxmlformats.org/officeDocument/2006/relationships/image" Target="../media/image35.svg"/><Relationship Id="rId49" Type="http://schemas.openxmlformats.org/officeDocument/2006/relationships/image" Target="../media/image48.png"/></Relationships>
</file>

<file path=ppt/slides/_rels/slide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56.png"/><Relationship Id="rId4" Type="http://schemas.openxmlformats.org/officeDocument/2006/relationships/image" Target="../media/image17.svg"/></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56.png"/><Relationship Id="rId4" Type="http://schemas.openxmlformats.org/officeDocument/2006/relationships/image" Target="../media/image17.svg"/></Relationships>
</file>

<file path=ppt/slides/_rels/slide4.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5.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 Id="rId9" Type="http://schemas.openxmlformats.org/officeDocument/2006/relationships/image" Target="../media/image59.gif"/></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7.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8.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9.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 Id="rId9" Type="http://schemas.openxmlformats.org/officeDocument/2006/relationships/image" Target="../media/image63.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11.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12.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13.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 Id="rId9" Type="http://schemas.openxmlformats.org/officeDocument/2006/relationships/image" Target="../media/image67.png"/></Relationships>
</file>

<file path=ppt/slides/_rels/slide14.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15.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 Id="rId9" Type="http://schemas.openxmlformats.org/officeDocument/2006/relationships/image" Target="../media/image70.png"/></Relationships>
</file>

<file path=ppt/slides/_rels/slide16.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74.png"/><Relationship Id="rId5" Type="http://schemas.microsoft.com/office/2007/relationships/hdphoto" Target="../media/hdphoto1.wdp"/><Relationship Id="rId10" Type="http://schemas.openxmlformats.org/officeDocument/2006/relationships/image" Target="../media/image73.png"/><Relationship Id="rId4" Type="http://schemas.openxmlformats.org/officeDocument/2006/relationships/image" Target="../media/image56.png"/><Relationship Id="rId9" Type="http://schemas.openxmlformats.org/officeDocument/2006/relationships/image" Target="../media/image72.png"/></Relationships>
</file>

<file path=ppt/slides/_rels/slide17.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 Id="rId9" Type="http://schemas.openxmlformats.org/officeDocument/2006/relationships/image" Target="../media/image76.png"/></Relationships>
</file>

<file path=ppt/slides/_rels/slide18.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10" Type="http://schemas.openxmlformats.org/officeDocument/2006/relationships/image" Target="../media/image79.png"/><Relationship Id="rId4" Type="http://schemas.openxmlformats.org/officeDocument/2006/relationships/image" Target="../media/image56.png"/><Relationship Id="rId9" Type="http://schemas.openxmlformats.org/officeDocument/2006/relationships/image" Target="../media/image78.png"/></Relationships>
</file>

<file path=ppt/slides/_rels/slide19.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 Id="rId9" Type="http://schemas.openxmlformats.org/officeDocument/2006/relationships/image" Target="../media/image81.png"/></Relationships>
</file>

<file path=ppt/slides/_rels/slide20.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21.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22.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 Id="rId9" Type="http://schemas.openxmlformats.org/officeDocument/2006/relationships/image" Target="../media/image85.png"/></Relationships>
</file>

<file path=ppt/slides/_rels/slide23.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24.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 Id="rId9" Type="http://schemas.openxmlformats.org/officeDocument/2006/relationships/image" Target="../media/image88.png"/></Relationships>
</file>

<file path=ppt/slides/_rels/slide25.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10" Type="http://schemas.openxmlformats.org/officeDocument/2006/relationships/image" Target="../media/image91.png"/><Relationship Id="rId4" Type="http://schemas.openxmlformats.org/officeDocument/2006/relationships/image" Target="../media/image56.png"/><Relationship Id="rId9" Type="http://schemas.openxmlformats.org/officeDocument/2006/relationships/image" Target="../media/image90.png"/></Relationships>
</file>

<file path=ppt/slides/_rels/slide26.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27.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 Id="rId9" Type="http://schemas.openxmlformats.org/officeDocument/2006/relationships/image" Target="../media/image94.png"/></Relationships>
</file>

<file path=ppt/slides/_rels/slide28.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 Id="rId9" Type="http://schemas.openxmlformats.org/officeDocument/2006/relationships/image" Target="../media/image96.png"/></Relationships>
</file>

<file path=ppt/slides/_rels/slide29.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30.xml.rels><?xml version="1.0" encoding="UTF-8" standalone="yes"?>
<Relationships xmlns="http://schemas.openxmlformats.org/package/2006/relationships"><Relationship Id="rId13" Type="http://schemas.openxmlformats.org/officeDocument/2006/relationships/image" Target="../media/image12.png"/><Relationship Id="rId18" Type="http://schemas.openxmlformats.org/officeDocument/2006/relationships/image" Target="../media/image17.svg"/><Relationship Id="rId26" Type="http://schemas.openxmlformats.org/officeDocument/2006/relationships/image" Target="../media/image25.svg"/><Relationship Id="rId39" Type="http://schemas.openxmlformats.org/officeDocument/2006/relationships/image" Target="../media/image38.png"/><Relationship Id="rId21" Type="http://schemas.openxmlformats.org/officeDocument/2006/relationships/image" Target="../media/image20.png"/><Relationship Id="rId34" Type="http://schemas.openxmlformats.org/officeDocument/2006/relationships/image" Target="../media/image33.svg"/><Relationship Id="rId42" Type="http://schemas.openxmlformats.org/officeDocument/2006/relationships/image" Target="../media/image41.svg"/><Relationship Id="rId47" Type="http://schemas.openxmlformats.org/officeDocument/2006/relationships/image" Target="../media/image46.png"/><Relationship Id="rId50" Type="http://schemas.openxmlformats.org/officeDocument/2006/relationships/image" Target="../media/image49.svg"/><Relationship Id="rId55" Type="http://schemas.openxmlformats.org/officeDocument/2006/relationships/image" Target="../media/image54.png"/><Relationship Id="rId7" Type="http://schemas.openxmlformats.org/officeDocument/2006/relationships/image" Target="../media/image6.png"/><Relationship Id="rId2" Type="http://schemas.openxmlformats.org/officeDocument/2006/relationships/image" Target="../media/image1.jpeg"/><Relationship Id="rId16" Type="http://schemas.openxmlformats.org/officeDocument/2006/relationships/image" Target="../media/image15.svg"/><Relationship Id="rId29" Type="http://schemas.openxmlformats.org/officeDocument/2006/relationships/image" Target="../media/image28.png"/><Relationship Id="rId11" Type="http://schemas.openxmlformats.org/officeDocument/2006/relationships/image" Target="../media/image10.png"/><Relationship Id="rId24" Type="http://schemas.openxmlformats.org/officeDocument/2006/relationships/image" Target="../media/image23.svg"/><Relationship Id="rId32" Type="http://schemas.openxmlformats.org/officeDocument/2006/relationships/image" Target="../media/image31.svg"/><Relationship Id="rId37" Type="http://schemas.openxmlformats.org/officeDocument/2006/relationships/image" Target="../media/image36.png"/><Relationship Id="rId40" Type="http://schemas.openxmlformats.org/officeDocument/2006/relationships/image" Target="../media/image39.svg"/><Relationship Id="rId45" Type="http://schemas.openxmlformats.org/officeDocument/2006/relationships/image" Target="../media/image44.png"/><Relationship Id="rId53" Type="http://schemas.openxmlformats.org/officeDocument/2006/relationships/image" Target="../media/image52.png"/><Relationship Id="rId5" Type="http://schemas.openxmlformats.org/officeDocument/2006/relationships/image" Target="../media/image4.png"/><Relationship Id="rId10" Type="http://schemas.openxmlformats.org/officeDocument/2006/relationships/image" Target="../media/image9.svg"/><Relationship Id="rId19" Type="http://schemas.openxmlformats.org/officeDocument/2006/relationships/image" Target="../media/image18.png"/><Relationship Id="rId31" Type="http://schemas.openxmlformats.org/officeDocument/2006/relationships/image" Target="../media/image30.png"/><Relationship Id="rId44" Type="http://schemas.openxmlformats.org/officeDocument/2006/relationships/image" Target="../media/image43.svg"/><Relationship Id="rId52" Type="http://schemas.openxmlformats.org/officeDocument/2006/relationships/image" Target="../media/image51.svg"/><Relationship Id="rId4" Type="http://schemas.openxmlformats.org/officeDocument/2006/relationships/image" Target="../media/image3.svg"/><Relationship Id="rId9" Type="http://schemas.openxmlformats.org/officeDocument/2006/relationships/image" Target="../media/image8.png"/><Relationship Id="rId14" Type="http://schemas.openxmlformats.org/officeDocument/2006/relationships/image" Target="../media/image13.svg"/><Relationship Id="rId22" Type="http://schemas.openxmlformats.org/officeDocument/2006/relationships/image" Target="../media/image21.svg"/><Relationship Id="rId27" Type="http://schemas.openxmlformats.org/officeDocument/2006/relationships/image" Target="../media/image26.png"/><Relationship Id="rId30" Type="http://schemas.openxmlformats.org/officeDocument/2006/relationships/image" Target="../media/image29.svg"/><Relationship Id="rId35" Type="http://schemas.openxmlformats.org/officeDocument/2006/relationships/image" Target="../media/image34.png"/><Relationship Id="rId43" Type="http://schemas.openxmlformats.org/officeDocument/2006/relationships/image" Target="../media/image42.png"/><Relationship Id="rId48" Type="http://schemas.openxmlformats.org/officeDocument/2006/relationships/image" Target="../media/image47.svg"/><Relationship Id="rId56" Type="http://schemas.openxmlformats.org/officeDocument/2006/relationships/image" Target="../media/image55.svg"/><Relationship Id="rId8" Type="http://schemas.openxmlformats.org/officeDocument/2006/relationships/image" Target="../media/image7.svg"/><Relationship Id="rId51" Type="http://schemas.openxmlformats.org/officeDocument/2006/relationships/image" Target="../media/image50.png"/><Relationship Id="rId3" Type="http://schemas.openxmlformats.org/officeDocument/2006/relationships/image" Target="../media/image2.png"/><Relationship Id="rId12" Type="http://schemas.openxmlformats.org/officeDocument/2006/relationships/image" Target="../media/image11.svg"/><Relationship Id="rId17" Type="http://schemas.openxmlformats.org/officeDocument/2006/relationships/image" Target="../media/image16.png"/><Relationship Id="rId25" Type="http://schemas.openxmlformats.org/officeDocument/2006/relationships/image" Target="../media/image24.png"/><Relationship Id="rId33" Type="http://schemas.openxmlformats.org/officeDocument/2006/relationships/image" Target="../media/image32.png"/><Relationship Id="rId38" Type="http://schemas.openxmlformats.org/officeDocument/2006/relationships/image" Target="../media/image37.svg"/><Relationship Id="rId46" Type="http://schemas.openxmlformats.org/officeDocument/2006/relationships/image" Target="../media/image45.svg"/><Relationship Id="rId20" Type="http://schemas.openxmlformats.org/officeDocument/2006/relationships/image" Target="../media/image19.svg"/><Relationship Id="rId41" Type="http://schemas.openxmlformats.org/officeDocument/2006/relationships/image" Target="../media/image40.png"/><Relationship Id="rId54" Type="http://schemas.openxmlformats.org/officeDocument/2006/relationships/image" Target="../media/image53.svg"/><Relationship Id="rId1" Type="http://schemas.openxmlformats.org/officeDocument/2006/relationships/slideLayout" Target="../slideLayouts/slideLayout7.xml"/><Relationship Id="rId6" Type="http://schemas.openxmlformats.org/officeDocument/2006/relationships/image" Target="../media/image5.svg"/><Relationship Id="rId15" Type="http://schemas.openxmlformats.org/officeDocument/2006/relationships/image" Target="../media/image14.png"/><Relationship Id="rId23" Type="http://schemas.openxmlformats.org/officeDocument/2006/relationships/image" Target="../media/image22.png"/><Relationship Id="rId28" Type="http://schemas.openxmlformats.org/officeDocument/2006/relationships/image" Target="../media/image27.svg"/><Relationship Id="rId36" Type="http://schemas.openxmlformats.org/officeDocument/2006/relationships/image" Target="../media/image35.svg"/><Relationship Id="rId49" Type="http://schemas.openxmlformats.org/officeDocument/2006/relationships/image" Target="../media/image48.png"/></Relationships>
</file>

<file path=ppt/slides/_rels/slide3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16.png"/><Relationship Id="rId4" Type="http://schemas.microsoft.com/office/2007/relationships/hdphoto" Target="../media/hdphoto1.wdp"/></Relationships>
</file>

<file path=ppt/slides/_rels/slide32.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9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16.png"/><Relationship Id="rId4" Type="http://schemas.microsoft.com/office/2007/relationships/hdphoto" Target="../media/hdphoto1.wdp"/></Relationships>
</file>

<file path=ppt/slides/_rels/slide3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16.png"/><Relationship Id="rId4" Type="http://schemas.microsoft.com/office/2007/relationships/hdphoto" Target="../media/hdphoto1.wdp"/></Relationships>
</file>

<file path=ppt/slides/_rels/slide34.xml.rels><?xml version="1.0" encoding="UTF-8" standalone="yes"?>
<Relationships xmlns="http://schemas.openxmlformats.org/package/2006/relationships"><Relationship Id="rId13" Type="http://schemas.openxmlformats.org/officeDocument/2006/relationships/image" Target="../media/image12.png"/><Relationship Id="rId18" Type="http://schemas.openxmlformats.org/officeDocument/2006/relationships/image" Target="../media/image17.svg"/><Relationship Id="rId26" Type="http://schemas.openxmlformats.org/officeDocument/2006/relationships/image" Target="../media/image25.svg"/><Relationship Id="rId39" Type="http://schemas.openxmlformats.org/officeDocument/2006/relationships/image" Target="../media/image38.png"/><Relationship Id="rId21" Type="http://schemas.openxmlformats.org/officeDocument/2006/relationships/image" Target="../media/image20.png"/><Relationship Id="rId34" Type="http://schemas.openxmlformats.org/officeDocument/2006/relationships/image" Target="../media/image33.svg"/><Relationship Id="rId42" Type="http://schemas.openxmlformats.org/officeDocument/2006/relationships/image" Target="../media/image41.svg"/><Relationship Id="rId47" Type="http://schemas.openxmlformats.org/officeDocument/2006/relationships/image" Target="../media/image46.png"/><Relationship Id="rId50" Type="http://schemas.openxmlformats.org/officeDocument/2006/relationships/image" Target="../media/image49.svg"/><Relationship Id="rId55" Type="http://schemas.openxmlformats.org/officeDocument/2006/relationships/image" Target="../media/image54.png"/><Relationship Id="rId7" Type="http://schemas.openxmlformats.org/officeDocument/2006/relationships/image" Target="../media/image6.png"/><Relationship Id="rId2" Type="http://schemas.openxmlformats.org/officeDocument/2006/relationships/image" Target="../media/image1.jpeg"/><Relationship Id="rId16" Type="http://schemas.openxmlformats.org/officeDocument/2006/relationships/image" Target="../media/image15.svg"/><Relationship Id="rId29" Type="http://schemas.openxmlformats.org/officeDocument/2006/relationships/image" Target="../media/image28.png"/><Relationship Id="rId11" Type="http://schemas.openxmlformats.org/officeDocument/2006/relationships/image" Target="../media/image10.png"/><Relationship Id="rId24" Type="http://schemas.openxmlformats.org/officeDocument/2006/relationships/image" Target="../media/image23.svg"/><Relationship Id="rId32" Type="http://schemas.openxmlformats.org/officeDocument/2006/relationships/image" Target="../media/image31.svg"/><Relationship Id="rId37" Type="http://schemas.openxmlformats.org/officeDocument/2006/relationships/image" Target="../media/image36.png"/><Relationship Id="rId40" Type="http://schemas.openxmlformats.org/officeDocument/2006/relationships/image" Target="../media/image39.svg"/><Relationship Id="rId45" Type="http://schemas.openxmlformats.org/officeDocument/2006/relationships/image" Target="../media/image44.png"/><Relationship Id="rId53" Type="http://schemas.openxmlformats.org/officeDocument/2006/relationships/image" Target="../media/image52.png"/><Relationship Id="rId5" Type="http://schemas.openxmlformats.org/officeDocument/2006/relationships/image" Target="../media/image4.png"/><Relationship Id="rId10" Type="http://schemas.openxmlformats.org/officeDocument/2006/relationships/image" Target="../media/image9.svg"/><Relationship Id="rId19" Type="http://schemas.openxmlformats.org/officeDocument/2006/relationships/image" Target="../media/image18.png"/><Relationship Id="rId31" Type="http://schemas.openxmlformats.org/officeDocument/2006/relationships/image" Target="../media/image30.png"/><Relationship Id="rId44" Type="http://schemas.openxmlformats.org/officeDocument/2006/relationships/image" Target="../media/image43.svg"/><Relationship Id="rId52" Type="http://schemas.openxmlformats.org/officeDocument/2006/relationships/image" Target="../media/image51.svg"/><Relationship Id="rId4" Type="http://schemas.openxmlformats.org/officeDocument/2006/relationships/image" Target="../media/image3.svg"/><Relationship Id="rId9" Type="http://schemas.openxmlformats.org/officeDocument/2006/relationships/image" Target="../media/image8.png"/><Relationship Id="rId14" Type="http://schemas.openxmlformats.org/officeDocument/2006/relationships/image" Target="../media/image13.svg"/><Relationship Id="rId22" Type="http://schemas.openxmlformats.org/officeDocument/2006/relationships/image" Target="../media/image21.svg"/><Relationship Id="rId27" Type="http://schemas.openxmlformats.org/officeDocument/2006/relationships/image" Target="../media/image26.png"/><Relationship Id="rId30" Type="http://schemas.openxmlformats.org/officeDocument/2006/relationships/image" Target="../media/image29.svg"/><Relationship Id="rId35" Type="http://schemas.openxmlformats.org/officeDocument/2006/relationships/image" Target="../media/image34.png"/><Relationship Id="rId43" Type="http://schemas.openxmlformats.org/officeDocument/2006/relationships/image" Target="../media/image42.png"/><Relationship Id="rId48" Type="http://schemas.openxmlformats.org/officeDocument/2006/relationships/image" Target="../media/image47.svg"/><Relationship Id="rId56" Type="http://schemas.openxmlformats.org/officeDocument/2006/relationships/image" Target="../media/image55.svg"/><Relationship Id="rId8" Type="http://schemas.openxmlformats.org/officeDocument/2006/relationships/image" Target="../media/image7.svg"/><Relationship Id="rId51" Type="http://schemas.openxmlformats.org/officeDocument/2006/relationships/image" Target="../media/image50.png"/><Relationship Id="rId3" Type="http://schemas.openxmlformats.org/officeDocument/2006/relationships/image" Target="../media/image2.png"/><Relationship Id="rId12" Type="http://schemas.openxmlformats.org/officeDocument/2006/relationships/image" Target="../media/image11.svg"/><Relationship Id="rId17" Type="http://schemas.openxmlformats.org/officeDocument/2006/relationships/image" Target="../media/image16.png"/><Relationship Id="rId25" Type="http://schemas.openxmlformats.org/officeDocument/2006/relationships/image" Target="../media/image24.png"/><Relationship Id="rId33" Type="http://schemas.openxmlformats.org/officeDocument/2006/relationships/image" Target="../media/image32.png"/><Relationship Id="rId38" Type="http://schemas.openxmlformats.org/officeDocument/2006/relationships/image" Target="../media/image37.svg"/><Relationship Id="rId46" Type="http://schemas.openxmlformats.org/officeDocument/2006/relationships/image" Target="../media/image45.svg"/><Relationship Id="rId20" Type="http://schemas.openxmlformats.org/officeDocument/2006/relationships/image" Target="../media/image19.svg"/><Relationship Id="rId41" Type="http://schemas.openxmlformats.org/officeDocument/2006/relationships/image" Target="../media/image40.png"/><Relationship Id="rId54" Type="http://schemas.openxmlformats.org/officeDocument/2006/relationships/image" Target="../media/image53.svg"/><Relationship Id="rId1" Type="http://schemas.openxmlformats.org/officeDocument/2006/relationships/slideLayout" Target="../slideLayouts/slideLayout7.xml"/><Relationship Id="rId6" Type="http://schemas.openxmlformats.org/officeDocument/2006/relationships/image" Target="../media/image5.svg"/><Relationship Id="rId15" Type="http://schemas.openxmlformats.org/officeDocument/2006/relationships/image" Target="../media/image14.png"/><Relationship Id="rId23" Type="http://schemas.openxmlformats.org/officeDocument/2006/relationships/image" Target="../media/image22.png"/><Relationship Id="rId28" Type="http://schemas.openxmlformats.org/officeDocument/2006/relationships/image" Target="../media/image27.svg"/><Relationship Id="rId36" Type="http://schemas.openxmlformats.org/officeDocument/2006/relationships/image" Target="../media/image35.svg"/><Relationship Id="rId49"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a:off x="485778" y="7436839"/>
            <a:ext cx="2004759" cy="2141005"/>
          </a:xfrm>
          <a:custGeom>
            <a:avLst/>
            <a:gdLst/>
            <a:ahLst/>
            <a:cxnLst/>
            <a:rect l="l" t="t" r="r" b="b"/>
            <a:pathLst>
              <a:path w="2004759" h="2141005">
                <a:moveTo>
                  <a:pt x="0" y="0"/>
                </a:moveTo>
                <a:lnTo>
                  <a:pt x="2004759" y="0"/>
                </a:lnTo>
                <a:lnTo>
                  <a:pt x="2004759" y="2141005"/>
                </a:lnTo>
                <a:lnTo>
                  <a:pt x="0" y="214100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2490537" y="7494055"/>
            <a:ext cx="1518167" cy="2141005"/>
          </a:xfrm>
          <a:custGeom>
            <a:avLst/>
            <a:gdLst/>
            <a:ahLst/>
            <a:cxnLst/>
            <a:rect l="l" t="t" r="r" b="b"/>
            <a:pathLst>
              <a:path w="1518167" h="2141005">
                <a:moveTo>
                  <a:pt x="0" y="0"/>
                </a:moveTo>
                <a:lnTo>
                  <a:pt x="1518167" y="0"/>
                </a:lnTo>
                <a:lnTo>
                  <a:pt x="1518167" y="2141005"/>
                </a:lnTo>
                <a:lnTo>
                  <a:pt x="0" y="214100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4094429" y="7599840"/>
            <a:ext cx="3027128" cy="2141005"/>
          </a:xfrm>
          <a:custGeom>
            <a:avLst/>
            <a:gdLst/>
            <a:ahLst/>
            <a:cxnLst/>
            <a:rect l="l" t="t" r="r" b="b"/>
            <a:pathLst>
              <a:path w="3027128" h="2141005">
                <a:moveTo>
                  <a:pt x="0" y="0"/>
                </a:moveTo>
                <a:lnTo>
                  <a:pt x="3027128" y="0"/>
                </a:lnTo>
                <a:lnTo>
                  <a:pt x="3027128" y="2141005"/>
                </a:lnTo>
                <a:lnTo>
                  <a:pt x="0" y="214100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a:off x="597782" y="5010150"/>
            <a:ext cx="1732268" cy="2141005"/>
          </a:xfrm>
          <a:custGeom>
            <a:avLst/>
            <a:gdLst/>
            <a:ahLst/>
            <a:cxnLst/>
            <a:rect l="l" t="t" r="r" b="b"/>
            <a:pathLst>
              <a:path w="1732268" h="2141005">
                <a:moveTo>
                  <a:pt x="0" y="0"/>
                </a:moveTo>
                <a:lnTo>
                  <a:pt x="1732267" y="0"/>
                </a:lnTo>
                <a:lnTo>
                  <a:pt x="1732267" y="2141005"/>
                </a:lnTo>
                <a:lnTo>
                  <a:pt x="0" y="214100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Freeform 7"/>
          <p:cNvSpPr/>
          <p:nvPr/>
        </p:nvSpPr>
        <p:spPr>
          <a:xfrm>
            <a:off x="628924" y="2869145"/>
            <a:ext cx="1701126" cy="2141005"/>
          </a:xfrm>
          <a:custGeom>
            <a:avLst/>
            <a:gdLst/>
            <a:ahLst/>
            <a:cxnLst/>
            <a:rect l="l" t="t" r="r" b="b"/>
            <a:pathLst>
              <a:path w="1701126" h="2141005">
                <a:moveTo>
                  <a:pt x="0" y="0"/>
                </a:moveTo>
                <a:lnTo>
                  <a:pt x="1701125" y="0"/>
                </a:lnTo>
                <a:lnTo>
                  <a:pt x="1701125" y="2141005"/>
                </a:lnTo>
                <a:lnTo>
                  <a:pt x="0" y="2141005"/>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8" name="Freeform 8"/>
          <p:cNvSpPr/>
          <p:nvPr/>
        </p:nvSpPr>
        <p:spPr>
          <a:xfrm>
            <a:off x="667851" y="380522"/>
            <a:ext cx="1662198" cy="2141005"/>
          </a:xfrm>
          <a:custGeom>
            <a:avLst/>
            <a:gdLst/>
            <a:ahLst/>
            <a:cxnLst/>
            <a:rect l="l" t="t" r="r" b="b"/>
            <a:pathLst>
              <a:path w="1662198" h="2141005">
                <a:moveTo>
                  <a:pt x="0" y="0"/>
                </a:moveTo>
                <a:lnTo>
                  <a:pt x="1662198" y="0"/>
                </a:lnTo>
                <a:lnTo>
                  <a:pt x="1662198" y="2141005"/>
                </a:lnTo>
                <a:lnTo>
                  <a:pt x="0" y="2141005"/>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9" name="Freeform 9"/>
          <p:cNvSpPr/>
          <p:nvPr/>
        </p:nvSpPr>
        <p:spPr>
          <a:xfrm>
            <a:off x="2606274" y="380522"/>
            <a:ext cx="2070936" cy="2141005"/>
          </a:xfrm>
          <a:custGeom>
            <a:avLst/>
            <a:gdLst/>
            <a:ahLst/>
            <a:cxnLst/>
            <a:rect l="l" t="t" r="r" b="b"/>
            <a:pathLst>
              <a:path w="2070936" h="2141005">
                <a:moveTo>
                  <a:pt x="0" y="0"/>
                </a:moveTo>
                <a:lnTo>
                  <a:pt x="2070936" y="0"/>
                </a:lnTo>
                <a:lnTo>
                  <a:pt x="2070936" y="2141005"/>
                </a:lnTo>
                <a:lnTo>
                  <a:pt x="0" y="2141005"/>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10" name="Freeform 10"/>
          <p:cNvSpPr/>
          <p:nvPr/>
        </p:nvSpPr>
        <p:spPr>
          <a:xfrm>
            <a:off x="4772460" y="380522"/>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11" name="Freeform 11"/>
          <p:cNvSpPr/>
          <p:nvPr/>
        </p:nvSpPr>
        <p:spPr>
          <a:xfrm>
            <a:off x="7132234" y="380522"/>
            <a:ext cx="2571076" cy="2141005"/>
          </a:xfrm>
          <a:custGeom>
            <a:avLst/>
            <a:gdLst/>
            <a:ahLst/>
            <a:cxnLst/>
            <a:rect l="l" t="t" r="r" b="b"/>
            <a:pathLst>
              <a:path w="2571076" h="2141005">
                <a:moveTo>
                  <a:pt x="0" y="0"/>
                </a:moveTo>
                <a:lnTo>
                  <a:pt x="2571076" y="0"/>
                </a:lnTo>
                <a:lnTo>
                  <a:pt x="2571076" y="2141005"/>
                </a:lnTo>
                <a:lnTo>
                  <a:pt x="0" y="2141005"/>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sp>
        <p:nvSpPr>
          <p:cNvPr id="12" name="Freeform 12"/>
          <p:cNvSpPr/>
          <p:nvPr/>
        </p:nvSpPr>
        <p:spPr>
          <a:xfrm>
            <a:off x="9802175" y="380522"/>
            <a:ext cx="1444205" cy="2141005"/>
          </a:xfrm>
          <a:custGeom>
            <a:avLst/>
            <a:gdLst/>
            <a:ahLst/>
            <a:cxnLst/>
            <a:rect l="l" t="t" r="r" b="b"/>
            <a:pathLst>
              <a:path w="1444205" h="2141005">
                <a:moveTo>
                  <a:pt x="0" y="0"/>
                </a:moveTo>
                <a:lnTo>
                  <a:pt x="1444205" y="0"/>
                </a:lnTo>
                <a:lnTo>
                  <a:pt x="1444205" y="2141005"/>
                </a:lnTo>
                <a:lnTo>
                  <a:pt x="0" y="2141005"/>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13" name="Freeform 13"/>
          <p:cNvSpPr/>
          <p:nvPr/>
        </p:nvSpPr>
        <p:spPr>
          <a:xfrm>
            <a:off x="11588001" y="380522"/>
            <a:ext cx="1467562" cy="2141005"/>
          </a:xfrm>
          <a:custGeom>
            <a:avLst/>
            <a:gdLst/>
            <a:ahLst/>
            <a:cxnLst/>
            <a:rect l="l" t="t" r="r" b="b"/>
            <a:pathLst>
              <a:path w="1467562" h="2141005">
                <a:moveTo>
                  <a:pt x="0" y="0"/>
                </a:moveTo>
                <a:lnTo>
                  <a:pt x="1467561" y="0"/>
                </a:lnTo>
                <a:lnTo>
                  <a:pt x="1467561" y="2141005"/>
                </a:lnTo>
                <a:lnTo>
                  <a:pt x="0" y="2141005"/>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sp>
      <p:sp>
        <p:nvSpPr>
          <p:cNvPr id="14" name="Freeform 14"/>
          <p:cNvSpPr/>
          <p:nvPr/>
        </p:nvSpPr>
        <p:spPr>
          <a:xfrm>
            <a:off x="13331787" y="380522"/>
            <a:ext cx="1876299" cy="2141005"/>
          </a:xfrm>
          <a:custGeom>
            <a:avLst/>
            <a:gdLst/>
            <a:ahLst/>
            <a:cxnLst/>
            <a:rect l="l" t="t" r="r" b="b"/>
            <a:pathLst>
              <a:path w="1876299" h="2141005">
                <a:moveTo>
                  <a:pt x="0" y="0"/>
                </a:moveTo>
                <a:lnTo>
                  <a:pt x="1876299" y="0"/>
                </a:lnTo>
                <a:lnTo>
                  <a:pt x="1876299" y="2141005"/>
                </a:lnTo>
                <a:lnTo>
                  <a:pt x="0" y="2141005"/>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sp>
      <p:sp>
        <p:nvSpPr>
          <p:cNvPr id="15" name="Freeform 15"/>
          <p:cNvSpPr/>
          <p:nvPr/>
        </p:nvSpPr>
        <p:spPr>
          <a:xfrm>
            <a:off x="15488437" y="380522"/>
            <a:ext cx="2393400" cy="2141005"/>
          </a:xfrm>
          <a:custGeom>
            <a:avLst/>
            <a:gdLst/>
            <a:ahLst/>
            <a:cxnLst/>
            <a:rect l="l" t="t" r="r" b="b"/>
            <a:pathLst>
              <a:path w="2393400" h="2141005">
                <a:moveTo>
                  <a:pt x="0" y="0"/>
                </a:moveTo>
                <a:lnTo>
                  <a:pt x="2393400" y="0"/>
                </a:lnTo>
                <a:lnTo>
                  <a:pt x="2393400" y="2141005"/>
                </a:lnTo>
                <a:lnTo>
                  <a:pt x="0" y="2141005"/>
                </a:lnTo>
                <a:lnTo>
                  <a:pt x="0" y="0"/>
                </a:lnTo>
                <a:close/>
              </a:path>
            </a:pathLst>
          </a:custGeom>
          <a:blipFill>
            <a:blip r:embed="rId27">
              <a:extLst>
                <a:ext uri="{96DAC541-7B7A-43D3-8B79-37D633B846F1}">
                  <asvg:svgBlip xmlns:asvg="http://schemas.microsoft.com/office/drawing/2016/SVG/main" r:embed="rId28"/>
                </a:ext>
              </a:extLst>
            </a:blip>
            <a:stretch>
              <a:fillRect/>
            </a:stretch>
          </a:blipFill>
        </p:spPr>
      </p:sp>
      <p:sp>
        <p:nvSpPr>
          <p:cNvPr id="16" name="Freeform 16"/>
          <p:cNvSpPr/>
          <p:nvPr/>
        </p:nvSpPr>
        <p:spPr>
          <a:xfrm>
            <a:off x="15622420" y="2750127"/>
            <a:ext cx="2047579" cy="2141005"/>
          </a:xfrm>
          <a:custGeom>
            <a:avLst/>
            <a:gdLst/>
            <a:ahLst/>
            <a:cxnLst/>
            <a:rect l="l" t="t" r="r" b="b"/>
            <a:pathLst>
              <a:path w="2047579" h="2141005">
                <a:moveTo>
                  <a:pt x="0" y="0"/>
                </a:moveTo>
                <a:lnTo>
                  <a:pt x="2047579" y="0"/>
                </a:lnTo>
                <a:lnTo>
                  <a:pt x="2047579" y="2141005"/>
                </a:lnTo>
                <a:lnTo>
                  <a:pt x="0" y="2141005"/>
                </a:lnTo>
                <a:lnTo>
                  <a:pt x="0" y="0"/>
                </a:lnTo>
                <a:close/>
              </a:path>
            </a:pathLst>
          </a:custGeom>
          <a:blipFill>
            <a:blip r:embed="rId29">
              <a:extLst>
                <a:ext uri="{96DAC541-7B7A-43D3-8B79-37D633B846F1}">
                  <asvg:svgBlip xmlns:asvg="http://schemas.microsoft.com/office/drawing/2016/SVG/main" r:embed="rId30"/>
                </a:ext>
              </a:extLst>
            </a:blip>
            <a:stretch>
              <a:fillRect/>
            </a:stretch>
          </a:blipFill>
        </p:spPr>
      </p:sp>
      <p:sp>
        <p:nvSpPr>
          <p:cNvPr id="17" name="Freeform 17"/>
          <p:cNvSpPr/>
          <p:nvPr/>
        </p:nvSpPr>
        <p:spPr>
          <a:xfrm>
            <a:off x="15622420" y="5295835"/>
            <a:ext cx="2125434" cy="2141005"/>
          </a:xfrm>
          <a:custGeom>
            <a:avLst/>
            <a:gdLst/>
            <a:ahLst/>
            <a:cxnLst/>
            <a:rect l="l" t="t" r="r" b="b"/>
            <a:pathLst>
              <a:path w="2125434" h="2141005">
                <a:moveTo>
                  <a:pt x="0" y="0"/>
                </a:moveTo>
                <a:lnTo>
                  <a:pt x="2125434" y="0"/>
                </a:lnTo>
                <a:lnTo>
                  <a:pt x="2125434" y="2141004"/>
                </a:lnTo>
                <a:lnTo>
                  <a:pt x="0" y="2141004"/>
                </a:lnTo>
                <a:lnTo>
                  <a:pt x="0" y="0"/>
                </a:lnTo>
                <a:close/>
              </a:path>
            </a:pathLst>
          </a:custGeom>
          <a:blipFill>
            <a:blip r:embed="rId31">
              <a:extLst>
                <a:ext uri="{96DAC541-7B7A-43D3-8B79-37D633B846F1}">
                  <asvg:svgBlip xmlns:asvg="http://schemas.microsoft.com/office/drawing/2016/SVG/main" r:embed="rId32"/>
                </a:ext>
              </a:extLst>
            </a:blip>
            <a:stretch>
              <a:fillRect/>
            </a:stretch>
          </a:blipFill>
        </p:spPr>
      </p:sp>
      <p:sp>
        <p:nvSpPr>
          <p:cNvPr id="18" name="Freeform 18"/>
          <p:cNvSpPr/>
          <p:nvPr/>
        </p:nvSpPr>
        <p:spPr>
          <a:xfrm>
            <a:off x="7227484" y="7599840"/>
            <a:ext cx="1782873" cy="2141005"/>
          </a:xfrm>
          <a:custGeom>
            <a:avLst/>
            <a:gdLst/>
            <a:ahLst/>
            <a:cxnLst/>
            <a:rect l="l" t="t" r="r" b="b"/>
            <a:pathLst>
              <a:path w="1782873" h="2141005">
                <a:moveTo>
                  <a:pt x="0" y="0"/>
                </a:moveTo>
                <a:lnTo>
                  <a:pt x="1782874" y="0"/>
                </a:lnTo>
                <a:lnTo>
                  <a:pt x="1782874" y="2141005"/>
                </a:lnTo>
                <a:lnTo>
                  <a:pt x="0" y="2141005"/>
                </a:lnTo>
                <a:lnTo>
                  <a:pt x="0" y="0"/>
                </a:lnTo>
                <a:close/>
              </a:path>
            </a:pathLst>
          </a:custGeom>
          <a:blipFill>
            <a:blip r:embed="rId33">
              <a:extLst>
                <a:ext uri="{96DAC541-7B7A-43D3-8B79-37D633B846F1}">
                  <asvg:svgBlip xmlns:asvg="http://schemas.microsoft.com/office/drawing/2016/SVG/main" r:embed="rId34"/>
                </a:ext>
              </a:extLst>
            </a:blip>
            <a:stretch>
              <a:fillRect/>
            </a:stretch>
          </a:blipFill>
        </p:spPr>
      </p:sp>
      <p:sp>
        <p:nvSpPr>
          <p:cNvPr id="19" name="Freeform 19"/>
          <p:cNvSpPr/>
          <p:nvPr/>
        </p:nvSpPr>
        <p:spPr>
          <a:xfrm>
            <a:off x="9091040" y="7599840"/>
            <a:ext cx="2188760" cy="2141005"/>
          </a:xfrm>
          <a:custGeom>
            <a:avLst/>
            <a:gdLst/>
            <a:ahLst/>
            <a:cxnLst/>
            <a:rect l="l" t="t" r="r" b="b"/>
            <a:pathLst>
              <a:path w="2188760" h="2141005">
                <a:moveTo>
                  <a:pt x="0" y="0"/>
                </a:moveTo>
                <a:lnTo>
                  <a:pt x="2188760" y="0"/>
                </a:lnTo>
                <a:lnTo>
                  <a:pt x="2188760" y="2141005"/>
                </a:lnTo>
                <a:lnTo>
                  <a:pt x="0" y="2141005"/>
                </a:lnTo>
                <a:lnTo>
                  <a:pt x="0" y="0"/>
                </a:lnTo>
                <a:close/>
              </a:path>
            </a:pathLst>
          </a:custGeom>
          <a:blipFill>
            <a:blip r:embed="rId35">
              <a:extLst>
                <a:ext uri="{96DAC541-7B7A-43D3-8B79-37D633B846F1}">
                  <asvg:svgBlip xmlns:asvg="http://schemas.microsoft.com/office/drawing/2016/SVG/main" r:embed="rId36"/>
                </a:ext>
              </a:extLst>
            </a:blip>
            <a:stretch>
              <a:fillRect/>
            </a:stretch>
          </a:blipFill>
        </p:spPr>
      </p:sp>
      <p:sp>
        <p:nvSpPr>
          <p:cNvPr id="20" name="Freeform 20"/>
          <p:cNvSpPr/>
          <p:nvPr/>
        </p:nvSpPr>
        <p:spPr>
          <a:xfrm>
            <a:off x="11321106" y="7599840"/>
            <a:ext cx="2141005" cy="2141005"/>
          </a:xfrm>
          <a:custGeom>
            <a:avLst/>
            <a:gdLst/>
            <a:ahLst/>
            <a:cxnLst/>
            <a:rect l="l" t="t" r="r" b="b"/>
            <a:pathLst>
              <a:path w="2141005" h="2141005">
                <a:moveTo>
                  <a:pt x="0" y="0"/>
                </a:moveTo>
                <a:lnTo>
                  <a:pt x="2141005" y="0"/>
                </a:lnTo>
                <a:lnTo>
                  <a:pt x="2141005" y="2141005"/>
                </a:lnTo>
                <a:lnTo>
                  <a:pt x="0" y="2141005"/>
                </a:lnTo>
                <a:lnTo>
                  <a:pt x="0" y="0"/>
                </a:lnTo>
                <a:close/>
              </a:path>
            </a:pathLst>
          </a:custGeom>
          <a:blipFill>
            <a:blip r:embed="rId37">
              <a:extLst>
                <a:ext uri="{96DAC541-7B7A-43D3-8B79-37D633B846F1}">
                  <asvg:svgBlip xmlns:asvg="http://schemas.microsoft.com/office/drawing/2016/SVG/main" r:embed="rId38"/>
                </a:ext>
              </a:extLst>
            </a:blip>
            <a:stretch>
              <a:fillRect/>
            </a:stretch>
          </a:blipFill>
        </p:spPr>
      </p:sp>
      <p:sp>
        <p:nvSpPr>
          <p:cNvPr id="21" name="Freeform 21"/>
          <p:cNvSpPr/>
          <p:nvPr/>
        </p:nvSpPr>
        <p:spPr>
          <a:xfrm>
            <a:off x="13452698" y="7669745"/>
            <a:ext cx="2413018" cy="2141005"/>
          </a:xfrm>
          <a:custGeom>
            <a:avLst/>
            <a:gdLst/>
            <a:ahLst/>
            <a:cxnLst/>
            <a:rect l="l" t="t" r="r" b="b"/>
            <a:pathLst>
              <a:path w="2413018" h="2141005">
                <a:moveTo>
                  <a:pt x="0" y="0"/>
                </a:moveTo>
                <a:lnTo>
                  <a:pt x="2413018" y="0"/>
                </a:lnTo>
                <a:lnTo>
                  <a:pt x="2413018" y="2141005"/>
                </a:lnTo>
                <a:lnTo>
                  <a:pt x="0" y="2141005"/>
                </a:lnTo>
                <a:lnTo>
                  <a:pt x="0" y="0"/>
                </a:lnTo>
                <a:close/>
              </a:path>
            </a:pathLst>
          </a:custGeom>
          <a:blipFill>
            <a:blip r:embed="rId39">
              <a:extLst>
                <a:ext uri="{96DAC541-7B7A-43D3-8B79-37D633B846F1}">
                  <asvg:svgBlip xmlns:asvg="http://schemas.microsoft.com/office/drawing/2016/SVG/main" r:embed="rId40"/>
                </a:ext>
              </a:extLst>
            </a:blip>
            <a:stretch>
              <a:fillRect/>
            </a:stretch>
          </a:blipFill>
        </p:spPr>
      </p:sp>
      <p:sp>
        <p:nvSpPr>
          <p:cNvPr id="22" name="Freeform 22"/>
          <p:cNvSpPr/>
          <p:nvPr/>
        </p:nvSpPr>
        <p:spPr>
          <a:xfrm>
            <a:off x="15865716" y="7599840"/>
            <a:ext cx="1638842" cy="2141005"/>
          </a:xfrm>
          <a:custGeom>
            <a:avLst/>
            <a:gdLst/>
            <a:ahLst/>
            <a:cxnLst/>
            <a:rect l="l" t="t" r="r" b="b"/>
            <a:pathLst>
              <a:path w="1638842" h="2141005">
                <a:moveTo>
                  <a:pt x="0" y="0"/>
                </a:moveTo>
                <a:lnTo>
                  <a:pt x="1638842" y="0"/>
                </a:lnTo>
                <a:lnTo>
                  <a:pt x="1638842" y="2141005"/>
                </a:lnTo>
                <a:lnTo>
                  <a:pt x="0" y="2141005"/>
                </a:lnTo>
                <a:lnTo>
                  <a:pt x="0" y="0"/>
                </a:lnTo>
                <a:close/>
              </a:path>
            </a:pathLst>
          </a:custGeom>
          <a:blipFill>
            <a:blip r:embed="rId41">
              <a:extLst>
                <a:ext uri="{96DAC541-7B7A-43D3-8B79-37D633B846F1}">
                  <asvg:svgBlip xmlns:asvg="http://schemas.microsoft.com/office/drawing/2016/SVG/main" r:embed="rId42"/>
                </a:ext>
              </a:extLst>
            </a:blip>
            <a:stretch>
              <a:fillRect/>
            </a:stretch>
          </a:blipFill>
        </p:spPr>
      </p:sp>
      <p:sp>
        <p:nvSpPr>
          <p:cNvPr id="25" name="Freeform 25"/>
          <p:cNvSpPr/>
          <p:nvPr/>
        </p:nvSpPr>
        <p:spPr>
          <a:xfrm rot="922608">
            <a:off x="4617859" y="329585"/>
            <a:ext cx="479131" cy="479131"/>
          </a:xfrm>
          <a:custGeom>
            <a:avLst/>
            <a:gdLst/>
            <a:ahLst/>
            <a:cxnLst/>
            <a:rect l="l" t="t" r="r" b="b"/>
            <a:pathLst>
              <a:path w="479131" h="479131">
                <a:moveTo>
                  <a:pt x="0" y="0"/>
                </a:moveTo>
                <a:lnTo>
                  <a:pt x="479131" y="0"/>
                </a:lnTo>
                <a:lnTo>
                  <a:pt x="479131" y="479132"/>
                </a:lnTo>
                <a:lnTo>
                  <a:pt x="0" y="479132"/>
                </a:lnTo>
                <a:lnTo>
                  <a:pt x="0" y="0"/>
                </a:lnTo>
                <a:close/>
              </a:path>
            </a:pathLst>
          </a:custGeom>
          <a:blipFill>
            <a:blip r:embed="rId43">
              <a:extLst>
                <a:ext uri="{96DAC541-7B7A-43D3-8B79-37D633B846F1}">
                  <asvg:svgBlip xmlns:asvg="http://schemas.microsoft.com/office/drawing/2016/SVG/main" r:embed="rId44"/>
                </a:ext>
              </a:extLst>
            </a:blip>
            <a:stretch>
              <a:fillRect/>
            </a:stretch>
          </a:blipFill>
          <a:ln cap="sq">
            <a:noFill/>
            <a:prstDash val="solid"/>
            <a:miter/>
          </a:ln>
        </p:spPr>
      </p:sp>
      <p:sp>
        <p:nvSpPr>
          <p:cNvPr id="26" name="Freeform 26"/>
          <p:cNvSpPr/>
          <p:nvPr/>
        </p:nvSpPr>
        <p:spPr>
          <a:xfrm rot="-737627">
            <a:off x="15530631" y="2567847"/>
            <a:ext cx="487589" cy="487589"/>
          </a:xfrm>
          <a:custGeom>
            <a:avLst/>
            <a:gdLst/>
            <a:ahLst/>
            <a:cxnLst/>
            <a:rect l="l" t="t" r="r" b="b"/>
            <a:pathLst>
              <a:path w="487589" h="487589">
                <a:moveTo>
                  <a:pt x="0" y="0"/>
                </a:moveTo>
                <a:lnTo>
                  <a:pt x="487588" y="0"/>
                </a:lnTo>
                <a:lnTo>
                  <a:pt x="487588" y="487588"/>
                </a:lnTo>
                <a:lnTo>
                  <a:pt x="0" y="487588"/>
                </a:lnTo>
                <a:lnTo>
                  <a:pt x="0" y="0"/>
                </a:lnTo>
                <a:close/>
              </a:path>
            </a:pathLst>
          </a:custGeom>
          <a:blipFill>
            <a:blip r:embed="rId45">
              <a:extLst>
                <a:ext uri="{96DAC541-7B7A-43D3-8B79-37D633B846F1}">
                  <asvg:svgBlip xmlns:asvg="http://schemas.microsoft.com/office/drawing/2016/SVG/main" r:embed="rId46"/>
                </a:ext>
              </a:extLst>
            </a:blip>
            <a:stretch>
              <a:fillRect/>
            </a:stretch>
          </a:blipFill>
          <a:ln cap="sq">
            <a:noFill/>
            <a:prstDash val="solid"/>
            <a:miter/>
          </a:ln>
        </p:spPr>
      </p:sp>
      <p:sp>
        <p:nvSpPr>
          <p:cNvPr id="27" name="Freeform 27"/>
          <p:cNvSpPr/>
          <p:nvPr/>
        </p:nvSpPr>
        <p:spPr>
          <a:xfrm rot="-911023">
            <a:off x="8658231" y="9416933"/>
            <a:ext cx="436253" cy="436253"/>
          </a:xfrm>
          <a:custGeom>
            <a:avLst/>
            <a:gdLst/>
            <a:ahLst/>
            <a:cxnLst/>
            <a:rect l="l" t="t" r="r" b="b"/>
            <a:pathLst>
              <a:path w="436253" h="436253">
                <a:moveTo>
                  <a:pt x="0" y="0"/>
                </a:moveTo>
                <a:lnTo>
                  <a:pt x="436253" y="0"/>
                </a:lnTo>
                <a:lnTo>
                  <a:pt x="436253" y="436253"/>
                </a:lnTo>
                <a:lnTo>
                  <a:pt x="0" y="436253"/>
                </a:lnTo>
                <a:lnTo>
                  <a:pt x="0" y="0"/>
                </a:lnTo>
                <a:close/>
              </a:path>
            </a:pathLst>
          </a:custGeom>
          <a:blipFill>
            <a:blip r:embed="rId47">
              <a:extLst>
                <a:ext uri="{96DAC541-7B7A-43D3-8B79-37D633B846F1}">
                  <asvg:svgBlip xmlns:asvg="http://schemas.microsoft.com/office/drawing/2016/SVG/main" r:embed="rId48"/>
                </a:ext>
              </a:extLst>
            </a:blip>
            <a:stretch>
              <a:fillRect/>
            </a:stretch>
          </a:blipFill>
          <a:ln cap="sq">
            <a:noFill/>
            <a:prstDash val="solid"/>
            <a:miter/>
          </a:ln>
        </p:spPr>
      </p:sp>
      <p:sp>
        <p:nvSpPr>
          <p:cNvPr id="28" name="Freeform 28"/>
          <p:cNvSpPr/>
          <p:nvPr/>
        </p:nvSpPr>
        <p:spPr>
          <a:xfrm>
            <a:off x="11403647" y="1964685"/>
            <a:ext cx="184354" cy="184354"/>
          </a:xfrm>
          <a:custGeom>
            <a:avLst/>
            <a:gdLst/>
            <a:ahLst/>
            <a:cxnLst/>
            <a:rect l="l" t="t" r="r" b="b"/>
            <a:pathLst>
              <a:path w="184354" h="184354">
                <a:moveTo>
                  <a:pt x="0" y="0"/>
                </a:moveTo>
                <a:lnTo>
                  <a:pt x="184354" y="0"/>
                </a:lnTo>
                <a:lnTo>
                  <a:pt x="184354" y="184354"/>
                </a:lnTo>
                <a:lnTo>
                  <a:pt x="0" y="184354"/>
                </a:lnTo>
                <a:lnTo>
                  <a:pt x="0" y="0"/>
                </a:lnTo>
                <a:close/>
              </a:path>
            </a:pathLst>
          </a:custGeom>
          <a:blipFill>
            <a:blip r:embed="rId49">
              <a:extLst>
                <a:ext uri="{96DAC541-7B7A-43D3-8B79-37D633B846F1}">
                  <asvg:svgBlip xmlns:asvg="http://schemas.microsoft.com/office/drawing/2016/SVG/main" r:embed="rId50"/>
                </a:ext>
              </a:extLst>
            </a:blip>
            <a:stretch>
              <a:fillRect/>
            </a:stretch>
          </a:blipFill>
          <a:ln cap="sq">
            <a:noFill/>
            <a:prstDash val="solid"/>
            <a:miter/>
          </a:ln>
        </p:spPr>
      </p:sp>
      <p:sp>
        <p:nvSpPr>
          <p:cNvPr id="29" name="Freeform 29"/>
          <p:cNvSpPr/>
          <p:nvPr/>
        </p:nvSpPr>
        <p:spPr>
          <a:xfrm>
            <a:off x="17655677" y="5001306"/>
            <a:ext cx="184354" cy="184354"/>
          </a:xfrm>
          <a:custGeom>
            <a:avLst/>
            <a:gdLst/>
            <a:ahLst/>
            <a:cxnLst/>
            <a:rect l="l" t="t" r="r" b="b"/>
            <a:pathLst>
              <a:path w="184354" h="184354">
                <a:moveTo>
                  <a:pt x="0" y="0"/>
                </a:moveTo>
                <a:lnTo>
                  <a:pt x="184354" y="0"/>
                </a:lnTo>
                <a:lnTo>
                  <a:pt x="184354" y="184354"/>
                </a:lnTo>
                <a:lnTo>
                  <a:pt x="0" y="184354"/>
                </a:lnTo>
                <a:lnTo>
                  <a:pt x="0" y="0"/>
                </a:lnTo>
                <a:close/>
              </a:path>
            </a:pathLst>
          </a:custGeom>
          <a:blipFill>
            <a:blip r:embed="rId51">
              <a:extLst>
                <a:ext uri="{96DAC541-7B7A-43D3-8B79-37D633B846F1}">
                  <asvg:svgBlip xmlns:asvg="http://schemas.microsoft.com/office/drawing/2016/SVG/main" r:embed="rId52"/>
                </a:ext>
              </a:extLst>
            </a:blip>
            <a:stretch>
              <a:fillRect/>
            </a:stretch>
          </a:blipFill>
          <a:ln cap="sq">
            <a:noFill/>
            <a:prstDash val="solid"/>
            <a:miter/>
          </a:ln>
        </p:spPr>
      </p:sp>
      <p:sp>
        <p:nvSpPr>
          <p:cNvPr id="30" name="Freeform 30"/>
          <p:cNvSpPr/>
          <p:nvPr/>
        </p:nvSpPr>
        <p:spPr>
          <a:xfrm>
            <a:off x="1877558" y="2603159"/>
            <a:ext cx="184354" cy="184354"/>
          </a:xfrm>
          <a:custGeom>
            <a:avLst/>
            <a:gdLst/>
            <a:ahLst/>
            <a:cxnLst/>
            <a:rect l="l" t="t" r="r" b="b"/>
            <a:pathLst>
              <a:path w="184354" h="184354">
                <a:moveTo>
                  <a:pt x="0" y="0"/>
                </a:moveTo>
                <a:lnTo>
                  <a:pt x="184353" y="0"/>
                </a:lnTo>
                <a:lnTo>
                  <a:pt x="184353" y="184354"/>
                </a:lnTo>
                <a:lnTo>
                  <a:pt x="0" y="184354"/>
                </a:lnTo>
                <a:lnTo>
                  <a:pt x="0" y="0"/>
                </a:lnTo>
                <a:close/>
              </a:path>
            </a:pathLst>
          </a:custGeom>
          <a:blipFill>
            <a:blip r:embed="rId53">
              <a:extLst>
                <a:ext uri="{96DAC541-7B7A-43D3-8B79-37D633B846F1}">
                  <asvg:svgBlip xmlns:asvg="http://schemas.microsoft.com/office/drawing/2016/SVG/main" r:embed="rId54"/>
                </a:ext>
              </a:extLst>
            </a:blip>
            <a:stretch>
              <a:fillRect/>
            </a:stretch>
          </a:blipFill>
          <a:ln cap="sq">
            <a:noFill/>
            <a:prstDash val="solid"/>
            <a:miter/>
          </a:ln>
        </p:spPr>
      </p:sp>
      <p:sp>
        <p:nvSpPr>
          <p:cNvPr id="31" name="Freeform 31"/>
          <p:cNvSpPr/>
          <p:nvPr/>
        </p:nvSpPr>
        <p:spPr>
          <a:xfrm>
            <a:off x="4211364" y="9258300"/>
            <a:ext cx="184354" cy="184354"/>
          </a:xfrm>
          <a:custGeom>
            <a:avLst/>
            <a:gdLst/>
            <a:ahLst/>
            <a:cxnLst/>
            <a:rect l="l" t="t" r="r" b="b"/>
            <a:pathLst>
              <a:path w="184354" h="184354">
                <a:moveTo>
                  <a:pt x="0" y="0"/>
                </a:moveTo>
                <a:lnTo>
                  <a:pt x="184354" y="0"/>
                </a:lnTo>
                <a:lnTo>
                  <a:pt x="184354" y="184354"/>
                </a:lnTo>
                <a:lnTo>
                  <a:pt x="0" y="184354"/>
                </a:lnTo>
                <a:lnTo>
                  <a:pt x="0" y="0"/>
                </a:lnTo>
                <a:close/>
              </a:path>
            </a:pathLst>
          </a:custGeom>
          <a:blipFill>
            <a:blip r:embed="rId55">
              <a:extLst>
                <a:ext uri="{96DAC541-7B7A-43D3-8B79-37D633B846F1}">
                  <asvg:svgBlip xmlns:asvg="http://schemas.microsoft.com/office/drawing/2016/SVG/main" r:embed="rId56"/>
                </a:ext>
              </a:extLst>
            </a:blip>
            <a:stretch>
              <a:fillRect/>
            </a:stretch>
          </a:blipFill>
          <a:ln cap="sq">
            <a:noFill/>
            <a:prstDash val="solid"/>
            <a:miter/>
          </a:ln>
        </p:spPr>
      </p:sp>
      <p:sp>
        <p:nvSpPr>
          <p:cNvPr id="33" name="文字方塊 32">
            <a:extLst>
              <a:ext uri="{FF2B5EF4-FFF2-40B4-BE49-F238E27FC236}">
                <a16:creationId xmlns:a16="http://schemas.microsoft.com/office/drawing/2014/main" id="{7C6248F2-D217-4DF5-95FF-5D5709EC7E54}"/>
              </a:ext>
            </a:extLst>
          </p:cNvPr>
          <p:cNvSpPr txBox="1"/>
          <p:nvPr/>
        </p:nvSpPr>
        <p:spPr>
          <a:xfrm>
            <a:off x="2905656" y="3733202"/>
            <a:ext cx="12476688" cy="1631216"/>
          </a:xfrm>
          <a:prstGeom prst="rect">
            <a:avLst/>
          </a:prstGeom>
          <a:noFill/>
        </p:spPr>
        <p:txBody>
          <a:bodyPr wrap="square">
            <a:spAutoFit/>
          </a:bodyPr>
          <a:lstStyle/>
          <a:p>
            <a:pPr algn="ctr"/>
            <a:r>
              <a:rPr lang="zh-TW" altLang="en-US" sz="10000" dirty="0">
                <a:solidFill>
                  <a:srgbClr val="F1A988"/>
                </a:solidFill>
                <a:latin typeface="Zen Maru Gothic Black" pitchFamily="2" charset="-120"/>
                <a:ea typeface="Zen Maru Gothic Black" pitchFamily="2" charset="-120"/>
              </a:rPr>
              <a:t>機</a:t>
            </a:r>
            <a:r>
              <a:rPr lang="zh-TW" altLang="en-US" sz="10000" dirty="0">
                <a:solidFill>
                  <a:srgbClr val="2FBCB7"/>
                </a:solidFill>
                <a:latin typeface="Zen Maru Gothic Black" pitchFamily="2" charset="-120"/>
                <a:ea typeface="Zen Maru Gothic Black" pitchFamily="2" charset="-120"/>
              </a:rPr>
              <a:t>器</a:t>
            </a:r>
            <a:r>
              <a:rPr lang="zh-TW" altLang="en-US" sz="10000" dirty="0">
                <a:solidFill>
                  <a:srgbClr val="3BADE3"/>
                </a:solidFill>
                <a:latin typeface="Zen Maru Gothic Black" pitchFamily="2" charset="-120"/>
                <a:ea typeface="Zen Maru Gothic Black" pitchFamily="2" charset="-120"/>
              </a:rPr>
              <a:t>學</a:t>
            </a:r>
            <a:r>
              <a:rPr lang="zh-TW" altLang="en-US" sz="10000" dirty="0">
                <a:solidFill>
                  <a:srgbClr val="94BC3D"/>
                </a:solidFill>
                <a:latin typeface="Zen Maru Gothic Black" pitchFamily="2" charset="-120"/>
                <a:ea typeface="Zen Maru Gothic Black" pitchFamily="2" charset="-120"/>
              </a:rPr>
              <a:t>習</a:t>
            </a:r>
            <a:r>
              <a:rPr lang="zh-TW" altLang="en-US" sz="10000" dirty="0">
                <a:solidFill>
                  <a:srgbClr val="9F2A22"/>
                </a:solidFill>
                <a:latin typeface="Zen Maru Gothic Black" pitchFamily="2" charset="-120"/>
                <a:ea typeface="Zen Maru Gothic Black" pitchFamily="2" charset="-120"/>
              </a:rPr>
              <a:t>與</a:t>
            </a:r>
            <a:r>
              <a:rPr lang="en-US" altLang="zh-TW" sz="10000" dirty="0" err="1">
                <a:solidFill>
                  <a:srgbClr val="CF8A29"/>
                </a:solidFill>
                <a:latin typeface="Lazydog"/>
              </a:rPr>
              <a:t>P</a:t>
            </a:r>
            <a:r>
              <a:rPr lang="en-US" altLang="zh-TW" sz="10000" dirty="0" err="1">
                <a:solidFill>
                  <a:srgbClr val="8D95B5"/>
                </a:solidFill>
                <a:latin typeface="Lazydog"/>
              </a:rPr>
              <a:t>y</a:t>
            </a:r>
            <a:r>
              <a:rPr lang="en-US" altLang="zh-TW" sz="10000" dirty="0" err="1">
                <a:solidFill>
                  <a:srgbClr val="5B1C14"/>
                </a:solidFill>
                <a:latin typeface="Lazydog"/>
              </a:rPr>
              <a:t>T</a:t>
            </a:r>
            <a:r>
              <a:rPr lang="en-US" altLang="zh-TW" sz="10000" dirty="0" err="1">
                <a:solidFill>
                  <a:srgbClr val="FBB116"/>
                </a:solidFill>
                <a:latin typeface="Lazydog"/>
              </a:rPr>
              <a:t>o</a:t>
            </a:r>
            <a:r>
              <a:rPr lang="en-US" altLang="zh-TW" sz="10000" dirty="0" err="1">
                <a:solidFill>
                  <a:srgbClr val="E25026"/>
                </a:solidFill>
                <a:latin typeface="Lazydog"/>
              </a:rPr>
              <a:t>r</a:t>
            </a:r>
            <a:r>
              <a:rPr lang="en-US" altLang="zh-TW" sz="10000" dirty="0" err="1">
                <a:solidFill>
                  <a:srgbClr val="BA254F"/>
                </a:solidFill>
                <a:latin typeface="Lazydog"/>
              </a:rPr>
              <a:t>c</a:t>
            </a:r>
            <a:r>
              <a:rPr lang="en-US" altLang="zh-TW" sz="10000" dirty="0" err="1">
                <a:solidFill>
                  <a:srgbClr val="4E893F"/>
                </a:solidFill>
                <a:latin typeface="Lazydog"/>
              </a:rPr>
              <a:t>h</a:t>
            </a:r>
            <a:endParaRPr lang="zh-TW" altLang="en-US" sz="10000" dirty="0">
              <a:solidFill>
                <a:srgbClr val="4E893F"/>
              </a:solidFill>
              <a:latin typeface="Lazydog"/>
            </a:endParaRPr>
          </a:p>
        </p:txBody>
      </p:sp>
      <p:sp>
        <p:nvSpPr>
          <p:cNvPr id="32" name="TextBox 24">
            <a:extLst>
              <a:ext uri="{FF2B5EF4-FFF2-40B4-BE49-F238E27FC236}">
                <a16:creationId xmlns:a16="http://schemas.microsoft.com/office/drawing/2014/main" id="{0C5BD0E8-64CF-4919-A86C-5A137D534EA9}"/>
              </a:ext>
            </a:extLst>
          </p:cNvPr>
          <p:cNvSpPr txBox="1"/>
          <p:nvPr/>
        </p:nvSpPr>
        <p:spPr>
          <a:xfrm>
            <a:off x="5393657" y="6250349"/>
            <a:ext cx="10025896" cy="984885"/>
          </a:xfrm>
          <a:prstGeom prst="rect">
            <a:avLst/>
          </a:prstGeom>
        </p:spPr>
        <p:txBody>
          <a:bodyPr wrap="square" lIns="0" tIns="0" rIns="0" bIns="0" rtlCol="0" anchor="t">
            <a:spAutoFit/>
          </a:bodyPr>
          <a:lstStyle/>
          <a:p>
            <a:pPr algn="just" rtl="0"/>
            <a:r>
              <a:rPr lang="zh-CN" altLang="en-US" sz="3200" b="1" dirty="0">
                <a:latin typeface="Noto Sans HK DemiLight" panose="020B0200000000000000" pitchFamily="34" charset="-120"/>
                <a:ea typeface="Noto Sans HK DemiLight" panose="020B0200000000000000" pitchFamily="34" charset="-120"/>
                <a:cs typeface="Microsoft Himalaya" panose="01010100010101010101" pitchFamily="2" charset="0"/>
              </a:rPr>
              <a:t>授課老師：謝易錚 </a:t>
            </a:r>
            <a:r>
              <a:rPr lang="en-US" altLang="zh-CN" sz="3200" b="1" dirty="0">
                <a:latin typeface="Noto Sans HK DemiLight" panose="020B0200000000000000" pitchFamily="34" charset="-120"/>
                <a:ea typeface="Noto Sans HK DemiLight" panose="020B0200000000000000" pitchFamily="34" charset="-120"/>
                <a:cs typeface="Microsoft Himalaya" panose="01010100010101010101" pitchFamily="2" charset="0"/>
              </a:rPr>
              <a:t>(yzshieh@mail.ntust.edu.tw)</a:t>
            </a:r>
          </a:p>
          <a:p>
            <a:pPr algn="just" rtl="0"/>
            <a:r>
              <a:rPr lang="zh-CN" altLang="en-US" sz="3200" b="1" dirty="0">
                <a:latin typeface="Noto Sans HK DemiLight" panose="020B0200000000000000" pitchFamily="34" charset="-120"/>
                <a:ea typeface="Noto Sans HK DemiLight" panose="020B0200000000000000" pitchFamily="34" charset="-120"/>
                <a:cs typeface="Microsoft Himalaya" panose="01010100010101010101" pitchFamily="2" charset="0"/>
              </a:rPr>
              <a:t>助</a:t>
            </a:r>
            <a:r>
              <a:rPr lang="zh-TW" altLang="en-US" sz="3200" b="1" dirty="0">
                <a:latin typeface="Noto Sans HK DemiLight" panose="020B0200000000000000" pitchFamily="34" charset="-120"/>
                <a:ea typeface="Noto Sans HK DemiLight" panose="020B0200000000000000" pitchFamily="34" charset="-120"/>
                <a:cs typeface="Microsoft Himalaya" panose="01010100010101010101" pitchFamily="2" charset="0"/>
              </a:rPr>
              <a:t>         </a:t>
            </a:r>
            <a:r>
              <a:rPr lang="zh-CN" altLang="en-US" sz="3200" b="1" dirty="0">
                <a:latin typeface="Noto Sans HK DemiLight" panose="020B0200000000000000" pitchFamily="34" charset="-120"/>
                <a:ea typeface="Noto Sans HK DemiLight" panose="020B0200000000000000" pitchFamily="34" charset="-120"/>
                <a:cs typeface="Microsoft Himalaya" panose="01010100010101010101" pitchFamily="2" charset="0"/>
              </a:rPr>
              <a:t>教：</a:t>
            </a:r>
            <a:r>
              <a:rPr lang="zh-TW" altLang="en-US" sz="3200" b="1" dirty="0">
                <a:latin typeface="Noto Sans HK DemiLight" panose="020B0200000000000000" pitchFamily="34" charset="-120"/>
                <a:ea typeface="Noto Sans HK DemiLight" panose="020B0200000000000000" pitchFamily="34" charset="-120"/>
                <a:cs typeface="Microsoft Himalaya" panose="01010100010101010101" pitchFamily="2" charset="0"/>
              </a:rPr>
              <a:t>李易 </a:t>
            </a:r>
            <a:r>
              <a:rPr lang="en-US" altLang="zh-CN" sz="3200" b="1" dirty="0">
                <a:latin typeface="Noto Sans HK DemiLight" panose="020B0200000000000000" pitchFamily="34" charset="-120"/>
                <a:ea typeface="Noto Sans HK DemiLight" panose="020B0200000000000000" pitchFamily="34" charset="-120"/>
                <a:cs typeface="Microsoft Himalaya" panose="01010100010101010101" pitchFamily="2" charset="0"/>
              </a:rPr>
              <a:t>(</a:t>
            </a:r>
            <a:r>
              <a:rPr lang="en-US" altLang="zh-TW" sz="3200" b="1" dirty="0">
                <a:latin typeface="Noto Sans HK DemiLight" panose="020B0200000000000000" pitchFamily="34" charset="-120"/>
                <a:ea typeface="Noto Sans HK DemiLight" panose="020B0200000000000000" pitchFamily="34" charset="-120"/>
                <a:cs typeface="Microsoft Himalaya" panose="01010100010101010101" pitchFamily="2" charset="0"/>
              </a:rPr>
              <a:t>D11507002@mail.ntust.edu.tw)</a:t>
            </a:r>
            <a:endParaRPr lang="en-US" altLang="zh-CN" sz="3200" b="1" dirty="0">
              <a:latin typeface="Noto Sans HK DemiLight" panose="020B0200000000000000" pitchFamily="34" charset="-120"/>
              <a:ea typeface="Noto Sans HK DemiLight" panose="020B0200000000000000" pitchFamily="34" charset="-120"/>
              <a:cs typeface="Microsoft Himalaya" panose="01010100010101010101" pitchFamily="2" charset="0"/>
            </a:endParaRPr>
          </a:p>
        </p:txBody>
      </p:sp>
      <p:sp>
        <p:nvSpPr>
          <p:cNvPr id="34" name="文字方塊 33">
            <a:extLst>
              <a:ext uri="{FF2B5EF4-FFF2-40B4-BE49-F238E27FC236}">
                <a16:creationId xmlns:a16="http://schemas.microsoft.com/office/drawing/2014/main" id="{6E954A19-151E-4A1F-8A5E-48A068FB5120}"/>
              </a:ext>
            </a:extLst>
          </p:cNvPr>
          <p:cNvSpPr txBox="1"/>
          <p:nvPr/>
        </p:nvSpPr>
        <p:spPr>
          <a:xfrm>
            <a:off x="7321289" y="7185245"/>
            <a:ext cx="11183256" cy="584775"/>
          </a:xfrm>
          <a:prstGeom prst="rect">
            <a:avLst/>
          </a:prstGeom>
          <a:noFill/>
        </p:spPr>
        <p:txBody>
          <a:bodyPr wrap="square">
            <a:spAutoFit/>
          </a:bodyPr>
          <a:lstStyle/>
          <a:p>
            <a:r>
              <a:rPr lang="zh-TW" altLang="en-US" sz="3200" b="1" dirty="0">
                <a:latin typeface="Noto Sans HK DemiLight" panose="020B0200000000000000" pitchFamily="34" charset="-120"/>
                <a:ea typeface="Noto Sans HK DemiLight" panose="020B0200000000000000" pitchFamily="34" charset="-120"/>
                <a:cs typeface="Microsoft Himalaya" panose="01010100010101010101" pitchFamily="2" charset="0"/>
              </a:rPr>
              <a:t>柳予謀 </a:t>
            </a:r>
            <a:r>
              <a:rPr lang="en-US" altLang="zh-CN" sz="3200" b="1" dirty="0">
                <a:latin typeface="Noto Sans HK DemiLight" panose="020B0200000000000000" pitchFamily="34" charset="-120"/>
                <a:ea typeface="Noto Sans HK DemiLight" panose="020B0200000000000000" pitchFamily="34" charset="-120"/>
                <a:cs typeface="Microsoft Himalaya" panose="01010100010101010101" pitchFamily="2" charset="0"/>
              </a:rPr>
              <a:t>(</a:t>
            </a:r>
            <a:r>
              <a:rPr lang="en-US" altLang="zh-TW" sz="3200" b="1" dirty="0">
                <a:latin typeface="Noto Sans HK DemiLight" panose="020B0200000000000000" pitchFamily="34" charset="-120"/>
                <a:ea typeface="Noto Sans HK DemiLight" panose="020B0200000000000000" pitchFamily="34" charset="-120"/>
                <a:cs typeface="Microsoft Himalaya" panose="01010100010101010101" pitchFamily="2" charset="0"/>
              </a:rPr>
              <a:t>D11507005@mail.ntust.edu.tw</a:t>
            </a:r>
            <a:r>
              <a:rPr lang="en-US" altLang="zh-CN" sz="3200" b="1" dirty="0">
                <a:latin typeface="Noto Sans HK DemiLight" panose="020B0200000000000000" pitchFamily="34" charset="-120"/>
                <a:ea typeface="Noto Sans HK DemiLight" panose="020B0200000000000000" pitchFamily="34" charset="-120"/>
                <a:cs typeface="Microsoft Himalaya" panose="01010100010101010101" pitchFamily="2" charset="0"/>
              </a:rPr>
              <a:t>)</a:t>
            </a:r>
            <a:endParaRPr lang="zh-TW" altLang="en-US"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1" name="TextBox 31"/>
          <p:cNvSpPr txBox="1"/>
          <p:nvPr/>
        </p:nvSpPr>
        <p:spPr>
          <a:xfrm>
            <a:off x="2227749" y="909271"/>
            <a:ext cx="5985346" cy="1083505"/>
          </a:xfrm>
          <a:prstGeom prst="rect">
            <a:avLst/>
          </a:prstGeom>
        </p:spPr>
        <p:txBody>
          <a:bodyPr lIns="0" tIns="0" rIns="0" bIns="0" rtlCol="0" anchor="t">
            <a:spAutoFit/>
          </a:bodyPr>
          <a:lstStyle/>
          <a:p>
            <a:pPr marL="0" lvl="0" indent="0">
              <a:lnSpc>
                <a:spcPts val="8157"/>
              </a:lnSpc>
              <a:spcBef>
                <a:spcPct val="0"/>
              </a:spcBef>
            </a:pPr>
            <a:r>
              <a:rPr lang="zh-TW" altLang="en-US" sz="7200" dirty="0">
                <a:solidFill>
                  <a:srgbClr val="3F2619"/>
                </a:solidFill>
                <a:latin typeface="Chiron GoRound TC ExtraBold" pitchFamily="2" charset="-120"/>
                <a:ea typeface="Chiron GoRound TC ExtraBold" pitchFamily="2" charset="-120"/>
                <a:cs typeface="Lazydog"/>
                <a:sym typeface="Lazydog"/>
              </a:rPr>
              <a:t>課程說明</a:t>
            </a:r>
            <a:endParaRPr lang="en-US" sz="7200" u="none" strike="noStrike" dirty="0">
              <a:solidFill>
                <a:srgbClr val="3F2619"/>
              </a:solidFill>
              <a:latin typeface="Chiron GoRound TC ExtraBold" pitchFamily="2" charset="-120"/>
              <a:ea typeface="Chiron GoRound TC ExtraBold" pitchFamily="2" charset="-120"/>
              <a:cs typeface="Lazydog"/>
              <a:sym typeface="Lazydog"/>
            </a:endParaRPr>
          </a:p>
        </p:txBody>
      </p:sp>
      <p:sp>
        <p:nvSpPr>
          <p:cNvPr id="32" name="TextBox 30">
            <a:extLst>
              <a:ext uri="{FF2B5EF4-FFF2-40B4-BE49-F238E27FC236}">
                <a16:creationId xmlns:a16="http://schemas.microsoft.com/office/drawing/2014/main" id="{8783CD25-3D47-4753-B965-45088A27DAB1}"/>
              </a:ext>
            </a:extLst>
          </p:cNvPr>
          <p:cNvSpPr txBox="1"/>
          <p:nvPr/>
        </p:nvSpPr>
        <p:spPr>
          <a:xfrm>
            <a:off x="2227749" y="2294444"/>
            <a:ext cx="15392400" cy="7690888"/>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zh-TW" altLang="en-US" sz="2800" dirty="0">
                <a:solidFill>
                  <a:srgbClr val="3F2619"/>
                </a:solidFill>
                <a:latin typeface="Noto Sans SC Medium" panose="020B0200000000000000" pitchFamily="34" charset="-128"/>
                <a:ea typeface="Noto Sans SC Medium" panose="020B0200000000000000" pitchFamily="34" charset="-128"/>
              </a:rPr>
              <a:t>簽到點名 </a:t>
            </a:r>
            <a:r>
              <a:rPr lang="en-US" altLang="zh-TW" sz="2800" dirty="0">
                <a:solidFill>
                  <a:srgbClr val="3F2619"/>
                </a:solidFill>
                <a:latin typeface="Noto Sans SC Medium" panose="020B0200000000000000" pitchFamily="34" charset="-128"/>
                <a:ea typeface="Noto Sans SC Medium" panose="020B0200000000000000" pitchFamily="34" charset="-128"/>
              </a:rPr>
              <a:t>10%</a:t>
            </a:r>
            <a:endParaRPr lang="en-US" altLang="zh-CN" sz="2800" dirty="0">
              <a:solidFill>
                <a:srgbClr val="3F2619"/>
              </a:solidFill>
              <a:latin typeface="Noto Sans SC Medium" panose="020B0200000000000000" pitchFamily="34" charset="-128"/>
              <a:ea typeface="Noto Sans SC Medium" panose="020B0200000000000000" pitchFamily="34" charset="-128"/>
            </a:endParaRPr>
          </a:p>
          <a:p>
            <a:pPr marL="285750" indent="-285750">
              <a:lnSpc>
                <a:spcPct val="150000"/>
              </a:lnSpc>
              <a:buFont typeface="Wingdings" panose="05000000000000000000" pitchFamily="2" charset="2"/>
              <a:buChar char="l"/>
            </a:pPr>
            <a:r>
              <a:rPr lang="zh-CN" altLang="en-US" sz="2800" dirty="0">
                <a:solidFill>
                  <a:srgbClr val="3F2619"/>
                </a:solidFill>
                <a:latin typeface="Noto Sans SC Medium" panose="020B0200000000000000" pitchFamily="34" charset="-128"/>
                <a:ea typeface="Noto Sans SC Medium" panose="020B0200000000000000" pitchFamily="34" charset="-128"/>
              </a:rPr>
              <a:t>課堂作業</a:t>
            </a:r>
            <a:r>
              <a:rPr lang="zh-TW" altLang="en-US" sz="2800" dirty="0">
                <a:solidFill>
                  <a:srgbClr val="3F2619"/>
                </a:solidFill>
                <a:latin typeface="Noto Sans SC Medium" panose="020B0200000000000000" pitchFamily="34" charset="-128"/>
                <a:ea typeface="Noto Sans SC Medium" panose="020B0200000000000000" pitchFamily="34" charset="-128"/>
              </a:rPr>
              <a:t> </a:t>
            </a:r>
            <a:r>
              <a:rPr lang="en-US" altLang="zh-TW" sz="2800" dirty="0">
                <a:solidFill>
                  <a:srgbClr val="3F2619"/>
                </a:solidFill>
                <a:latin typeface="Noto Sans SC Medium" panose="020B0200000000000000" pitchFamily="34" charset="-128"/>
                <a:ea typeface="Noto Sans SC Medium" panose="020B0200000000000000" pitchFamily="34" charset="-128"/>
              </a:rPr>
              <a:t>30%</a:t>
            </a:r>
            <a:endParaRPr lang="en-US" altLang="zh-CN" sz="2800" dirty="0">
              <a:solidFill>
                <a:srgbClr val="3F2619"/>
              </a:solidFill>
              <a:latin typeface="Noto Sans SC Medium" panose="020B0200000000000000" pitchFamily="34" charset="-128"/>
              <a:ea typeface="Noto Sans SC Medium" panose="020B0200000000000000" pitchFamily="34" charset="-128"/>
            </a:endParaRPr>
          </a:p>
          <a:p>
            <a:pPr marL="800100" lvl="1" indent="-342900">
              <a:lnSpc>
                <a:spcPct val="150000"/>
              </a:lnSpc>
              <a:buFont typeface="Arial" panose="020B0604020202020204" pitchFamily="34" charset="0"/>
              <a:buChar char="•"/>
            </a:pPr>
            <a:r>
              <a:rPr lang="zh-TW" altLang="en-US" sz="2400" dirty="0">
                <a:solidFill>
                  <a:srgbClr val="3F2619"/>
                </a:solidFill>
                <a:latin typeface="Noto Sans HK DemiLight" panose="020B0200000000000000" pitchFamily="34" charset="-120"/>
                <a:ea typeface="Noto Sans HK DemiLight" panose="020B0200000000000000" pitchFamily="34" charset="-120"/>
              </a:rPr>
              <a:t>原則上每週於課堂上完成作業，助教檢查後即可下課</a:t>
            </a:r>
            <a:endParaRPr lang="en-US" altLang="zh-TW" sz="2400" dirty="0">
              <a:solidFill>
                <a:srgbClr val="3F2619"/>
              </a:solidFill>
              <a:latin typeface="Noto Sans HK DemiLight" panose="020B0200000000000000" pitchFamily="34" charset="-120"/>
              <a:ea typeface="Noto Sans HK DemiLight" panose="020B0200000000000000" pitchFamily="34" charset="-120"/>
            </a:endParaRPr>
          </a:p>
          <a:p>
            <a:pPr marL="800100" lvl="1" indent="-342900">
              <a:lnSpc>
                <a:spcPct val="150000"/>
              </a:lnSpc>
              <a:buFont typeface="Arial" panose="020B0604020202020204" pitchFamily="34" charset="0"/>
              <a:buChar char="•"/>
            </a:pPr>
            <a:r>
              <a:rPr lang="zh-TW" altLang="en-US" sz="2400" dirty="0">
                <a:solidFill>
                  <a:srgbClr val="3F2619"/>
                </a:solidFill>
                <a:latin typeface="Noto Sans HK DemiLight" panose="020B0200000000000000" pitchFamily="34" charset="-120"/>
                <a:ea typeface="Noto Sans HK DemiLight" panose="020B0200000000000000" pitchFamily="34" charset="-120"/>
              </a:rPr>
              <a:t>若無法現場完成者，可回家繼續撰寫，並在規定時間內繳交</a:t>
            </a:r>
            <a:endParaRPr lang="en-US" altLang="zh-TW" sz="2400" dirty="0">
              <a:solidFill>
                <a:srgbClr val="3F2619"/>
              </a:solidFill>
              <a:latin typeface="Noto Sans HK DemiLight" panose="020B0200000000000000" pitchFamily="34" charset="-120"/>
              <a:ea typeface="Noto Sans HK DemiLight" panose="020B0200000000000000" pitchFamily="34" charset="-120"/>
            </a:endParaRPr>
          </a:p>
          <a:p>
            <a:pPr marL="800100" lvl="1" indent="-342900">
              <a:lnSpc>
                <a:spcPct val="150000"/>
              </a:lnSpc>
              <a:buFont typeface="Arial" panose="020B0604020202020204" pitchFamily="34" charset="0"/>
              <a:buChar char="•"/>
            </a:pPr>
            <a:r>
              <a:rPr lang="zh-TW" altLang="en-US" sz="2400" dirty="0">
                <a:solidFill>
                  <a:srgbClr val="3F2619"/>
                </a:solidFill>
                <a:latin typeface="Noto Sans HK DemiLight" panose="020B0200000000000000" pitchFamily="34" charset="-120"/>
                <a:ea typeface="Noto Sans HK DemiLight" panose="020B0200000000000000" pitchFamily="34" charset="-120"/>
              </a:rPr>
              <a:t>課堂上完成者，分數給予加分；課堂後繳交者，越早交分數越高</a:t>
            </a:r>
            <a:endParaRPr lang="en-US" altLang="zh-TW" sz="2400" dirty="0">
              <a:solidFill>
                <a:srgbClr val="3F2619"/>
              </a:solidFill>
              <a:latin typeface="Noto Sans HK DemiLight" panose="020B0200000000000000" pitchFamily="34" charset="-120"/>
              <a:ea typeface="Noto Sans HK DemiLight" panose="020B0200000000000000" pitchFamily="34" charset="-120"/>
            </a:endParaRPr>
          </a:p>
          <a:p>
            <a:pPr marL="285750" indent="-285750">
              <a:lnSpc>
                <a:spcPct val="150000"/>
              </a:lnSpc>
              <a:buFont typeface="Wingdings" panose="05000000000000000000" pitchFamily="2" charset="2"/>
              <a:buChar char="l"/>
            </a:pPr>
            <a:r>
              <a:rPr lang="zh-TW" altLang="en-US" sz="2800" dirty="0">
                <a:solidFill>
                  <a:srgbClr val="3F2619"/>
                </a:solidFill>
                <a:latin typeface="Noto Sans SC Medium" panose="020B0200000000000000" pitchFamily="34" charset="-128"/>
                <a:ea typeface="Noto Sans SC Medium" panose="020B0200000000000000" pitchFamily="34" charset="-128"/>
              </a:rPr>
              <a:t>期中上機考 </a:t>
            </a:r>
            <a:r>
              <a:rPr lang="en-US" altLang="zh-TW" sz="2800" dirty="0">
                <a:solidFill>
                  <a:srgbClr val="3F2619"/>
                </a:solidFill>
                <a:latin typeface="Noto Sans SC Medium" panose="020B0200000000000000" pitchFamily="34" charset="-128"/>
                <a:ea typeface="Noto Sans SC Medium" panose="020B0200000000000000" pitchFamily="34" charset="-128"/>
              </a:rPr>
              <a:t>15%</a:t>
            </a:r>
          </a:p>
          <a:p>
            <a:pPr marL="285750" indent="-285750">
              <a:lnSpc>
                <a:spcPct val="150000"/>
              </a:lnSpc>
              <a:buFont typeface="Wingdings" panose="05000000000000000000" pitchFamily="2" charset="2"/>
              <a:buChar char="l"/>
            </a:pPr>
            <a:r>
              <a:rPr lang="zh-TW" altLang="en-US" sz="2800" dirty="0">
                <a:solidFill>
                  <a:srgbClr val="3F2619"/>
                </a:solidFill>
                <a:latin typeface="Noto Sans SC Medium" panose="020B0200000000000000" pitchFamily="34" charset="-128"/>
                <a:ea typeface="Noto Sans SC Medium" panose="020B0200000000000000" pitchFamily="34" charset="-128"/>
              </a:rPr>
              <a:t>期中程式專案 </a:t>
            </a:r>
            <a:r>
              <a:rPr lang="en-US" altLang="zh-TW" sz="2800" dirty="0">
                <a:solidFill>
                  <a:srgbClr val="3F2619"/>
                </a:solidFill>
                <a:latin typeface="Noto Sans SC Medium" panose="020B0200000000000000" pitchFamily="34" charset="-128"/>
                <a:ea typeface="Noto Sans SC Medium" panose="020B0200000000000000" pitchFamily="34" charset="-128"/>
              </a:rPr>
              <a:t>15%</a:t>
            </a:r>
            <a:r>
              <a:rPr lang="zh-TW" altLang="en-US" sz="2800" dirty="0">
                <a:solidFill>
                  <a:srgbClr val="3F2619"/>
                </a:solidFill>
                <a:latin typeface="Noto Sans SC Medium" panose="020B0200000000000000" pitchFamily="34" charset="-128"/>
                <a:ea typeface="Noto Sans SC Medium" panose="020B0200000000000000" pitchFamily="34" charset="-128"/>
              </a:rPr>
              <a:t>（不分組）</a:t>
            </a:r>
            <a:endParaRPr lang="en-US" altLang="zh-TW" sz="2800" dirty="0">
              <a:solidFill>
                <a:srgbClr val="3F2619"/>
              </a:solidFill>
              <a:latin typeface="Noto Sans SC Medium" panose="020B0200000000000000" pitchFamily="34" charset="-128"/>
              <a:ea typeface="Noto Sans SC Medium" panose="020B0200000000000000" pitchFamily="34" charset="-128"/>
            </a:endParaRPr>
          </a:p>
          <a:p>
            <a:pPr marL="800100" lvl="1" indent="-342900">
              <a:lnSpc>
                <a:spcPct val="150000"/>
              </a:lnSpc>
              <a:buFont typeface="Arial" panose="020B0604020202020204" pitchFamily="34" charset="0"/>
              <a:buChar char="•"/>
            </a:pPr>
            <a:r>
              <a:rPr lang="zh-TW" altLang="en-US" sz="2400" dirty="0">
                <a:solidFill>
                  <a:srgbClr val="3F2619"/>
                </a:solidFill>
                <a:latin typeface="Noto Sans HK DemiLight" panose="020B0200000000000000" pitchFamily="34" charset="-120"/>
                <a:ea typeface="Noto Sans HK DemiLight" panose="020B0200000000000000" pitchFamily="34" charset="-120"/>
              </a:rPr>
              <a:t>個人程式專案，需運用課堂所學自行選定主題</a:t>
            </a:r>
            <a:endParaRPr lang="en-US" altLang="zh-TW" sz="2400" dirty="0">
              <a:solidFill>
                <a:srgbClr val="3F2619"/>
              </a:solidFill>
              <a:latin typeface="Noto Sans HK DemiLight" panose="020B0200000000000000" pitchFamily="34" charset="-120"/>
              <a:ea typeface="Noto Sans HK DemiLight" panose="020B0200000000000000" pitchFamily="34" charset="-120"/>
            </a:endParaRPr>
          </a:p>
          <a:p>
            <a:pPr marL="800100" lvl="1" indent="-342900">
              <a:lnSpc>
                <a:spcPct val="150000"/>
              </a:lnSpc>
              <a:buFont typeface="Arial" panose="020B0604020202020204" pitchFamily="34" charset="0"/>
              <a:buChar char="•"/>
            </a:pPr>
            <a:r>
              <a:rPr lang="zh-TW" altLang="en-US" sz="2400" dirty="0">
                <a:solidFill>
                  <a:srgbClr val="3F2619"/>
                </a:solidFill>
                <a:latin typeface="Noto Sans HK DemiLight" panose="020B0200000000000000" pitchFamily="34" charset="-120"/>
                <a:ea typeface="Noto Sans HK DemiLight" panose="020B0200000000000000" pitchFamily="34" charset="-120"/>
              </a:rPr>
              <a:t>另需額外預約報告時間，現場執行程式並且說明程式碼內容</a:t>
            </a:r>
            <a:endParaRPr lang="en-US" altLang="zh-TW" sz="2400" dirty="0">
              <a:solidFill>
                <a:srgbClr val="3F2619"/>
              </a:solidFill>
              <a:latin typeface="Noto Sans HK DemiLight" panose="020B0200000000000000" pitchFamily="34" charset="-120"/>
              <a:ea typeface="Noto Sans HK DemiLight" panose="020B0200000000000000" pitchFamily="34" charset="-120"/>
            </a:endParaRPr>
          </a:p>
          <a:p>
            <a:pPr marL="285750" indent="-285750">
              <a:lnSpc>
                <a:spcPct val="150000"/>
              </a:lnSpc>
              <a:buFont typeface="Wingdings" panose="05000000000000000000" pitchFamily="2" charset="2"/>
              <a:buChar char="l"/>
            </a:pPr>
            <a:r>
              <a:rPr lang="zh-TW" altLang="en-US" sz="2800" dirty="0">
                <a:solidFill>
                  <a:srgbClr val="3F2619"/>
                </a:solidFill>
                <a:latin typeface="Noto Sans SC Medium" panose="020B0200000000000000" pitchFamily="34" charset="-128"/>
                <a:ea typeface="Noto Sans SC Medium" panose="020B0200000000000000" pitchFamily="34" charset="-128"/>
              </a:rPr>
              <a:t>期末上機考 </a:t>
            </a:r>
            <a:r>
              <a:rPr lang="en-US" altLang="zh-TW" sz="2800" dirty="0">
                <a:solidFill>
                  <a:srgbClr val="3F2619"/>
                </a:solidFill>
                <a:latin typeface="Noto Sans SC Medium" panose="020B0200000000000000" pitchFamily="34" charset="-128"/>
                <a:ea typeface="Noto Sans SC Medium" panose="020B0200000000000000" pitchFamily="34" charset="-128"/>
              </a:rPr>
              <a:t>15%</a:t>
            </a:r>
          </a:p>
          <a:p>
            <a:pPr marL="285750" indent="-285750">
              <a:lnSpc>
                <a:spcPct val="150000"/>
              </a:lnSpc>
              <a:buFont typeface="Wingdings" panose="05000000000000000000" pitchFamily="2" charset="2"/>
              <a:buChar char="l"/>
            </a:pPr>
            <a:r>
              <a:rPr lang="zh-TW" altLang="en-US" sz="2800" dirty="0">
                <a:solidFill>
                  <a:srgbClr val="3F2619"/>
                </a:solidFill>
                <a:latin typeface="Noto Sans SC Medium" panose="020B0200000000000000" pitchFamily="34" charset="-128"/>
                <a:ea typeface="Noto Sans SC Medium" panose="020B0200000000000000" pitchFamily="34" charset="-128"/>
              </a:rPr>
              <a:t>期末程式專案 </a:t>
            </a:r>
            <a:r>
              <a:rPr lang="en-US" altLang="zh-TW" sz="2800" dirty="0">
                <a:solidFill>
                  <a:srgbClr val="3F2619"/>
                </a:solidFill>
                <a:latin typeface="Noto Sans SC Medium" panose="020B0200000000000000" pitchFamily="34" charset="-128"/>
                <a:ea typeface="Noto Sans SC Medium" panose="020B0200000000000000" pitchFamily="34" charset="-128"/>
              </a:rPr>
              <a:t>15%</a:t>
            </a:r>
            <a:r>
              <a:rPr lang="zh-TW" altLang="en-US" sz="2800" dirty="0">
                <a:solidFill>
                  <a:srgbClr val="3F2619"/>
                </a:solidFill>
                <a:latin typeface="Noto Sans SC Medium" panose="020B0200000000000000" pitchFamily="34" charset="-128"/>
                <a:ea typeface="Noto Sans SC Medium" panose="020B0200000000000000" pitchFamily="34" charset="-128"/>
              </a:rPr>
              <a:t>（不分組）</a:t>
            </a:r>
            <a:endParaRPr lang="en-US" altLang="zh-TW" sz="2800" dirty="0">
              <a:solidFill>
                <a:srgbClr val="3F2619"/>
              </a:solidFill>
              <a:latin typeface="Noto Sans SC Medium" panose="020B0200000000000000" pitchFamily="34" charset="-128"/>
              <a:ea typeface="Noto Sans SC Medium" panose="020B0200000000000000" pitchFamily="34" charset="-128"/>
            </a:endParaRPr>
          </a:p>
          <a:p>
            <a:pPr marL="800100" lvl="1" indent="-342900">
              <a:lnSpc>
                <a:spcPct val="150000"/>
              </a:lnSpc>
              <a:buFont typeface="Arial" panose="020B0604020202020204" pitchFamily="34" charset="0"/>
              <a:buChar char="•"/>
            </a:pPr>
            <a:r>
              <a:rPr lang="zh-TW" altLang="en-US" sz="2400" dirty="0">
                <a:solidFill>
                  <a:srgbClr val="3F2619"/>
                </a:solidFill>
                <a:latin typeface="Noto Sans HK DemiLight" panose="020B0200000000000000" pitchFamily="34" charset="-120"/>
                <a:ea typeface="Noto Sans HK DemiLight" panose="020B0200000000000000" pitchFamily="34" charset="-120"/>
              </a:rPr>
              <a:t>個人程式專案，需運用課堂所學自行選定主題</a:t>
            </a:r>
            <a:endParaRPr lang="en-US" altLang="zh-TW" sz="2400" dirty="0">
              <a:solidFill>
                <a:srgbClr val="3F2619"/>
              </a:solidFill>
              <a:latin typeface="Noto Sans HK DemiLight" panose="020B0200000000000000" pitchFamily="34" charset="-120"/>
              <a:ea typeface="Noto Sans HK DemiLight" panose="020B0200000000000000" pitchFamily="34" charset="-120"/>
            </a:endParaRPr>
          </a:p>
          <a:p>
            <a:pPr marL="800100" lvl="1" indent="-342900">
              <a:lnSpc>
                <a:spcPct val="150000"/>
              </a:lnSpc>
              <a:buFont typeface="Arial" panose="020B0604020202020204" pitchFamily="34" charset="0"/>
              <a:buChar char="•"/>
            </a:pPr>
            <a:r>
              <a:rPr lang="zh-TW" altLang="en-US" sz="2400" dirty="0">
                <a:solidFill>
                  <a:srgbClr val="3F2619"/>
                </a:solidFill>
                <a:latin typeface="Noto Sans HK DemiLight" panose="020B0200000000000000" pitchFamily="34" charset="-120"/>
                <a:ea typeface="Noto Sans HK DemiLight" panose="020B0200000000000000" pitchFamily="34" charset="-120"/>
              </a:rPr>
              <a:t>另需額外預約報告時間，現場執行程式並且說明程式碼內容</a:t>
            </a:r>
            <a:endParaRPr lang="en-US" altLang="zh-TW" sz="2400" dirty="0">
              <a:solidFill>
                <a:srgbClr val="3F2619"/>
              </a:solidFill>
              <a:latin typeface="Noto Sans HK DemiLight" panose="020B0200000000000000" pitchFamily="34" charset="-120"/>
              <a:ea typeface="Noto Sans HK DemiLight" panose="020B0200000000000000" pitchFamily="34" charset="-120"/>
            </a:endParaRPr>
          </a:p>
        </p:txBody>
      </p:sp>
      <p:sp>
        <p:nvSpPr>
          <p:cNvPr id="6" name="Freeform 10">
            <a:extLst>
              <a:ext uri="{FF2B5EF4-FFF2-40B4-BE49-F238E27FC236}">
                <a16:creationId xmlns:a16="http://schemas.microsoft.com/office/drawing/2014/main" id="{3106AEF3-2F6A-46CD-A879-2AEA1DBA7911}"/>
              </a:ext>
            </a:extLst>
          </p:cNvPr>
          <p:cNvSpPr/>
          <p:nvPr/>
        </p:nvSpPr>
        <p:spPr>
          <a:xfrm>
            <a:off x="8965" y="178092"/>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pic>
        <p:nvPicPr>
          <p:cNvPr id="7" name="圖片 6">
            <a:extLst>
              <a:ext uri="{FF2B5EF4-FFF2-40B4-BE49-F238E27FC236}">
                <a16:creationId xmlns:a16="http://schemas.microsoft.com/office/drawing/2014/main" id="{E43FFF78-5266-4E7A-BF16-5DCB3FA0FAB4}"/>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Tree>
    <p:extLst>
      <p:ext uri="{BB962C8B-B14F-4D97-AF65-F5344CB8AC3E}">
        <p14:creationId xmlns:p14="http://schemas.microsoft.com/office/powerpoint/2010/main" val="4168926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1" name="TextBox 31"/>
          <p:cNvSpPr txBox="1"/>
          <p:nvPr/>
        </p:nvSpPr>
        <p:spPr>
          <a:xfrm>
            <a:off x="2227748" y="909271"/>
            <a:ext cx="6916251" cy="1083505"/>
          </a:xfrm>
          <a:prstGeom prst="rect">
            <a:avLst/>
          </a:prstGeom>
        </p:spPr>
        <p:txBody>
          <a:bodyPr wrap="square" lIns="0" tIns="0" rIns="0" bIns="0" rtlCol="0" anchor="t">
            <a:spAutoFit/>
          </a:bodyPr>
          <a:lstStyle/>
          <a:p>
            <a:pPr marL="0" lvl="0" indent="0">
              <a:lnSpc>
                <a:spcPts val="8157"/>
              </a:lnSpc>
              <a:spcBef>
                <a:spcPct val="0"/>
              </a:spcBef>
            </a:pPr>
            <a:r>
              <a:rPr lang="zh-TW" altLang="en-US" sz="7200" dirty="0">
                <a:solidFill>
                  <a:srgbClr val="3F2619"/>
                </a:solidFill>
                <a:latin typeface="Chiron GoRound TC ExtraBold" pitchFamily="2" charset="-120"/>
                <a:ea typeface="Chiron GoRound TC ExtraBold" pitchFamily="2" charset="-120"/>
                <a:cs typeface="Lazydog"/>
                <a:sym typeface="Lazydog"/>
              </a:rPr>
              <a:t>課程大綱</a:t>
            </a:r>
            <a:endParaRPr lang="en-US" sz="7200" u="none" strike="noStrike" dirty="0">
              <a:solidFill>
                <a:srgbClr val="3F2619"/>
              </a:solidFill>
              <a:latin typeface="Chiron GoRound TC ExtraBold" pitchFamily="2" charset="-120"/>
              <a:ea typeface="Chiron GoRound TC ExtraBold" pitchFamily="2" charset="-120"/>
              <a:cs typeface="Lazydog"/>
              <a:sym typeface="Lazydog"/>
            </a:endParaRPr>
          </a:p>
        </p:txBody>
      </p:sp>
      <p:sp>
        <p:nvSpPr>
          <p:cNvPr id="32" name="TextBox 30">
            <a:extLst>
              <a:ext uri="{FF2B5EF4-FFF2-40B4-BE49-F238E27FC236}">
                <a16:creationId xmlns:a16="http://schemas.microsoft.com/office/drawing/2014/main" id="{8783CD25-3D47-4753-B965-45088A27DAB1}"/>
              </a:ext>
            </a:extLst>
          </p:cNvPr>
          <p:cNvSpPr txBox="1"/>
          <p:nvPr/>
        </p:nvSpPr>
        <p:spPr>
          <a:xfrm>
            <a:off x="2227749" y="2294444"/>
            <a:ext cx="6916250" cy="2427909"/>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2800" dirty="0">
                <a:solidFill>
                  <a:srgbClr val="3F2619"/>
                </a:solidFill>
                <a:latin typeface="Noto Sans SC Medium" panose="020B0200000000000000" pitchFamily="34" charset="-128"/>
                <a:ea typeface="Noto Sans SC Medium" panose="020B0200000000000000" pitchFamily="34" charset="-128"/>
              </a:rPr>
              <a:t>CNN</a:t>
            </a:r>
            <a:r>
              <a:rPr lang="zh-TW" altLang="en-US" sz="2800" dirty="0">
                <a:solidFill>
                  <a:srgbClr val="3F2619"/>
                </a:solidFill>
                <a:latin typeface="Noto Sans SC Medium" panose="020B0200000000000000" pitchFamily="34" charset="-128"/>
                <a:ea typeface="Noto Sans SC Medium" panose="020B0200000000000000" pitchFamily="34" charset="-128"/>
              </a:rPr>
              <a:t> 介紹</a:t>
            </a:r>
            <a:endParaRPr lang="en-US" altLang="zh-TW" sz="2800" dirty="0">
              <a:solidFill>
                <a:srgbClr val="3F2619"/>
              </a:solidFill>
              <a:latin typeface="Noto Sans SC Medium" panose="020B0200000000000000" pitchFamily="34" charset="-128"/>
              <a:ea typeface="Noto Sans SC Medium" panose="020B0200000000000000" pitchFamily="34" charset="-128"/>
            </a:endParaRPr>
          </a:p>
          <a:p>
            <a:pPr marL="285750" indent="-285750">
              <a:lnSpc>
                <a:spcPct val="150000"/>
              </a:lnSpc>
              <a:buFont typeface="Wingdings" panose="05000000000000000000" pitchFamily="2" charset="2"/>
              <a:buChar char="l"/>
            </a:pPr>
            <a:r>
              <a:rPr lang="en-US" altLang="zh-TW" sz="2800" dirty="0">
                <a:solidFill>
                  <a:srgbClr val="3F2619"/>
                </a:solidFill>
                <a:latin typeface="Noto Sans SC Medium" panose="020B0200000000000000" pitchFamily="34" charset="-128"/>
                <a:ea typeface="Noto Sans SC Medium" panose="020B0200000000000000" pitchFamily="34" charset="-128"/>
              </a:rPr>
              <a:t>CNN</a:t>
            </a:r>
            <a:r>
              <a:rPr lang="zh-TW" altLang="en-US" sz="2800" dirty="0">
                <a:solidFill>
                  <a:srgbClr val="3F2619"/>
                </a:solidFill>
                <a:latin typeface="Noto Sans SC Medium" panose="020B0200000000000000" pitchFamily="34" charset="-128"/>
                <a:ea typeface="Noto Sans SC Medium" panose="020B0200000000000000" pitchFamily="34" charset="-128"/>
              </a:rPr>
              <a:t> 課堂練習</a:t>
            </a:r>
            <a:endParaRPr lang="en-US" altLang="zh-TW" sz="2800" dirty="0">
              <a:solidFill>
                <a:srgbClr val="3F2619"/>
              </a:solidFill>
              <a:latin typeface="Noto Sans SC Medium" panose="020B0200000000000000" pitchFamily="34" charset="-128"/>
              <a:ea typeface="Noto Sans SC Medium" panose="020B0200000000000000" pitchFamily="34" charset="-128"/>
            </a:endParaRPr>
          </a:p>
          <a:p>
            <a:pPr marL="285750" indent="-285750">
              <a:lnSpc>
                <a:spcPct val="150000"/>
              </a:lnSpc>
              <a:buFont typeface="Wingdings" panose="05000000000000000000" pitchFamily="2" charset="2"/>
              <a:buChar char="l"/>
            </a:pPr>
            <a:r>
              <a:rPr lang="en-US" altLang="zh-TW" sz="2800" dirty="0">
                <a:solidFill>
                  <a:srgbClr val="3F2619"/>
                </a:solidFill>
                <a:latin typeface="Noto Sans SC Medium" panose="020B0200000000000000" pitchFamily="34" charset="-128"/>
                <a:ea typeface="Noto Sans SC Medium" panose="020B0200000000000000" pitchFamily="34" charset="-128"/>
              </a:rPr>
              <a:t>CNN </a:t>
            </a:r>
            <a:r>
              <a:rPr lang="zh-TW" altLang="en-US" sz="2800" dirty="0">
                <a:solidFill>
                  <a:srgbClr val="3F2619"/>
                </a:solidFill>
                <a:latin typeface="Noto Sans SC Medium" panose="020B0200000000000000" pitchFamily="34" charset="-128"/>
                <a:ea typeface="Noto Sans SC Medium" panose="020B0200000000000000" pitchFamily="34" charset="-128"/>
              </a:rPr>
              <a:t>課堂作業</a:t>
            </a:r>
            <a:endParaRPr lang="en-US" altLang="zh-TW" sz="2800" dirty="0">
              <a:solidFill>
                <a:srgbClr val="3F2619"/>
              </a:solidFill>
              <a:latin typeface="Noto Sans SC Medium" panose="020B0200000000000000" pitchFamily="34" charset="-128"/>
              <a:ea typeface="Noto Sans SC Medium" panose="020B0200000000000000" pitchFamily="34" charset="-128"/>
            </a:endParaRPr>
          </a:p>
          <a:p>
            <a:pPr marL="285750" indent="-285750">
              <a:lnSpc>
                <a:spcPct val="150000"/>
              </a:lnSpc>
              <a:buFont typeface="Wingdings" panose="05000000000000000000" pitchFamily="2" charset="2"/>
              <a:buChar char="l"/>
            </a:pPr>
            <a:endParaRPr lang="en-US" altLang="zh-TW" sz="2400" dirty="0">
              <a:solidFill>
                <a:srgbClr val="3F2619"/>
              </a:solidFill>
              <a:latin typeface="Noto Sans HK DemiLight" panose="020B0200000000000000" pitchFamily="34" charset="-120"/>
              <a:ea typeface="Noto Sans HK DemiLight" panose="020B0200000000000000" pitchFamily="34" charset="-120"/>
            </a:endParaRPr>
          </a:p>
        </p:txBody>
      </p:sp>
      <p:sp>
        <p:nvSpPr>
          <p:cNvPr id="6" name="Freeform 10">
            <a:extLst>
              <a:ext uri="{FF2B5EF4-FFF2-40B4-BE49-F238E27FC236}">
                <a16:creationId xmlns:a16="http://schemas.microsoft.com/office/drawing/2014/main" id="{4C76A2A8-4C21-4871-87DA-6BD543938854}"/>
              </a:ext>
            </a:extLst>
          </p:cNvPr>
          <p:cNvSpPr>
            <a:spLocks noChangeAspect="1"/>
          </p:cNvSpPr>
          <p:nvPr/>
        </p:nvSpPr>
        <p:spPr>
          <a:xfrm>
            <a:off x="9143999" y="1242186"/>
            <a:ext cx="8252777" cy="7802627"/>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pic>
        <p:nvPicPr>
          <p:cNvPr id="7" name="圖片 6">
            <a:extLst>
              <a:ext uri="{FF2B5EF4-FFF2-40B4-BE49-F238E27FC236}">
                <a16:creationId xmlns:a16="http://schemas.microsoft.com/office/drawing/2014/main" id="{69AF8DC4-0112-4FD5-B8E2-AE9EECD3473E}"/>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Tree>
    <p:extLst>
      <p:ext uri="{BB962C8B-B14F-4D97-AF65-F5344CB8AC3E}">
        <p14:creationId xmlns:p14="http://schemas.microsoft.com/office/powerpoint/2010/main" val="2965238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6916251" cy="1051570"/>
          </a:xfrm>
          <a:prstGeom prst="rect">
            <a:avLst/>
          </a:prstGeom>
        </p:spPr>
        <p:txBody>
          <a:bodyPr wrap="square" lIns="0" tIns="0" rIns="0" bIns="0" rtlCol="0" anchor="t">
            <a:spAutoFit/>
          </a:bodyPr>
          <a:lstStyle/>
          <a:p>
            <a:pPr marL="0" lvl="0" indent="0">
              <a:lnSpc>
                <a:spcPts val="8157"/>
              </a:lnSpc>
              <a:spcBef>
                <a:spcPct val="0"/>
              </a:spcBef>
            </a:pPr>
            <a:r>
              <a:rPr lang="zh-TW" altLang="en-US" sz="7200" dirty="0">
                <a:solidFill>
                  <a:srgbClr val="3F2619"/>
                </a:solidFill>
                <a:latin typeface="Chiron GoRound TC ExtraBold" pitchFamily="2" charset="-120"/>
                <a:ea typeface="Chiron GoRound TC ExtraBold" pitchFamily="2" charset="-120"/>
              </a:rPr>
              <a:t>什麼是 </a:t>
            </a:r>
            <a:r>
              <a:rPr lang="en-US" altLang="zh-TW" sz="7200" dirty="0">
                <a:solidFill>
                  <a:srgbClr val="3F2619"/>
                </a:solidFill>
                <a:latin typeface="Chiron GoRound TC ExtraBold" pitchFamily="2" charset="-120"/>
                <a:ea typeface="Chiron GoRound TC ExtraBold" pitchFamily="2" charset="-120"/>
              </a:rPr>
              <a:t>CNN</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11" name="TextBox 30">
            <a:extLst>
              <a:ext uri="{FF2B5EF4-FFF2-40B4-BE49-F238E27FC236}">
                <a16:creationId xmlns:a16="http://schemas.microsoft.com/office/drawing/2014/main" id="{98B939D4-A9F0-4573-A915-737C7A2E131A}"/>
              </a:ext>
            </a:extLst>
          </p:cNvPr>
          <p:cNvSpPr txBox="1"/>
          <p:nvPr/>
        </p:nvSpPr>
        <p:spPr>
          <a:xfrm>
            <a:off x="2227748" y="2294444"/>
            <a:ext cx="15450652" cy="4345228"/>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一般的神經網路由三個部分組成，分別是輸入層、隱藏層以及輸出層</a:t>
            </a:r>
            <a:endParaRPr lang="en-US" altLang="zh-TW" sz="3200" dirty="0">
              <a:solidFill>
                <a:srgbClr val="3F2619"/>
              </a:solidFill>
              <a:latin typeface="Noto Sans SC Medium" panose="020B0200000000000000" pitchFamily="34" charset="-128"/>
              <a:ea typeface="Noto Sans SC Medium" panose="020B0200000000000000" pitchFamily="34" charset="-128"/>
            </a:endParaRPr>
          </a:p>
          <a:p>
            <a:pPr marL="285750" indent="-285750">
              <a:lnSpc>
                <a:spcPct val="150000"/>
              </a:lnSpc>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假如輸入一張</a:t>
            </a:r>
            <a:r>
              <a:rPr lang="en-US" altLang="zh-TW" sz="3200" dirty="0">
                <a:solidFill>
                  <a:srgbClr val="3F2619"/>
                </a:solidFill>
                <a:latin typeface="Noto Sans SC Medium" panose="020B0200000000000000" pitchFamily="34" charset="-128"/>
                <a:ea typeface="Noto Sans SC Medium" panose="020B0200000000000000" pitchFamily="34" charset="-128"/>
              </a:rPr>
              <a:t>28*28*1</a:t>
            </a:r>
            <a:r>
              <a:rPr lang="zh-TW" altLang="en-US" sz="3200" dirty="0">
                <a:solidFill>
                  <a:srgbClr val="3F2619"/>
                </a:solidFill>
                <a:latin typeface="Noto Sans SC Medium" panose="020B0200000000000000" pitchFamily="34" charset="-128"/>
                <a:ea typeface="Noto Sans SC Medium" panose="020B0200000000000000" pitchFamily="34" charset="-128"/>
              </a:rPr>
              <a:t>的灰階照片</a:t>
            </a:r>
            <a:r>
              <a:rPr lang="en-US" altLang="zh-TW" sz="3200" dirty="0">
                <a:solidFill>
                  <a:srgbClr val="3F2619"/>
                </a:solidFill>
                <a:latin typeface="Noto Sans SC Medium" panose="020B0200000000000000" pitchFamily="34" charset="-128"/>
                <a:ea typeface="Noto Sans SC Medium" panose="020B0200000000000000" pitchFamily="34" charset="-128"/>
              </a:rPr>
              <a:t>(784</a:t>
            </a:r>
            <a:r>
              <a:rPr lang="zh-TW" altLang="en-US" sz="3200" dirty="0">
                <a:solidFill>
                  <a:srgbClr val="3F2619"/>
                </a:solidFill>
                <a:latin typeface="Noto Sans SC Medium" panose="020B0200000000000000" pitchFamily="34" charset="-128"/>
                <a:ea typeface="Noto Sans SC Medium" panose="020B0200000000000000" pitchFamily="34" charset="-128"/>
              </a:rPr>
              <a:t>個特徵</a:t>
            </a:r>
            <a:r>
              <a:rPr lang="en-US" altLang="zh-TW" sz="3200" dirty="0">
                <a:solidFill>
                  <a:srgbClr val="3F2619"/>
                </a:solidFill>
                <a:latin typeface="Noto Sans SC Medium" panose="020B0200000000000000" pitchFamily="34" charset="-128"/>
                <a:ea typeface="Noto Sans SC Medium" panose="020B0200000000000000" pitchFamily="34" charset="-128"/>
              </a:rPr>
              <a:t>)</a:t>
            </a:r>
            <a:r>
              <a:rPr lang="zh-TW" altLang="en-US" sz="3200" dirty="0">
                <a:solidFill>
                  <a:srgbClr val="3F2619"/>
                </a:solidFill>
                <a:latin typeface="Noto Sans SC Medium" panose="020B0200000000000000" pitchFamily="34" charset="-128"/>
                <a:ea typeface="Noto Sans SC Medium" panose="020B0200000000000000" pitchFamily="34" charset="-128"/>
              </a:rPr>
              <a:t>，隱藏層</a:t>
            </a:r>
            <a:r>
              <a:rPr lang="en-US" altLang="zh-TW" sz="3200" dirty="0">
                <a:solidFill>
                  <a:srgbClr val="3F2619"/>
                </a:solidFill>
                <a:latin typeface="Noto Sans SC Medium" panose="020B0200000000000000" pitchFamily="34" charset="-128"/>
                <a:ea typeface="Noto Sans SC Medium" panose="020B0200000000000000" pitchFamily="34" charset="-128"/>
              </a:rPr>
              <a:t>100</a:t>
            </a:r>
            <a:r>
              <a:rPr lang="zh-TW" altLang="en-US" sz="3200" dirty="0">
                <a:solidFill>
                  <a:srgbClr val="3F2619"/>
                </a:solidFill>
                <a:latin typeface="Noto Sans SC Medium" panose="020B0200000000000000" pitchFamily="34" charset="-128"/>
                <a:ea typeface="Noto Sans SC Medium" panose="020B0200000000000000" pitchFamily="34" charset="-128"/>
              </a:rPr>
              <a:t>個神經元，參數量會爆炸</a:t>
            </a:r>
            <a:endParaRPr lang="en-US" altLang="zh-TW" sz="3200" dirty="0">
              <a:solidFill>
                <a:srgbClr val="3F2619"/>
              </a:solidFill>
              <a:latin typeface="Noto Sans SC Medium" panose="020B0200000000000000" pitchFamily="34" charset="-128"/>
              <a:ea typeface="Noto Sans SC Medium" panose="020B0200000000000000" pitchFamily="34" charset="-128"/>
            </a:endParaRPr>
          </a:p>
          <a:p>
            <a:pPr marL="285750" indent="-285750">
              <a:lnSpc>
                <a:spcPct val="150000"/>
              </a:lnSpc>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因此 </a:t>
            </a:r>
            <a:r>
              <a:rPr lang="en-US" altLang="zh-TW" sz="3200" dirty="0">
                <a:solidFill>
                  <a:srgbClr val="3F2619"/>
                </a:solidFill>
                <a:latin typeface="Noto Sans SC Medium" panose="020B0200000000000000" pitchFamily="34" charset="-128"/>
                <a:ea typeface="Noto Sans SC Medium" panose="020B0200000000000000" pitchFamily="34" charset="-128"/>
              </a:rPr>
              <a:t>CNN </a:t>
            </a:r>
            <a:r>
              <a:rPr lang="zh-TW" altLang="en-US" sz="3200" dirty="0">
                <a:solidFill>
                  <a:srgbClr val="3F2619"/>
                </a:solidFill>
                <a:latin typeface="Noto Sans SC Medium" panose="020B0200000000000000" pitchFamily="34" charset="-128"/>
                <a:ea typeface="Noto Sans SC Medium" panose="020B0200000000000000" pitchFamily="34" charset="-128"/>
              </a:rPr>
              <a:t>誕生</a:t>
            </a:r>
            <a:endParaRPr lang="en-US" altLang="zh-TW" sz="3200" dirty="0">
              <a:solidFill>
                <a:srgbClr val="3F2619"/>
              </a:solidFill>
              <a:latin typeface="Noto Sans SC Medium" panose="020B0200000000000000" pitchFamily="34" charset="-128"/>
              <a:ea typeface="Noto Sans SC Medium" panose="020B0200000000000000" pitchFamily="34" charset="-128"/>
            </a:endParaRPr>
          </a:p>
          <a:p>
            <a:pPr marL="285750" indent="-285750">
              <a:lnSpc>
                <a:spcPct val="150000"/>
              </a:lnSpc>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透過 </a:t>
            </a:r>
            <a:r>
              <a:rPr lang="en-US" altLang="zh-TW" sz="3200" dirty="0">
                <a:solidFill>
                  <a:srgbClr val="3F2619"/>
                </a:solidFill>
                <a:latin typeface="Noto Sans SC Medium" panose="020B0200000000000000" pitchFamily="34" charset="-128"/>
                <a:ea typeface="Noto Sans SC Medium" panose="020B0200000000000000" pitchFamily="34" charset="-128"/>
              </a:rPr>
              <a:t>Sliding Window </a:t>
            </a:r>
            <a:r>
              <a:rPr lang="zh-TW" altLang="en-US" sz="3200" dirty="0">
                <a:solidFill>
                  <a:srgbClr val="3F2619"/>
                </a:solidFill>
                <a:latin typeface="Noto Sans SC Medium" panose="020B0200000000000000" pitchFamily="34" charset="-128"/>
                <a:ea typeface="Noto Sans SC Medium" panose="020B0200000000000000" pitchFamily="34" charset="-128"/>
              </a:rPr>
              <a:t>對整張圖片進行卷積，進而達到節省參數</a:t>
            </a:r>
            <a:endParaRPr lang="en-US" altLang="zh-TW" sz="3200" dirty="0">
              <a:solidFill>
                <a:srgbClr val="3F2619"/>
              </a:solidFill>
              <a:latin typeface="Noto Sans SC Medium" panose="020B0200000000000000" pitchFamily="34" charset="-128"/>
              <a:ea typeface="Noto Sans SC Medium" panose="020B0200000000000000" pitchFamily="34" charset="-128"/>
            </a:endParaRPr>
          </a:p>
          <a:p>
            <a:pPr marL="285750" indent="-285750">
              <a:lnSpc>
                <a:spcPct val="150000"/>
              </a:lnSpc>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保留圖像的位置資訊</a:t>
            </a:r>
            <a:endParaRPr lang="en-US" altLang="zh-TW" sz="3200" dirty="0">
              <a:solidFill>
                <a:srgbClr val="3F2619"/>
              </a:solidFill>
              <a:latin typeface="Noto Sans SC Medium" panose="020B0200000000000000" pitchFamily="34" charset="-128"/>
              <a:ea typeface="Noto Sans SC Medium" panose="020B0200000000000000" pitchFamily="34" charset="-128"/>
            </a:endParaRPr>
          </a:p>
          <a:p>
            <a:pPr marL="285750" indent="-285750">
              <a:lnSpc>
                <a:spcPct val="150000"/>
              </a:lnSpc>
              <a:buFont typeface="Wingdings" panose="05000000000000000000" pitchFamily="2" charset="2"/>
              <a:buChar char="l"/>
            </a:pPr>
            <a:endParaRPr lang="en-US" altLang="zh-TW" sz="3200" dirty="0">
              <a:solidFill>
                <a:srgbClr val="3F2619"/>
              </a:solidFill>
              <a:latin typeface="Noto Sans SC Medium" panose="020B0200000000000000" pitchFamily="34" charset="-128"/>
              <a:ea typeface="Noto Sans SC Medium" panose="020B0200000000000000" pitchFamily="34" charset="-128"/>
            </a:endParaRPr>
          </a:p>
        </p:txBody>
      </p:sp>
      <p:sp>
        <p:nvSpPr>
          <p:cNvPr id="9" name="Freeform 10">
            <a:extLst>
              <a:ext uri="{FF2B5EF4-FFF2-40B4-BE49-F238E27FC236}">
                <a16:creationId xmlns:a16="http://schemas.microsoft.com/office/drawing/2014/main" id="{1986DC4C-C182-400E-935A-1079CE51B963}"/>
              </a:ext>
            </a:extLst>
          </p:cNvPr>
          <p:cNvSpPr/>
          <p:nvPr/>
        </p:nvSpPr>
        <p:spPr>
          <a:xfrm rot="5400000">
            <a:off x="-976159" y="115668"/>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pic>
        <p:nvPicPr>
          <p:cNvPr id="4100" name="Picture 4">
            <a:extLst>
              <a:ext uri="{FF2B5EF4-FFF2-40B4-BE49-F238E27FC236}">
                <a16:creationId xmlns:a16="http://schemas.microsoft.com/office/drawing/2014/main" id="{CA72783B-DF3B-490C-A7CB-8424E4BDB68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08939" y="6099630"/>
            <a:ext cx="11088269" cy="37858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23507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8745052" cy="1051570"/>
          </a:xfrm>
          <a:prstGeom prst="rect">
            <a:avLst/>
          </a:prstGeom>
        </p:spPr>
        <p:txBody>
          <a:bodyPr wrap="square" lIns="0" tIns="0" rIns="0" bIns="0" rtlCol="0" anchor="t">
            <a:spAutoFit/>
          </a:bodyPr>
          <a:lstStyle/>
          <a:p>
            <a:pPr marL="0" lvl="0" indent="0">
              <a:lnSpc>
                <a:spcPts val="8157"/>
              </a:lnSpc>
              <a:spcBef>
                <a:spcPct val="0"/>
              </a:spcBef>
            </a:pPr>
            <a:r>
              <a:rPr lang="zh-TW" altLang="en-US" sz="7200" dirty="0">
                <a:solidFill>
                  <a:srgbClr val="3F2619"/>
                </a:solidFill>
                <a:latin typeface="Chiron GoRound TC ExtraBold" pitchFamily="2" charset="-120"/>
                <a:ea typeface="Chiron GoRound TC ExtraBold" pitchFamily="2" charset="-120"/>
              </a:rPr>
              <a:t>什麼是 </a:t>
            </a:r>
            <a:r>
              <a:rPr lang="en-US" altLang="zh-TW" sz="7200" dirty="0">
                <a:solidFill>
                  <a:srgbClr val="3F2619"/>
                </a:solidFill>
                <a:latin typeface="Chiron GoRound TC ExtraBold" pitchFamily="2" charset="-120"/>
                <a:ea typeface="Chiron GoRound TC ExtraBold" pitchFamily="2" charset="-120"/>
              </a:rPr>
              <a:t>Convolution</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5400000">
            <a:off x="-976159" y="115668"/>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pic>
        <p:nvPicPr>
          <p:cNvPr id="3074" name="Picture 2">
            <a:extLst>
              <a:ext uri="{FF2B5EF4-FFF2-40B4-BE49-F238E27FC236}">
                <a16:creationId xmlns:a16="http://schemas.microsoft.com/office/drawing/2014/main" id="{CF9CF80E-C024-46FD-A60C-E93E8365EBD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60473" y="4000500"/>
            <a:ext cx="8305800" cy="4876800"/>
          </a:xfrm>
          <a:prstGeom prst="rect">
            <a:avLst/>
          </a:prstGeom>
          <a:noFill/>
          <a:extLst>
            <a:ext uri="{909E8E84-426E-40DD-AFC4-6F175D3DCCD1}">
              <a14:hiddenFill xmlns:a14="http://schemas.microsoft.com/office/drawing/2010/main">
                <a:solidFill>
                  <a:srgbClr val="FFFFFF"/>
                </a:solidFill>
              </a14:hiddenFill>
            </a:ext>
          </a:extLst>
        </p:spPr>
      </p:pic>
      <p:pic>
        <p:nvPicPr>
          <p:cNvPr id="4" name="圖片 3">
            <a:extLst>
              <a:ext uri="{FF2B5EF4-FFF2-40B4-BE49-F238E27FC236}">
                <a16:creationId xmlns:a16="http://schemas.microsoft.com/office/drawing/2014/main" id="{EB8C5D16-B4A0-490D-9E96-CF09134D2C6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001250" y="3272689"/>
            <a:ext cx="7677150" cy="5604611"/>
          </a:xfrm>
          <a:prstGeom prst="rect">
            <a:avLst/>
          </a:prstGeom>
        </p:spPr>
      </p:pic>
      <p:sp>
        <p:nvSpPr>
          <p:cNvPr id="5" name="文字方塊 4">
            <a:extLst>
              <a:ext uri="{FF2B5EF4-FFF2-40B4-BE49-F238E27FC236}">
                <a16:creationId xmlns:a16="http://schemas.microsoft.com/office/drawing/2014/main" id="{BFE4FAF8-C566-4642-AA19-9C00555F3AC5}"/>
              </a:ext>
            </a:extLst>
          </p:cNvPr>
          <p:cNvSpPr txBox="1"/>
          <p:nvPr/>
        </p:nvSpPr>
        <p:spPr>
          <a:xfrm>
            <a:off x="10439400" y="3310788"/>
            <a:ext cx="4122988" cy="523220"/>
          </a:xfrm>
          <a:prstGeom prst="rect">
            <a:avLst/>
          </a:prstGeom>
          <a:noFill/>
        </p:spPr>
        <p:txBody>
          <a:bodyPr wrap="none" rtlCol="0">
            <a:spAutoFit/>
          </a:bodyPr>
          <a:lstStyle/>
          <a:p>
            <a:r>
              <a:rPr lang="en-US" altLang="zh-TW" sz="2800" b="1" dirty="0">
                <a:latin typeface="微軟正黑體" panose="020B0604030504040204" pitchFamily="34" charset="-120"/>
                <a:ea typeface="微軟正黑體" panose="020B0604030504040204" pitchFamily="34" charset="-120"/>
              </a:rPr>
              <a:t>stride = 1, padding = 0</a:t>
            </a:r>
            <a:endParaRPr lang="zh-TW" altLang="en-US" sz="2800" b="1" dirty="0">
              <a:latin typeface="微軟正黑體" panose="020B0604030504040204" pitchFamily="34" charset="-120"/>
              <a:ea typeface="微軟正黑體" panose="020B0604030504040204" pitchFamily="34" charset="-120"/>
            </a:endParaRPr>
          </a:p>
        </p:txBody>
      </p:sp>
      <p:sp>
        <p:nvSpPr>
          <p:cNvPr id="10" name="文字方塊 9">
            <a:extLst>
              <a:ext uri="{FF2B5EF4-FFF2-40B4-BE49-F238E27FC236}">
                <a16:creationId xmlns:a16="http://schemas.microsoft.com/office/drawing/2014/main" id="{3450CEB4-F2E5-45D2-8CCC-342EE1C2D088}"/>
              </a:ext>
            </a:extLst>
          </p:cNvPr>
          <p:cNvSpPr txBox="1"/>
          <p:nvPr/>
        </p:nvSpPr>
        <p:spPr>
          <a:xfrm>
            <a:off x="2362200" y="3477279"/>
            <a:ext cx="2206053" cy="523220"/>
          </a:xfrm>
          <a:prstGeom prst="rect">
            <a:avLst/>
          </a:prstGeom>
          <a:noFill/>
        </p:spPr>
        <p:txBody>
          <a:bodyPr wrap="none" rtlCol="0">
            <a:spAutoFit/>
          </a:bodyPr>
          <a:lstStyle/>
          <a:p>
            <a:r>
              <a:rPr lang="en-US" altLang="zh-TW" sz="2800" b="1" dirty="0">
                <a:latin typeface="微軟正黑體" panose="020B0604030504040204" pitchFamily="34" charset="-120"/>
                <a:ea typeface="微軟正黑體" panose="020B0604030504040204" pitchFamily="34" charset="-120"/>
              </a:rPr>
              <a:t>channel = 1</a:t>
            </a:r>
            <a:endParaRPr lang="zh-TW" altLang="en-US" sz="2800" b="1"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8191657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8745052" cy="1051570"/>
          </a:xfrm>
          <a:prstGeom prst="rect">
            <a:avLst/>
          </a:prstGeom>
        </p:spPr>
        <p:txBody>
          <a:bodyPr wrap="square" lIns="0" tIns="0" rIns="0" bIns="0" rtlCol="0" anchor="t">
            <a:spAutoFit/>
          </a:bodyPr>
          <a:lstStyle/>
          <a:p>
            <a:pPr marL="0" marR="0" lvl="0" indent="0" algn="l" defTabSz="914400" rtl="0" eaLnBrk="1" fontAlgn="auto" latinLnBrk="0" hangingPunct="1">
              <a:lnSpc>
                <a:spcPts val="8157"/>
              </a:lnSpc>
              <a:spcBef>
                <a:spcPct val="0"/>
              </a:spcBef>
              <a:spcAft>
                <a:spcPts val="0"/>
              </a:spcAft>
              <a:buClrTx/>
              <a:buSzTx/>
              <a:buFontTx/>
              <a:buNone/>
              <a:tabLst/>
              <a:defRPr/>
            </a:pPr>
            <a:r>
              <a:rPr kumimoji="0" lang="zh-TW" altLang="en-US" sz="7200" b="0" i="0" u="none" strike="noStrike" kern="1200" cap="none" spc="0" normalizeH="0" baseline="0" noProof="0" dirty="0">
                <a:ln>
                  <a:noFill/>
                </a:ln>
                <a:solidFill>
                  <a:srgbClr val="3F2619"/>
                </a:solidFill>
                <a:effectLst/>
                <a:uLnTx/>
                <a:uFillTx/>
                <a:latin typeface="Chiron GoRound TC ExtraBold" pitchFamily="2" charset="-120"/>
                <a:ea typeface="Chiron GoRound TC ExtraBold" pitchFamily="2" charset="-120"/>
                <a:cs typeface="+mn-cs"/>
              </a:rPr>
              <a:t>什麼是 </a:t>
            </a:r>
            <a:r>
              <a:rPr kumimoji="0" lang="en-US" altLang="zh-TW" sz="7200" b="0" i="0" u="none" strike="noStrike" kern="1200" cap="none" spc="0" normalizeH="0" baseline="0" noProof="0" dirty="0">
                <a:ln>
                  <a:noFill/>
                </a:ln>
                <a:solidFill>
                  <a:srgbClr val="3F2619"/>
                </a:solidFill>
                <a:effectLst/>
                <a:uLnTx/>
                <a:uFillTx/>
                <a:latin typeface="Chiron GoRound TC ExtraBold" pitchFamily="2" charset="-120"/>
                <a:ea typeface="Chiron GoRound TC ExtraBold" pitchFamily="2" charset="-120"/>
                <a:cs typeface="+mn-cs"/>
              </a:rPr>
              <a:t>Filter</a:t>
            </a:r>
            <a:endParaRPr kumimoji="0" lang="en-US" sz="7200" b="0" i="0" u="none" strike="noStrike" kern="1200" cap="none" spc="0" normalizeH="0" baseline="0" noProof="0" dirty="0">
              <a:ln>
                <a:noFill/>
              </a:ln>
              <a:solidFill>
                <a:srgbClr val="3F2619"/>
              </a:solidFill>
              <a:effectLst/>
              <a:uLnTx/>
              <a:uFillTx/>
              <a:latin typeface="Chiron GoRound TC ExtraBold" pitchFamily="2" charset="-120"/>
              <a:ea typeface="Chiron GoRound TC ExtraBold" pitchFamily="2" charset="-120"/>
              <a:cs typeface="+mn-cs"/>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5400000">
            <a:off x="-976159" y="115668"/>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30">
            <a:extLst>
              <a:ext uri="{FF2B5EF4-FFF2-40B4-BE49-F238E27FC236}">
                <a16:creationId xmlns:a16="http://schemas.microsoft.com/office/drawing/2014/main" id="{98B939D4-A9F0-4573-A915-737C7A2E131A}"/>
              </a:ext>
            </a:extLst>
          </p:cNvPr>
          <p:cNvSpPr txBox="1"/>
          <p:nvPr/>
        </p:nvSpPr>
        <p:spPr>
          <a:xfrm>
            <a:off x="2227748" y="2194560"/>
            <a:ext cx="15450652" cy="651910"/>
          </a:xfrm>
          <a:prstGeom prst="rect">
            <a:avLst/>
          </a:prstGeom>
        </p:spPr>
        <p:txBody>
          <a:bodyPr wrap="square" lIns="0" tIns="0" rIns="0" bIns="0" rtlCol="0" anchor="t">
            <a:spAutoFit/>
          </a:bodyPr>
          <a:lstStyle/>
          <a:p>
            <a:pPr marL="285750" marR="0" lvl="0" indent="-285750" algn="l" defTabSz="914400" rtl="0" eaLnBrk="1" fontAlgn="auto" latinLnBrk="0" hangingPunct="1">
              <a:lnSpc>
                <a:spcPts val="4200"/>
              </a:lnSpc>
              <a:spcBef>
                <a:spcPts val="0"/>
              </a:spcBef>
              <a:spcAft>
                <a:spcPts val="0"/>
              </a:spcAft>
              <a:buClrTx/>
              <a:buSzTx/>
              <a:buFont typeface="Wingdings" panose="05000000000000000000" pitchFamily="2" charset="2"/>
              <a:buChar char="l"/>
              <a:tabLst/>
              <a:defRPr/>
            </a:pPr>
            <a:r>
              <a:rPr kumimoji="0" lang="zh-TW" altLang="en-US" sz="28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rPr>
              <a:t>一個 filter 由多個 kernel 組成：每個輸入 channel 各配一個 kernel</a:t>
            </a:r>
            <a:endParaRPr kumimoji="0" lang="en-US" altLang="zh-TW" sz="28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endParaRPr>
          </a:p>
          <a:p>
            <a:pPr marL="285750" marR="0" lvl="0" indent="-285750" algn="l" defTabSz="914400" rtl="0" eaLnBrk="1" fontAlgn="auto" latinLnBrk="0" hangingPunct="1">
              <a:lnSpc>
                <a:spcPts val="4200"/>
              </a:lnSpc>
              <a:spcBef>
                <a:spcPts val="0"/>
              </a:spcBef>
              <a:spcAft>
                <a:spcPts val="0"/>
              </a:spcAft>
              <a:buClrTx/>
              <a:buSzTx/>
              <a:buFont typeface="Wingdings" panose="05000000000000000000" pitchFamily="2" charset="2"/>
              <a:buChar char="l"/>
              <a:tabLst/>
              <a:defRPr/>
            </a:pPr>
            <a:r>
              <a:rPr kumimoji="0" lang="zh-TW" altLang="en-US" sz="28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rPr>
              <a:t>每個 kernel 各自卷積後逐位置相加，再加上 bias，得到 1 張 feature map</a:t>
            </a:r>
            <a:endParaRPr kumimoji="0" lang="en-US" altLang="zh-TW" sz="28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endParaRPr>
          </a:p>
        </p:txBody>
      </p:sp>
      <p:sp>
        <p:nvSpPr>
          <p:cNvPr id="32" name="TextBox 31"/>
          <p:cNvSpPr txBox="1"/>
          <p:nvPr/>
        </p:nvSpPr>
        <p:spPr>
          <a:xfrm>
            <a:off x="2231136" y="3703320"/>
            <a:ext cx="7315200" cy="457200"/>
          </a:xfrm>
          <a:prstGeom prst="rect">
            <a:avLst/>
          </a:prstGeom>
          <a:noFill/>
        </p:spPr>
        <p:txBody>
          <a:bodyPr wrap="square" lIns="0" tIns="0" rIns="0" bIns="0" anchor="t">
            <a:noAutofit/>
          </a:bodyPr>
          <a:lstStyle/>
          <a:p>
            <a:pPr marL="0" marR="0" lvl="0" indent="0" algn="l" defTabSz="914400" rtl="0" eaLnBrk="1" fontAlgn="auto" latinLnBrk="0" hangingPunct="1">
              <a:lnSpc>
                <a:spcPts val="3200"/>
              </a:lnSpc>
              <a:spcBef>
                <a:spcPts val="0"/>
              </a:spcBef>
              <a:spcAft>
                <a:spcPts val="0"/>
              </a:spcAft>
              <a:buClrTx/>
              <a:buSzTx/>
              <a:buFontTx/>
              <a:buNone/>
              <a:tabLst/>
              <a:defRPr/>
            </a:pPr>
            <a:r>
              <a:rPr kumimoji="0" lang="zh-TW" altLang="en-US" sz="2400" b="0" i="0" u="none" strike="noStrike" kern="1200" cap="none" spc="0" normalizeH="0" baseline="0" noProof="0" dirty="0">
                <a:ln>
                  <a:noFill/>
                </a:ln>
                <a:solidFill>
                  <a:srgbClr val="3F2619"/>
                </a:solidFill>
                <a:effectLst/>
                <a:uLnTx/>
                <a:uFillTx/>
                <a:latin typeface="Noto Sans SC Medium"/>
                <a:ea typeface="Noto Sans SC Medium"/>
                <a:cs typeface="+mn-cs"/>
              </a:rPr>
              <a:t>第 1 個 kernel 對第 1 個 channel 卷積：</a:t>
            </a:r>
          </a:p>
        </p:txBody>
      </p:sp>
      <p:grpSp>
        <p:nvGrpSpPr>
          <p:cNvPr id="3" name="channel 1"/>
          <p:cNvGrpSpPr/>
          <p:nvPr/>
        </p:nvGrpSpPr>
        <p:grpSpPr>
          <a:xfrm>
            <a:off x="2231136" y="4206240"/>
            <a:ext cx="1508760" cy="1508760"/>
            <a:chOff x="2231136" y="4206240"/>
            <a:chExt cx="1508760" cy="1508760"/>
          </a:xfrm>
        </p:grpSpPr>
        <p:sp>
          <p:nvSpPr>
            <p:cNvPr id="33" name="Rectangle 32"/>
            <p:cNvSpPr/>
            <p:nvPr/>
          </p:nvSpPr>
          <p:spPr>
            <a:xfrm>
              <a:off x="2231136" y="420624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1</a:t>
              </a:r>
              <a:r>
                <a:rPr kumimoji="0" lang="zh-TW" altLang="en-US" sz="1600" b="1" i="0" u="none" strike="noStrike" kern="1200" cap="none" spc="0" normalizeH="0" baseline="-25000" noProof="0" dirty="0">
                  <a:ln>
                    <a:noFill/>
                  </a:ln>
                  <a:solidFill>
                    <a:srgbClr val="C00000"/>
                  </a:solidFill>
                  <a:effectLst/>
                  <a:uLnTx/>
                  <a:uFillTx/>
                  <a:latin typeface="Noto Sans SC Medium"/>
                  <a:ea typeface="Noto Sans SC Medium"/>
                  <a:cs typeface="+mn-cs"/>
                </a:rPr>
                <a:t>×1</a:t>
              </a:r>
            </a:p>
          </p:txBody>
        </p:sp>
        <p:sp>
          <p:nvSpPr>
            <p:cNvPr id="34" name="Rectangle 33"/>
            <p:cNvSpPr/>
            <p:nvPr/>
          </p:nvSpPr>
          <p:spPr>
            <a:xfrm>
              <a:off x="2734056" y="420624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2</a:t>
              </a:r>
              <a:r>
                <a:rPr kumimoji="0" lang="zh-TW" altLang="en-US" sz="1600" b="1" i="0" u="none" strike="noStrike" kern="1200" cap="none" spc="0" normalizeH="0" baseline="-25000" noProof="0" dirty="0">
                  <a:ln>
                    <a:noFill/>
                  </a:ln>
                  <a:solidFill>
                    <a:srgbClr val="C00000"/>
                  </a:solidFill>
                  <a:effectLst/>
                  <a:uLnTx/>
                  <a:uFillTx/>
                  <a:latin typeface="Noto Sans SC Medium"/>
                  <a:ea typeface="Noto Sans SC Medium"/>
                  <a:cs typeface="+mn-cs"/>
                </a:rPr>
                <a:t>×0</a:t>
              </a:r>
            </a:p>
          </p:txBody>
        </p:sp>
        <p:sp>
          <p:nvSpPr>
            <p:cNvPr id="35" name="Rectangle 34"/>
            <p:cNvSpPr/>
            <p:nvPr/>
          </p:nvSpPr>
          <p:spPr>
            <a:xfrm>
              <a:off x="3236976" y="4206240"/>
              <a:ext cx="502920" cy="502920"/>
            </a:xfrm>
            <a:prstGeom prst="rect">
              <a:avLst/>
            </a:prstGeom>
            <a:solidFill>
              <a:srgbClr val="92D05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0</a:t>
              </a:r>
            </a:p>
          </p:txBody>
        </p:sp>
        <p:sp>
          <p:nvSpPr>
            <p:cNvPr id="36" name="Rectangle 35"/>
            <p:cNvSpPr/>
            <p:nvPr/>
          </p:nvSpPr>
          <p:spPr>
            <a:xfrm>
              <a:off x="2231136" y="470916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0</a:t>
              </a:r>
              <a:r>
                <a:rPr kumimoji="0" lang="zh-TW" altLang="en-US" sz="1600" b="1" i="0" u="none" strike="noStrike" kern="1200" cap="none" spc="0" normalizeH="0" baseline="-25000" noProof="0" dirty="0">
                  <a:ln>
                    <a:noFill/>
                  </a:ln>
                  <a:solidFill>
                    <a:srgbClr val="C00000"/>
                  </a:solidFill>
                  <a:effectLst/>
                  <a:uLnTx/>
                  <a:uFillTx/>
                  <a:latin typeface="Noto Sans SC Medium"/>
                  <a:ea typeface="Noto Sans SC Medium"/>
                  <a:cs typeface="+mn-cs"/>
                </a:rPr>
                <a:t>×0</a:t>
              </a:r>
            </a:p>
          </p:txBody>
        </p:sp>
        <p:sp>
          <p:nvSpPr>
            <p:cNvPr id="37" name="Rectangle 36"/>
            <p:cNvSpPr/>
            <p:nvPr/>
          </p:nvSpPr>
          <p:spPr>
            <a:xfrm>
              <a:off x="2734056" y="470916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1</a:t>
              </a:r>
              <a:r>
                <a:rPr kumimoji="0" lang="zh-TW" altLang="en-US" sz="1600" b="1" i="0" u="none" strike="noStrike" kern="1200" cap="none" spc="0" normalizeH="0" baseline="-25000" noProof="0" dirty="0">
                  <a:ln>
                    <a:noFill/>
                  </a:ln>
                  <a:solidFill>
                    <a:srgbClr val="C00000"/>
                  </a:solidFill>
                  <a:effectLst/>
                  <a:uLnTx/>
                  <a:uFillTx/>
                  <a:latin typeface="Noto Sans SC Medium"/>
                  <a:ea typeface="Noto Sans SC Medium"/>
                  <a:cs typeface="+mn-cs"/>
                </a:rPr>
                <a:t>×1</a:t>
              </a:r>
            </a:p>
          </p:txBody>
        </p:sp>
        <p:sp>
          <p:nvSpPr>
            <p:cNvPr id="38" name="Rectangle 37"/>
            <p:cNvSpPr/>
            <p:nvPr/>
          </p:nvSpPr>
          <p:spPr>
            <a:xfrm>
              <a:off x="3236976" y="4709160"/>
              <a:ext cx="502920" cy="502920"/>
            </a:xfrm>
            <a:prstGeom prst="rect">
              <a:avLst/>
            </a:prstGeom>
            <a:solidFill>
              <a:srgbClr val="92D05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3</a:t>
              </a:r>
            </a:p>
          </p:txBody>
        </p:sp>
        <p:sp>
          <p:nvSpPr>
            <p:cNvPr id="39" name="Rectangle 38"/>
            <p:cNvSpPr/>
            <p:nvPr/>
          </p:nvSpPr>
          <p:spPr>
            <a:xfrm>
              <a:off x="2231136" y="5212080"/>
              <a:ext cx="502920" cy="502920"/>
            </a:xfrm>
            <a:prstGeom prst="rect">
              <a:avLst/>
            </a:prstGeom>
            <a:solidFill>
              <a:srgbClr val="92D05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2</a:t>
              </a:r>
            </a:p>
          </p:txBody>
        </p:sp>
        <p:sp>
          <p:nvSpPr>
            <p:cNvPr id="40" name="Rectangle 39"/>
            <p:cNvSpPr/>
            <p:nvPr/>
          </p:nvSpPr>
          <p:spPr>
            <a:xfrm>
              <a:off x="2734056" y="5212080"/>
              <a:ext cx="502920" cy="502920"/>
            </a:xfrm>
            <a:prstGeom prst="rect">
              <a:avLst/>
            </a:prstGeom>
            <a:solidFill>
              <a:srgbClr val="92D05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1</a:t>
              </a:r>
            </a:p>
          </p:txBody>
        </p:sp>
        <p:sp>
          <p:nvSpPr>
            <p:cNvPr id="41" name="Rectangle 40"/>
            <p:cNvSpPr/>
            <p:nvPr/>
          </p:nvSpPr>
          <p:spPr>
            <a:xfrm>
              <a:off x="3236976" y="5212080"/>
              <a:ext cx="502920" cy="502920"/>
            </a:xfrm>
            <a:prstGeom prst="rect">
              <a:avLst/>
            </a:prstGeom>
            <a:solidFill>
              <a:srgbClr val="92D05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1</a:t>
              </a:r>
            </a:p>
          </p:txBody>
        </p:sp>
      </p:grpSp>
      <p:sp>
        <p:nvSpPr>
          <p:cNvPr id="42" name="TextBox 41"/>
          <p:cNvSpPr txBox="1"/>
          <p:nvPr/>
        </p:nvSpPr>
        <p:spPr>
          <a:xfrm>
            <a:off x="3739896" y="4457700"/>
            <a:ext cx="822960" cy="1005840"/>
          </a:xfrm>
          <a:prstGeom prst="rect">
            <a:avLst/>
          </a:prstGeom>
          <a:noFill/>
        </p:spPr>
        <p:txBody>
          <a:bodyPr wrap="non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4400" b="0" i="0" u="none" strike="noStrike" kern="1200" cap="none" spc="0" normalizeH="0" baseline="0" noProof="0" dirty="0">
                <a:ln>
                  <a:noFill/>
                </a:ln>
                <a:solidFill>
                  <a:srgbClr val="3F2619"/>
                </a:solidFill>
                <a:effectLst/>
                <a:uLnTx/>
                <a:uFillTx/>
                <a:latin typeface="Cambria Math"/>
                <a:ea typeface="Cambria Math"/>
                <a:cs typeface="+mn-cs"/>
              </a:rPr>
              <a:t>⋆</a:t>
            </a:r>
          </a:p>
        </p:txBody>
      </p:sp>
      <p:grpSp>
        <p:nvGrpSpPr>
          <p:cNvPr id="4" name="kernel 1"/>
          <p:cNvGrpSpPr/>
          <p:nvPr/>
        </p:nvGrpSpPr>
        <p:grpSpPr>
          <a:xfrm>
            <a:off x="4562856" y="4457700"/>
            <a:ext cx="1005840" cy="1005840"/>
            <a:chOff x="4562856" y="4457700"/>
            <a:chExt cx="1005840" cy="1005840"/>
          </a:xfrm>
        </p:grpSpPr>
        <p:sp>
          <p:nvSpPr>
            <p:cNvPr id="43" name="Rectangle 42"/>
            <p:cNvSpPr/>
            <p:nvPr/>
          </p:nvSpPr>
          <p:spPr>
            <a:xfrm>
              <a:off x="4562856" y="445770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C00000"/>
                  </a:solidFill>
                  <a:effectLst/>
                  <a:uLnTx/>
                  <a:uFillTx/>
                  <a:latin typeface="Noto Sans SC Medium"/>
                  <a:ea typeface="Noto Sans SC Medium"/>
                  <a:cs typeface="+mn-cs"/>
                </a:rPr>
                <a:t>1</a:t>
              </a:r>
            </a:p>
          </p:txBody>
        </p:sp>
        <p:sp>
          <p:nvSpPr>
            <p:cNvPr id="44" name="Rectangle 43"/>
            <p:cNvSpPr/>
            <p:nvPr/>
          </p:nvSpPr>
          <p:spPr>
            <a:xfrm>
              <a:off x="5065776" y="445770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C00000"/>
                  </a:solidFill>
                  <a:effectLst/>
                  <a:uLnTx/>
                  <a:uFillTx/>
                  <a:latin typeface="Noto Sans SC Medium"/>
                  <a:ea typeface="Noto Sans SC Medium"/>
                  <a:cs typeface="+mn-cs"/>
                </a:rPr>
                <a:t>0</a:t>
              </a:r>
            </a:p>
          </p:txBody>
        </p:sp>
        <p:sp>
          <p:nvSpPr>
            <p:cNvPr id="45" name="Rectangle 44"/>
            <p:cNvSpPr/>
            <p:nvPr/>
          </p:nvSpPr>
          <p:spPr>
            <a:xfrm>
              <a:off x="4562856" y="496062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C00000"/>
                  </a:solidFill>
                  <a:effectLst/>
                  <a:uLnTx/>
                  <a:uFillTx/>
                  <a:latin typeface="Noto Sans SC Medium"/>
                  <a:ea typeface="Noto Sans SC Medium"/>
                  <a:cs typeface="+mn-cs"/>
                </a:rPr>
                <a:t>0</a:t>
              </a:r>
            </a:p>
          </p:txBody>
        </p:sp>
        <p:sp>
          <p:nvSpPr>
            <p:cNvPr id="46" name="Rectangle 45"/>
            <p:cNvSpPr/>
            <p:nvPr/>
          </p:nvSpPr>
          <p:spPr>
            <a:xfrm>
              <a:off x="5065776" y="496062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C00000"/>
                  </a:solidFill>
                  <a:effectLst/>
                  <a:uLnTx/>
                  <a:uFillTx/>
                  <a:latin typeface="Noto Sans SC Medium"/>
                  <a:ea typeface="Noto Sans SC Medium"/>
                  <a:cs typeface="+mn-cs"/>
                </a:rPr>
                <a:t>1</a:t>
              </a:r>
            </a:p>
          </p:txBody>
        </p:sp>
      </p:grpSp>
      <p:sp>
        <p:nvSpPr>
          <p:cNvPr id="47" name="TextBox 46"/>
          <p:cNvSpPr txBox="1"/>
          <p:nvPr/>
        </p:nvSpPr>
        <p:spPr>
          <a:xfrm>
            <a:off x="5568696" y="4457700"/>
            <a:ext cx="822960" cy="1005840"/>
          </a:xfrm>
          <a:prstGeom prst="rect">
            <a:avLst/>
          </a:prstGeom>
          <a:noFill/>
        </p:spPr>
        <p:txBody>
          <a:bodyPr wrap="non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3600" b="0" i="0" u="none" strike="noStrike" kern="1200" cap="none" spc="0" normalizeH="0" baseline="0" noProof="0" dirty="0">
                <a:ln>
                  <a:noFill/>
                </a:ln>
                <a:solidFill>
                  <a:srgbClr val="3F2619"/>
                </a:solidFill>
                <a:effectLst/>
                <a:uLnTx/>
                <a:uFillTx/>
                <a:latin typeface="Cambria Math"/>
                <a:ea typeface="Cambria Math"/>
                <a:cs typeface="+mn-cs"/>
              </a:rPr>
              <a:t>=</a:t>
            </a:r>
          </a:p>
        </p:txBody>
      </p:sp>
      <p:grpSp>
        <p:nvGrpSpPr>
          <p:cNvPr id="5" name="channel 1 結果"/>
          <p:cNvGrpSpPr/>
          <p:nvPr/>
        </p:nvGrpSpPr>
        <p:grpSpPr>
          <a:xfrm>
            <a:off x="6391656" y="4457700"/>
            <a:ext cx="1005840" cy="1005840"/>
            <a:chOff x="6391656" y="4457700"/>
            <a:chExt cx="1005840" cy="1005840"/>
          </a:xfrm>
        </p:grpSpPr>
        <p:sp>
          <p:nvSpPr>
            <p:cNvPr id="48" name="Rectangle 47"/>
            <p:cNvSpPr/>
            <p:nvPr/>
          </p:nvSpPr>
          <p:spPr>
            <a:xfrm>
              <a:off x="6391656" y="4457700"/>
              <a:ext cx="502920" cy="502920"/>
            </a:xfrm>
            <a:prstGeom prst="rect">
              <a:avLst/>
            </a:prstGeom>
            <a:solidFill>
              <a:srgbClr val="FDB1B1"/>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2</a:t>
              </a:r>
            </a:p>
          </p:txBody>
        </p:sp>
        <p:sp>
          <p:nvSpPr>
            <p:cNvPr id="49" name="Rectangle 48"/>
            <p:cNvSpPr/>
            <p:nvPr/>
          </p:nvSpPr>
          <p:spPr>
            <a:xfrm>
              <a:off x="6894576" y="4457700"/>
              <a:ext cx="502920" cy="502920"/>
            </a:xfrm>
            <a:prstGeom prst="rect">
              <a:avLst/>
            </a:prstGeom>
            <a:solidFill>
              <a:srgbClr val="FFFFFF"/>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5</a:t>
              </a:r>
            </a:p>
          </p:txBody>
        </p:sp>
        <p:sp>
          <p:nvSpPr>
            <p:cNvPr id="50" name="Rectangle 49"/>
            <p:cNvSpPr/>
            <p:nvPr/>
          </p:nvSpPr>
          <p:spPr>
            <a:xfrm>
              <a:off x="6391656" y="4960620"/>
              <a:ext cx="502920" cy="502920"/>
            </a:xfrm>
            <a:prstGeom prst="rect">
              <a:avLst/>
            </a:prstGeom>
            <a:solidFill>
              <a:srgbClr val="FFFFFF"/>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1</a:t>
              </a:r>
            </a:p>
          </p:txBody>
        </p:sp>
        <p:sp>
          <p:nvSpPr>
            <p:cNvPr id="51" name="Rectangle 50"/>
            <p:cNvSpPr/>
            <p:nvPr/>
          </p:nvSpPr>
          <p:spPr>
            <a:xfrm>
              <a:off x="6894576" y="4960620"/>
              <a:ext cx="502920" cy="502920"/>
            </a:xfrm>
            <a:prstGeom prst="rect">
              <a:avLst/>
            </a:prstGeom>
            <a:solidFill>
              <a:srgbClr val="FFFFFF"/>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2</a:t>
              </a:r>
            </a:p>
          </p:txBody>
        </p:sp>
      </p:grpSp>
      <p:sp>
        <p:nvSpPr>
          <p:cNvPr id="52" name="TextBox 51"/>
          <p:cNvSpPr txBox="1"/>
          <p:nvPr/>
        </p:nvSpPr>
        <p:spPr>
          <a:xfrm>
            <a:off x="2116836" y="5788152"/>
            <a:ext cx="1737360" cy="365760"/>
          </a:xfrm>
          <a:prstGeom prst="rect">
            <a:avLst/>
          </a:prstGeom>
          <a:noFill/>
        </p:spPr>
        <p:txBody>
          <a:bodyPr wrap="non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700" b="0" i="0" u="none" strike="noStrike" kern="1200" cap="none" spc="0" normalizeH="0" baseline="0" noProof="0" dirty="0">
                <a:ln>
                  <a:noFill/>
                </a:ln>
                <a:solidFill>
                  <a:srgbClr val="7A6555"/>
                </a:solidFill>
                <a:effectLst/>
                <a:uLnTx/>
                <a:uFillTx/>
                <a:latin typeface="Noto Sans SC Medium"/>
                <a:ea typeface="Noto Sans SC Medium"/>
                <a:cs typeface="+mn-cs"/>
              </a:rPr>
              <a:t>channel 1</a:t>
            </a:r>
          </a:p>
        </p:txBody>
      </p:sp>
      <p:sp>
        <p:nvSpPr>
          <p:cNvPr id="53" name="TextBox 52"/>
          <p:cNvSpPr txBox="1"/>
          <p:nvPr/>
        </p:nvSpPr>
        <p:spPr>
          <a:xfrm>
            <a:off x="4334256" y="5788152"/>
            <a:ext cx="1463040" cy="365760"/>
          </a:xfrm>
          <a:prstGeom prst="rect">
            <a:avLst/>
          </a:prstGeom>
          <a:noFill/>
        </p:spPr>
        <p:txBody>
          <a:bodyPr wrap="non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700" b="0" i="0" u="none" strike="noStrike" kern="1200" cap="none" spc="0" normalizeH="0" baseline="0" noProof="0" dirty="0">
                <a:ln>
                  <a:noFill/>
                </a:ln>
                <a:solidFill>
                  <a:srgbClr val="7A6555"/>
                </a:solidFill>
                <a:effectLst/>
                <a:uLnTx/>
                <a:uFillTx/>
                <a:latin typeface="Noto Sans SC Medium"/>
                <a:ea typeface="Noto Sans SC Medium"/>
                <a:cs typeface="+mn-cs"/>
              </a:rPr>
              <a:t>kernel 1</a:t>
            </a:r>
          </a:p>
        </p:txBody>
      </p:sp>
      <p:sp>
        <p:nvSpPr>
          <p:cNvPr id="54" name="TextBox 53"/>
          <p:cNvSpPr txBox="1"/>
          <p:nvPr/>
        </p:nvSpPr>
        <p:spPr>
          <a:xfrm>
            <a:off x="6025896" y="5788152"/>
            <a:ext cx="1737360" cy="365760"/>
          </a:xfrm>
          <a:prstGeom prst="rect">
            <a:avLst/>
          </a:prstGeom>
          <a:noFill/>
        </p:spPr>
        <p:txBody>
          <a:bodyPr wrap="non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700" b="0" i="0" u="none" strike="noStrike" kern="1200" cap="none" spc="0" normalizeH="0" baseline="0" noProof="0" dirty="0">
                <a:ln>
                  <a:noFill/>
                </a:ln>
                <a:solidFill>
                  <a:srgbClr val="7A6555"/>
                </a:solidFill>
                <a:effectLst/>
                <a:uLnTx/>
                <a:uFillTx/>
                <a:latin typeface="Noto Sans SC Medium"/>
                <a:ea typeface="Noto Sans SC Medium"/>
                <a:cs typeface="+mn-cs"/>
              </a:rPr>
              <a:t>channel 1 結果</a:t>
            </a:r>
          </a:p>
        </p:txBody>
      </p:sp>
      <p:sp>
        <p:nvSpPr>
          <p:cNvPr id="55" name="TextBox 54"/>
          <p:cNvSpPr txBox="1"/>
          <p:nvPr/>
        </p:nvSpPr>
        <p:spPr>
          <a:xfrm>
            <a:off x="2231136" y="6245352"/>
            <a:ext cx="7315200" cy="1051560"/>
          </a:xfrm>
          <a:prstGeom prst="rect">
            <a:avLst/>
          </a:prstGeom>
          <a:noFill/>
        </p:spPr>
        <p:txBody>
          <a:bodyPr wrap="square" lIns="0" tIns="0" rIns="0" bIns="0" anchor="t">
            <a:noAutofit/>
          </a:bodyPr>
          <a:lstStyle/>
          <a:p>
            <a:pPr marL="0" marR="0" lvl="0" indent="0" algn="l" defTabSz="914400" rtl="0" eaLnBrk="1" fontAlgn="auto" latinLnBrk="0" hangingPunct="1">
              <a:lnSpc>
                <a:spcPts val="27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3F2619"/>
                </a:solidFill>
                <a:effectLst/>
                <a:uLnTx/>
                <a:uFillTx/>
                <a:latin typeface="Noto Sans SC Medium"/>
                <a:ea typeface="Noto Sans SC Medium"/>
                <a:cs typeface="+mn-cs"/>
              </a:rPr>
              <a:t>左上角的 2 是左上 2×2 區塊和 kernel 對應相乘再加總：1×1 + 2×0 + 0×0 + 1×1 = 2。其他位置就把 kernel 往右、往下平移一格，用同樣方式計算。</a:t>
            </a:r>
          </a:p>
        </p:txBody>
      </p:sp>
      <p:sp>
        <p:nvSpPr>
          <p:cNvPr id="56" name="TextBox 55"/>
          <p:cNvSpPr txBox="1"/>
          <p:nvPr/>
        </p:nvSpPr>
        <p:spPr>
          <a:xfrm>
            <a:off x="10369296" y="3703320"/>
            <a:ext cx="7315200" cy="457200"/>
          </a:xfrm>
          <a:prstGeom prst="rect">
            <a:avLst/>
          </a:prstGeom>
          <a:noFill/>
        </p:spPr>
        <p:txBody>
          <a:bodyPr wrap="square" lIns="0" tIns="0" rIns="0" bIns="0" anchor="t">
            <a:noAutofit/>
          </a:bodyPr>
          <a:lstStyle/>
          <a:p>
            <a:pPr marL="0" marR="0" lvl="0" indent="0" algn="l" defTabSz="914400" rtl="0" eaLnBrk="1" fontAlgn="auto" latinLnBrk="0" hangingPunct="1">
              <a:lnSpc>
                <a:spcPts val="3200"/>
              </a:lnSpc>
              <a:spcBef>
                <a:spcPts val="0"/>
              </a:spcBef>
              <a:spcAft>
                <a:spcPts val="0"/>
              </a:spcAft>
              <a:buClrTx/>
              <a:buSzTx/>
              <a:buFontTx/>
              <a:buNone/>
              <a:tabLst/>
              <a:defRPr/>
            </a:pPr>
            <a:r>
              <a:rPr kumimoji="0" lang="zh-TW" altLang="en-US" sz="2400" b="0" i="0" u="none" strike="noStrike" kern="1200" cap="none" spc="0" normalizeH="0" baseline="0" noProof="0" dirty="0">
                <a:ln>
                  <a:noFill/>
                </a:ln>
                <a:solidFill>
                  <a:srgbClr val="3F2619"/>
                </a:solidFill>
                <a:effectLst/>
                <a:uLnTx/>
                <a:uFillTx/>
                <a:latin typeface="Noto Sans SC Medium"/>
                <a:ea typeface="Noto Sans SC Medium"/>
                <a:cs typeface="+mn-cs"/>
              </a:rPr>
              <a:t>第 2 個 kernel 對第 2 個 channel 卷積：</a:t>
            </a:r>
          </a:p>
        </p:txBody>
      </p:sp>
      <p:grpSp>
        <p:nvGrpSpPr>
          <p:cNvPr id="7" name="channel 2"/>
          <p:cNvGrpSpPr/>
          <p:nvPr/>
        </p:nvGrpSpPr>
        <p:grpSpPr>
          <a:xfrm>
            <a:off x="10369296" y="4206240"/>
            <a:ext cx="1508760" cy="1508760"/>
            <a:chOff x="10369296" y="4206240"/>
            <a:chExt cx="1508760" cy="1508760"/>
          </a:xfrm>
        </p:grpSpPr>
        <p:sp>
          <p:nvSpPr>
            <p:cNvPr id="57" name="Rectangle 56"/>
            <p:cNvSpPr/>
            <p:nvPr/>
          </p:nvSpPr>
          <p:spPr>
            <a:xfrm>
              <a:off x="10369296" y="420624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0</a:t>
              </a:r>
              <a:r>
                <a:rPr kumimoji="0" lang="zh-TW" altLang="en-US" sz="1600" b="1" i="0" u="none" strike="noStrike" kern="1200" cap="none" spc="0" normalizeH="0" baseline="-25000" noProof="0" dirty="0">
                  <a:ln>
                    <a:noFill/>
                  </a:ln>
                  <a:solidFill>
                    <a:srgbClr val="C00000"/>
                  </a:solidFill>
                  <a:effectLst/>
                  <a:uLnTx/>
                  <a:uFillTx/>
                  <a:latin typeface="Noto Sans SC Medium"/>
                  <a:ea typeface="Noto Sans SC Medium"/>
                  <a:cs typeface="+mn-cs"/>
                </a:rPr>
                <a:t>×0</a:t>
              </a:r>
            </a:p>
          </p:txBody>
        </p:sp>
        <p:sp>
          <p:nvSpPr>
            <p:cNvPr id="58" name="Rectangle 57"/>
            <p:cNvSpPr/>
            <p:nvPr/>
          </p:nvSpPr>
          <p:spPr>
            <a:xfrm>
              <a:off x="10872216" y="420624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1</a:t>
              </a:r>
              <a:r>
                <a:rPr kumimoji="0" lang="zh-TW" altLang="en-US" sz="1600" b="1" i="0" u="none" strike="noStrike" kern="1200" cap="none" spc="0" normalizeH="0" baseline="-25000" noProof="0" dirty="0">
                  <a:ln>
                    <a:noFill/>
                  </a:ln>
                  <a:solidFill>
                    <a:srgbClr val="C00000"/>
                  </a:solidFill>
                  <a:effectLst/>
                  <a:uLnTx/>
                  <a:uFillTx/>
                  <a:latin typeface="Noto Sans SC Medium"/>
                  <a:ea typeface="Noto Sans SC Medium"/>
                  <a:cs typeface="+mn-cs"/>
                </a:rPr>
                <a:t>×1</a:t>
              </a:r>
            </a:p>
          </p:txBody>
        </p:sp>
        <p:sp>
          <p:nvSpPr>
            <p:cNvPr id="59" name="Rectangle 58"/>
            <p:cNvSpPr/>
            <p:nvPr/>
          </p:nvSpPr>
          <p:spPr>
            <a:xfrm>
              <a:off x="11375136" y="4206240"/>
              <a:ext cx="502920" cy="502920"/>
            </a:xfrm>
            <a:prstGeom prst="rect">
              <a:avLst/>
            </a:prstGeom>
            <a:solidFill>
              <a:srgbClr val="92D05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1</a:t>
              </a:r>
            </a:p>
          </p:txBody>
        </p:sp>
        <p:sp>
          <p:nvSpPr>
            <p:cNvPr id="60" name="Rectangle 59"/>
            <p:cNvSpPr/>
            <p:nvPr/>
          </p:nvSpPr>
          <p:spPr>
            <a:xfrm>
              <a:off x="10369296" y="470916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2</a:t>
              </a:r>
              <a:r>
                <a:rPr kumimoji="0" lang="zh-TW" altLang="en-US" sz="1600" b="1" i="0" u="none" strike="noStrike" kern="1200" cap="none" spc="0" normalizeH="0" baseline="-25000" noProof="0" dirty="0">
                  <a:ln>
                    <a:noFill/>
                  </a:ln>
                  <a:solidFill>
                    <a:srgbClr val="C00000"/>
                  </a:solidFill>
                  <a:effectLst/>
                  <a:uLnTx/>
                  <a:uFillTx/>
                  <a:latin typeface="Noto Sans SC Medium"/>
                  <a:ea typeface="Noto Sans SC Medium"/>
                  <a:cs typeface="+mn-cs"/>
                </a:rPr>
                <a:t>×1</a:t>
              </a:r>
            </a:p>
          </p:txBody>
        </p:sp>
        <p:sp>
          <p:nvSpPr>
            <p:cNvPr id="61" name="Rectangle 60"/>
            <p:cNvSpPr/>
            <p:nvPr/>
          </p:nvSpPr>
          <p:spPr>
            <a:xfrm>
              <a:off x="10872216" y="470916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0</a:t>
              </a:r>
              <a:r>
                <a:rPr kumimoji="0" lang="zh-TW" altLang="en-US" sz="1600" b="1" i="0" u="none" strike="noStrike" kern="1200" cap="none" spc="0" normalizeH="0" baseline="-25000" noProof="0" dirty="0">
                  <a:ln>
                    <a:noFill/>
                  </a:ln>
                  <a:solidFill>
                    <a:srgbClr val="C00000"/>
                  </a:solidFill>
                  <a:effectLst/>
                  <a:uLnTx/>
                  <a:uFillTx/>
                  <a:latin typeface="Noto Sans SC Medium"/>
                  <a:ea typeface="Noto Sans SC Medium"/>
                  <a:cs typeface="+mn-cs"/>
                </a:rPr>
                <a:t>×0</a:t>
              </a:r>
            </a:p>
          </p:txBody>
        </p:sp>
        <p:sp>
          <p:nvSpPr>
            <p:cNvPr id="62" name="Rectangle 61"/>
            <p:cNvSpPr/>
            <p:nvPr/>
          </p:nvSpPr>
          <p:spPr>
            <a:xfrm>
              <a:off x="11375136" y="4709160"/>
              <a:ext cx="502920" cy="502920"/>
            </a:xfrm>
            <a:prstGeom prst="rect">
              <a:avLst/>
            </a:prstGeom>
            <a:solidFill>
              <a:srgbClr val="92D05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1</a:t>
              </a:r>
            </a:p>
          </p:txBody>
        </p:sp>
        <p:sp>
          <p:nvSpPr>
            <p:cNvPr id="63" name="Rectangle 62"/>
            <p:cNvSpPr/>
            <p:nvPr/>
          </p:nvSpPr>
          <p:spPr>
            <a:xfrm>
              <a:off x="10369296" y="5212080"/>
              <a:ext cx="502920" cy="502920"/>
            </a:xfrm>
            <a:prstGeom prst="rect">
              <a:avLst/>
            </a:prstGeom>
            <a:solidFill>
              <a:srgbClr val="92D05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1</a:t>
              </a:r>
            </a:p>
          </p:txBody>
        </p:sp>
        <p:sp>
          <p:nvSpPr>
            <p:cNvPr id="64" name="Rectangle 63"/>
            <p:cNvSpPr/>
            <p:nvPr/>
          </p:nvSpPr>
          <p:spPr>
            <a:xfrm>
              <a:off x="10872216" y="5212080"/>
              <a:ext cx="502920" cy="502920"/>
            </a:xfrm>
            <a:prstGeom prst="rect">
              <a:avLst/>
            </a:prstGeom>
            <a:solidFill>
              <a:srgbClr val="92D05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3</a:t>
              </a:r>
            </a:p>
          </p:txBody>
        </p:sp>
        <p:sp>
          <p:nvSpPr>
            <p:cNvPr id="65" name="Rectangle 64"/>
            <p:cNvSpPr/>
            <p:nvPr/>
          </p:nvSpPr>
          <p:spPr>
            <a:xfrm>
              <a:off x="11375136" y="5212080"/>
              <a:ext cx="502920" cy="502920"/>
            </a:xfrm>
            <a:prstGeom prst="rect">
              <a:avLst/>
            </a:prstGeom>
            <a:solidFill>
              <a:srgbClr val="92D05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0</a:t>
              </a:r>
            </a:p>
          </p:txBody>
        </p:sp>
      </p:grpSp>
      <p:sp>
        <p:nvSpPr>
          <p:cNvPr id="66" name="TextBox 65"/>
          <p:cNvSpPr txBox="1"/>
          <p:nvPr/>
        </p:nvSpPr>
        <p:spPr>
          <a:xfrm>
            <a:off x="11878056" y="4457700"/>
            <a:ext cx="822960" cy="1005840"/>
          </a:xfrm>
          <a:prstGeom prst="rect">
            <a:avLst/>
          </a:prstGeom>
          <a:noFill/>
        </p:spPr>
        <p:txBody>
          <a:bodyPr wrap="non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4400" b="0" i="0" u="none" strike="noStrike" kern="1200" cap="none" spc="0" normalizeH="0" baseline="0" noProof="0" dirty="0">
                <a:ln>
                  <a:noFill/>
                </a:ln>
                <a:solidFill>
                  <a:srgbClr val="3F2619"/>
                </a:solidFill>
                <a:effectLst/>
                <a:uLnTx/>
                <a:uFillTx/>
                <a:latin typeface="Cambria Math"/>
                <a:ea typeface="Cambria Math"/>
                <a:cs typeface="+mn-cs"/>
              </a:rPr>
              <a:t>⋆</a:t>
            </a:r>
          </a:p>
        </p:txBody>
      </p:sp>
      <p:grpSp>
        <p:nvGrpSpPr>
          <p:cNvPr id="8" name="kernel 2"/>
          <p:cNvGrpSpPr/>
          <p:nvPr/>
        </p:nvGrpSpPr>
        <p:grpSpPr>
          <a:xfrm>
            <a:off x="12701016" y="4457700"/>
            <a:ext cx="1005840" cy="1005840"/>
            <a:chOff x="12701016" y="4457700"/>
            <a:chExt cx="1005840" cy="1005840"/>
          </a:xfrm>
        </p:grpSpPr>
        <p:sp>
          <p:nvSpPr>
            <p:cNvPr id="67" name="Rectangle 66"/>
            <p:cNvSpPr/>
            <p:nvPr/>
          </p:nvSpPr>
          <p:spPr>
            <a:xfrm>
              <a:off x="12701016" y="445770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C00000"/>
                  </a:solidFill>
                  <a:effectLst/>
                  <a:uLnTx/>
                  <a:uFillTx/>
                  <a:latin typeface="Noto Sans SC Medium"/>
                  <a:ea typeface="Noto Sans SC Medium"/>
                  <a:cs typeface="+mn-cs"/>
                </a:rPr>
                <a:t>0</a:t>
              </a:r>
            </a:p>
          </p:txBody>
        </p:sp>
        <p:sp>
          <p:nvSpPr>
            <p:cNvPr id="68" name="Rectangle 67"/>
            <p:cNvSpPr/>
            <p:nvPr/>
          </p:nvSpPr>
          <p:spPr>
            <a:xfrm>
              <a:off x="13203936" y="445770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C00000"/>
                  </a:solidFill>
                  <a:effectLst/>
                  <a:uLnTx/>
                  <a:uFillTx/>
                  <a:latin typeface="Noto Sans SC Medium"/>
                  <a:ea typeface="Noto Sans SC Medium"/>
                  <a:cs typeface="+mn-cs"/>
                </a:rPr>
                <a:t>1</a:t>
              </a:r>
            </a:p>
          </p:txBody>
        </p:sp>
        <p:sp>
          <p:nvSpPr>
            <p:cNvPr id="69" name="Rectangle 68"/>
            <p:cNvSpPr/>
            <p:nvPr/>
          </p:nvSpPr>
          <p:spPr>
            <a:xfrm>
              <a:off x="12701016" y="496062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C00000"/>
                  </a:solidFill>
                  <a:effectLst/>
                  <a:uLnTx/>
                  <a:uFillTx/>
                  <a:latin typeface="Noto Sans SC Medium"/>
                  <a:ea typeface="Noto Sans SC Medium"/>
                  <a:cs typeface="+mn-cs"/>
                </a:rPr>
                <a:t>1</a:t>
              </a:r>
            </a:p>
          </p:txBody>
        </p:sp>
        <p:sp>
          <p:nvSpPr>
            <p:cNvPr id="70" name="Rectangle 69"/>
            <p:cNvSpPr/>
            <p:nvPr/>
          </p:nvSpPr>
          <p:spPr>
            <a:xfrm>
              <a:off x="13203936" y="496062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C00000"/>
                  </a:solidFill>
                  <a:effectLst/>
                  <a:uLnTx/>
                  <a:uFillTx/>
                  <a:latin typeface="Noto Sans SC Medium"/>
                  <a:ea typeface="Noto Sans SC Medium"/>
                  <a:cs typeface="+mn-cs"/>
                </a:rPr>
                <a:t>0</a:t>
              </a:r>
            </a:p>
          </p:txBody>
        </p:sp>
      </p:grpSp>
      <p:sp>
        <p:nvSpPr>
          <p:cNvPr id="71" name="TextBox 70"/>
          <p:cNvSpPr txBox="1"/>
          <p:nvPr/>
        </p:nvSpPr>
        <p:spPr>
          <a:xfrm>
            <a:off x="13706856" y="4457700"/>
            <a:ext cx="822960" cy="1005840"/>
          </a:xfrm>
          <a:prstGeom prst="rect">
            <a:avLst/>
          </a:prstGeom>
          <a:noFill/>
        </p:spPr>
        <p:txBody>
          <a:bodyPr wrap="non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3600" b="0" i="0" u="none" strike="noStrike" kern="1200" cap="none" spc="0" normalizeH="0" baseline="0" noProof="0" dirty="0">
                <a:ln>
                  <a:noFill/>
                </a:ln>
                <a:solidFill>
                  <a:srgbClr val="3F2619"/>
                </a:solidFill>
                <a:effectLst/>
                <a:uLnTx/>
                <a:uFillTx/>
                <a:latin typeface="Cambria Math"/>
                <a:ea typeface="Cambria Math"/>
                <a:cs typeface="+mn-cs"/>
              </a:rPr>
              <a:t>=</a:t>
            </a:r>
          </a:p>
        </p:txBody>
      </p:sp>
      <p:grpSp>
        <p:nvGrpSpPr>
          <p:cNvPr id="10" name="channel 2 結果"/>
          <p:cNvGrpSpPr/>
          <p:nvPr/>
        </p:nvGrpSpPr>
        <p:grpSpPr>
          <a:xfrm>
            <a:off x="14529816" y="4457700"/>
            <a:ext cx="1005840" cy="1005840"/>
            <a:chOff x="14529816" y="4457700"/>
            <a:chExt cx="1005840" cy="1005840"/>
          </a:xfrm>
        </p:grpSpPr>
        <p:sp>
          <p:nvSpPr>
            <p:cNvPr id="72" name="Rectangle 71"/>
            <p:cNvSpPr/>
            <p:nvPr/>
          </p:nvSpPr>
          <p:spPr>
            <a:xfrm>
              <a:off x="14529816" y="4457700"/>
              <a:ext cx="502920" cy="502920"/>
            </a:xfrm>
            <a:prstGeom prst="rect">
              <a:avLst/>
            </a:prstGeom>
            <a:solidFill>
              <a:srgbClr val="FDB1B1"/>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3</a:t>
              </a:r>
            </a:p>
          </p:txBody>
        </p:sp>
        <p:sp>
          <p:nvSpPr>
            <p:cNvPr id="73" name="Rectangle 72"/>
            <p:cNvSpPr/>
            <p:nvPr/>
          </p:nvSpPr>
          <p:spPr>
            <a:xfrm>
              <a:off x="15032736" y="4457700"/>
              <a:ext cx="502920" cy="502920"/>
            </a:xfrm>
            <a:prstGeom prst="rect">
              <a:avLst/>
            </a:prstGeom>
            <a:solidFill>
              <a:srgbClr val="FFFFFF"/>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1</a:t>
              </a:r>
            </a:p>
          </p:txBody>
        </p:sp>
        <p:sp>
          <p:nvSpPr>
            <p:cNvPr id="74" name="Rectangle 73"/>
            <p:cNvSpPr/>
            <p:nvPr/>
          </p:nvSpPr>
          <p:spPr>
            <a:xfrm>
              <a:off x="14529816" y="4960620"/>
              <a:ext cx="502920" cy="502920"/>
            </a:xfrm>
            <a:prstGeom prst="rect">
              <a:avLst/>
            </a:prstGeom>
            <a:solidFill>
              <a:srgbClr val="FFFFFF"/>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1</a:t>
              </a:r>
            </a:p>
          </p:txBody>
        </p:sp>
        <p:sp>
          <p:nvSpPr>
            <p:cNvPr id="75" name="Rectangle 74"/>
            <p:cNvSpPr/>
            <p:nvPr/>
          </p:nvSpPr>
          <p:spPr>
            <a:xfrm>
              <a:off x="15032736" y="4960620"/>
              <a:ext cx="502920" cy="502920"/>
            </a:xfrm>
            <a:prstGeom prst="rect">
              <a:avLst/>
            </a:prstGeom>
            <a:solidFill>
              <a:srgbClr val="FFFFFF"/>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4</a:t>
              </a:r>
            </a:p>
          </p:txBody>
        </p:sp>
      </p:grpSp>
      <p:sp>
        <p:nvSpPr>
          <p:cNvPr id="76" name="TextBox 75"/>
          <p:cNvSpPr txBox="1"/>
          <p:nvPr/>
        </p:nvSpPr>
        <p:spPr>
          <a:xfrm>
            <a:off x="10254996" y="5788152"/>
            <a:ext cx="1737360" cy="365760"/>
          </a:xfrm>
          <a:prstGeom prst="rect">
            <a:avLst/>
          </a:prstGeom>
          <a:noFill/>
        </p:spPr>
        <p:txBody>
          <a:bodyPr wrap="non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700" b="0" i="0" u="none" strike="noStrike" kern="1200" cap="none" spc="0" normalizeH="0" baseline="0" noProof="0" dirty="0">
                <a:ln>
                  <a:noFill/>
                </a:ln>
                <a:solidFill>
                  <a:srgbClr val="7A6555"/>
                </a:solidFill>
                <a:effectLst/>
                <a:uLnTx/>
                <a:uFillTx/>
                <a:latin typeface="Noto Sans SC Medium"/>
                <a:ea typeface="Noto Sans SC Medium"/>
                <a:cs typeface="+mn-cs"/>
              </a:rPr>
              <a:t>channel 2</a:t>
            </a:r>
          </a:p>
        </p:txBody>
      </p:sp>
      <p:sp>
        <p:nvSpPr>
          <p:cNvPr id="77" name="TextBox 76"/>
          <p:cNvSpPr txBox="1"/>
          <p:nvPr/>
        </p:nvSpPr>
        <p:spPr>
          <a:xfrm>
            <a:off x="12472416" y="5788152"/>
            <a:ext cx="1463040" cy="365760"/>
          </a:xfrm>
          <a:prstGeom prst="rect">
            <a:avLst/>
          </a:prstGeom>
          <a:noFill/>
        </p:spPr>
        <p:txBody>
          <a:bodyPr wrap="non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700" b="0" i="0" u="none" strike="noStrike" kern="1200" cap="none" spc="0" normalizeH="0" baseline="0" noProof="0" dirty="0">
                <a:ln>
                  <a:noFill/>
                </a:ln>
                <a:solidFill>
                  <a:srgbClr val="7A6555"/>
                </a:solidFill>
                <a:effectLst/>
                <a:uLnTx/>
                <a:uFillTx/>
                <a:latin typeface="Noto Sans SC Medium"/>
                <a:ea typeface="Noto Sans SC Medium"/>
                <a:cs typeface="+mn-cs"/>
              </a:rPr>
              <a:t>kernel 2</a:t>
            </a:r>
          </a:p>
        </p:txBody>
      </p:sp>
      <p:sp>
        <p:nvSpPr>
          <p:cNvPr id="78" name="TextBox 77"/>
          <p:cNvSpPr txBox="1"/>
          <p:nvPr/>
        </p:nvSpPr>
        <p:spPr>
          <a:xfrm>
            <a:off x="14164056" y="5788152"/>
            <a:ext cx="1737360" cy="365760"/>
          </a:xfrm>
          <a:prstGeom prst="rect">
            <a:avLst/>
          </a:prstGeom>
          <a:noFill/>
        </p:spPr>
        <p:txBody>
          <a:bodyPr wrap="non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700" b="0" i="0" u="none" strike="noStrike" kern="1200" cap="none" spc="0" normalizeH="0" baseline="0" noProof="0" dirty="0">
                <a:ln>
                  <a:noFill/>
                </a:ln>
                <a:solidFill>
                  <a:srgbClr val="7A6555"/>
                </a:solidFill>
                <a:effectLst/>
                <a:uLnTx/>
                <a:uFillTx/>
                <a:latin typeface="Noto Sans SC Medium"/>
                <a:ea typeface="Noto Sans SC Medium"/>
                <a:cs typeface="+mn-cs"/>
              </a:rPr>
              <a:t>channel 2 結果</a:t>
            </a:r>
          </a:p>
        </p:txBody>
      </p:sp>
      <p:sp>
        <p:nvSpPr>
          <p:cNvPr id="79" name="TextBox 78"/>
          <p:cNvSpPr txBox="1"/>
          <p:nvPr/>
        </p:nvSpPr>
        <p:spPr>
          <a:xfrm>
            <a:off x="10369296" y="6245352"/>
            <a:ext cx="7315200" cy="1051560"/>
          </a:xfrm>
          <a:prstGeom prst="rect">
            <a:avLst/>
          </a:prstGeom>
          <a:noFill/>
        </p:spPr>
        <p:txBody>
          <a:bodyPr wrap="square" lIns="0" tIns="0" rIns="0" bIns="0" anchor="t">
            <a:noAutofit/>
          </a:bodyPr>
          <a:lstStyle/>
          <a:p>
            <a:pPr marL="0" marR="0" lvl="0" indent="0" algn="l" defTabSz="914400" rtl="0" eaLnBrk="1" fontAlgn="auto" latinLnBrk="0" hangingPunct="1">
              <a:lnSpc>
                <a:spcPts val="27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3F2619"/>
                </a:solidFill>
                <a:effectLst/>
                <a:uLnTx/>
                <a:uFillTx/>
                <a:latin typeface="Noto Sans SC Medium"/>
                <a:ea typeface="Noto Sans SC Medium"/>
                <a:cs typeface="+mn-cs"/>
              </a:rPr>
              <a:t>左上角是 0×0 + 1×1 + 2×1 + 0×0 = 3。</a:t>
            </a:r>
          </a:p>
        </p:txBody>
      </p:sp>
      <p:sp>
        <p:nvSpPr>
          <p:cNvPr id="80" name="TextBox 79"/>
          <p:cNvSpPr txBox="1"/>
          <p:nvPr/>
        </p:nvSpPr>
        <p:spPr>
          <a:xfrm>
            <a:off x="2231136" y="7635240"/>
            <a:ext cx="15453360" cy="457200"/>
          </a:xfrm>
          <a:prstGeom prst="rect">
            <a:avLst/>
          </a:prstGeom>
          <a:noFill/>
        </p:spPr>
        <p:txBody>
          <a:bodyPr wrap="square" lIns="0" tIns="0" rIns="0" bIns="0" anchor="t">
            <a:noAutofit/>
          </a:bodyPr>
          <a:lstStyle/>
          <a:p>
            <a:pPr marL="0" marR="0" lvl="0" indent="0" algn="l" defTabSz="914400" rtl="0" eaLnBrk="1" fontAlgn="auto" latinLnBrk="0" hangingPunct="1">
              <a:lnSpc>
                <a:spcPts val="3200"/>
              </a:lnSpc>
              <a:spcBef>
                <a:spcPts val="0"/>
              </a:spcBef>
              <a:spcAft>
                <a:spcPts val="0"/>
              </a:spcAft>
              <a:buClrTx/>
              <a:buSzTx/>
              <a:buFontTx/>
              <a:buNone/>
              <a:tabLst/>
              <a:defRPr/>
            </a:pPr>
            <a:r>
              <a:rPr kumimoji="0" lang="zh-TW" altLang="en-US" sz="2400" b="0" i="0" u="none" strike="noStrike" kern="1200" cap="none" spc="0" normalizeH="0" baseline="0" noProof="0" dirty="0">
                <a:ln>
                  <a:noFill/>
                </a:ln>
                <a:solidFill>
                  <a:srgbClr val="3F2619"/>
                </a:solidFill>
                <a:effectLst/>
                <a:uLnTx/>
                <a:uFillTx/>
                <a:latin typeface="Noto Sans SC Medium"/>
                <a:ea typeface="Noto Sans SC Medium"/>
                <a:cs typeface="+mn-cs"/>
              </a:rPr>
              <a:t>最後把兩張圖逐位置相加，再把 bias 加到每個位置上：</a:t>
            </a:r>
          </a:p>
        </p:txBody>
      </p:sp>
      <p:grpSp>
        <p:nvGrpSpPr>
          <p:cNvPr id="12" name="sum channel 1"/>
          <p:cNvGrpSpPr/>
          <p:nvPr/>
        </p:nvGrpSpPr>
        <p:grpSpPr>
          <a:xfrm>
            <a:off x="2231136" y="8183880"/>
            <a:ext cx="1005840" cy="1005840"/>
            <a:chOff x="2231136" y="8183880"/>
            <a:chExt cx="1005840" cy="1005840"/>
          </a:xfrm>
        </p:grpSpPr>
        <p:sp>
          <p:nvSpPr>
            <p:cNvPr id="81" name="Rectangle 80"/>
            <p:cNvSpPr/>
            <p:nvPr/>
          </p:nvSpPr>
          <p:spPr>
            <a:xfrm>
              <a:off x="2231136" y="8183880"/>
              <a:ext cx="502920" cy="502920"/>
            </a:xfrm>
            <a:prstGeom prst="rect">
              <a:avLst/>
            </a:prstGeom>
            <a:solidFill>
              <a:srgbClr val="FDB1B1"/>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2</a:t>
              </a:r>
            </a:p>
          </p:txBody>
        </p:sp>
        <p:sp>
          <p:nvSpPr>
            <p:cNvPr id="82" name="Rectangle 81"/>
            <p:cNvSpPr/>
            <p:nvPr/>
          </p:nvSpPr>
          <p:spPr>
            <a:xfrm>
              <a:off x="2734056" y="8183880"/>
              <a:ext cx="502920" cy="502920"/>
            </a:xfrm>
            <a:prstGeom prst="rect">
              <a:avLst/>
            </a:prstGeom>
            <a:solidFill>
              <a:srgbClr val="FFFFFF"/>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5</a:t>
              </a:r>
            </a:p>
          </p:txBody>
        </p:sp>
        <p:sp>
          <p:nvSpPr>
            <p:cNvPr id="83" name="Rectangle 82"/>
            <p:cNvSpPr/>
            <p:nvPr/>
          </p:nvSpPr>
          <p:spPr>
            <a:xfrm>
              <a:off x="2231136" y="8686800"/>
              <a:ext cx="502920" cy="502920"/>
            </a:xfrm>
            <a:prstGeom prst="rect">
              <a:avLst/>
            </a:prstGeom>
            <a:solidFill>
              <a:srgbClr val="FFFFFF"/>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1</a:t>
              </a:r>
            </a:p>
          </p:txBody>
        </p:sp>
        <p:sp>
          <p:nvSpPr>
            <p:cNvPr id="84" name="Rectangle 83"/>
            <p:cNvSpPr/>
            <p:nvPr/>
          </p:nvSpPr>
          <p:spPr>
            <a:xfrm>
              <a:off x="2734056" y="8686800"/>
              <a:ext cx="502920" cy="502920"/>
            </a:xfrm>
            <a:prstGeom prst="rect">
              <a:avLst/>
            </a:prstGeom>
            <a:solidFill>
              <a:srgbClr val="FFFFFF"/>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2</a:t>
              </a:r>
            </a:p>
          </p:txBody>
        </p:sp>
      </p:grpSp>
      <p:sp>
        <p:nvSpPr>
          <p:cNvPr id="85" name="TextBox 84"/>
          <p:cNvSpPr txBox="1"/>
          <p:nvPr/>
        </p:nvSpPr>
        <p:spPr>
          <a:xfrm>
            <a:off x="3236976" y="8183880"/>
            <a:ext cx="822960" cy="1005840"/>
          </a:xfrm>
          <a:prstGeom prst="rect">
            <a:avLst/>
          </a:prstGeom>
          <a:noFill/>
        </p:spPr>
        <p:txBody>
          <a:bodyPr wrap="non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3600" b="0" i="0" u="none" strike="noStrike" kern="1200" cap="none" spc="0" normalizeH="0" baseline="0" noProof="0" dirty="0">
                <a:ln>
                  <a:noFill/>
                </a:ln>
                <a:solidFill>
                  <a:srgbClr val="3F2619"/>
                </a:solidFill>
                <a:effectLst/>
                <a:uLnTx/>
                <a:uFillTx/>
                <a:latin typeface="Cambria Math"/>
                <a:ea typeface="Cambria Math"/>
                <a:cs typeface="+mn-cs"/>
              </a:rPr>
              <a:t>+</a:t>
            </a:r>
          </a:p>
        </p:txBody>
      </p:sp>
      <p:grpSp>
        <p:nvGrpSpPr>
          <p:cNvPr id="13" name="sum channel 2"/>
          <p:cNvGrpSpPr/>
          <p:nvPr/>
        </p:nvGrpSpPr>
        <p:grpSpPr>
          <a:xfrm>
            <a:off x="4059936" y="8183880"/>
            <a:ext cx="1005840" cy="1005840"/>
            <a:chOff x="4059936" y="8183880"/>
            <a:chExt cx="1005840" cy="1005840"/>
          </a:xfrm>
        </p:grpSpPr>
        <p:sp>
          <p:nvSpPr>
            <p:cNvPr id="86" name="Rectangle 85"/>
            <p:cNvSpPr/>
            <p:nvPr/>
          </p:nvSpPr>
          <p:spPr>
            <a:xfrm>
              <a:off x="4059936" y="8183880"/>
              <a:ext cx="502920" cy="502920"/>
            </a:xfrm>
            <a:prstGeom prst="rect">
              <a:avLst/>
            </a:prstGeom>
            <a:solidFill>
              <a:srgbClr val="FDB1B1"/>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3</a:t>
              </a:r>
            </a:p>
          </p:txBody>
        </p:sp>
        <p:sp>
          <p:nvSpPr>
            <p:cNvPr id="87" name="Rectangle 86"/>
            <p:cNvSpPr/>
            <p:nvPr/>
          </p:nvSpPr>
          <p:spPr>
            <a:xfrm>
              <a:off x="4562856" y="8183880"/>
              <a:ext cx="502920" cy="502920"/>
            </a:xfrm>
            <a:prstGeom prst="rect">
              <a:avLst/>
            </a:prstGeom>
            <a:solidFill>
              <a:srgbClr val="FFFFFF"/>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1</a:t>
              </a:r>
            </a:p>
          </p:txBody>
        </p:sp>
        <p:sp>
          <p:nvSpPr>
            <p:cNvPr id="88" name="Rectangle 87"/>
            <p:cNvSpPr/>
            <p:nvPr/>
          </p:nvSpPr>
          <p:spPr>
            <a:xfrm>
              <a:off x="4059936" y="8686800"/>
              <a:ext cx="502920" cy="502920"/>
            </a:xfrm>
            <a:prstGeom prst="rect">
              <a:avLst/>
            </a:prstGeom>
            <a:solidFill>
              <a:srgbClr val="FFFFFF"/>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1</a:t>
              </a:r>
            </a:p>
          </p:txBody>
        </p:sp>
        <p:sp>
          <p:nvSpPr>
            <p:cNvPr id="89" name="Rectangle 88"/>
            <p:cNvSpPr/>
            <p:nvPr/>
          </p:nvSpPr>
          <p:spPr>
            <a:xfrm>
              <a:off x="4562856" y="8686800"/>
              <a:ext cx="502920" cy="502920"/>
            </a:xfrm>
            <a:prstGeom prst="rect">
              <a:avLst/>
            </a:prstGeom>
            <a:solidFill>
              <a:srgbClr val="FFFFFF"/>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4</a:t>
              </a:r>
            </a:p>
          </p:txBody>
        </p:sp>
      </p:grpSp>
      <p:sp>
        <p:nvSpPr>
          <p:cNvPr id="90" name="TextBox 89"/>
          <p:cNvSpPr txBox="1"/>
          <p:nvPr/>
        </p:nvSpPr>
        <p:spPr>
          <a:xfrm>
            <a:off x="5065776" y="8183880"/>
            <a:ext cx="822960" cy="1005840"/>
          </a:xfrm>
          <a:prstGeom prst="rect">
            <a:avLst/>
          </a:prstGeom>
          <a:noFill/>
        </p:spPr>
        <p:txBody>
          <a:bodyPr wrap="non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3600" b="0" i="0" u="none" strike="noStrike" kern="1200" cap="none" spc="0" normalizeH="0" baseline="0" noProof="0" dirty="0">
                <a:ln>
                  <a:noFill/>
                </a:ln>
                <a:solidFill>
                  <a:srgbClr val="3F2619"/>
                </a:solidFill>
                <a:effectLst/>
                <a:uLnTx/>
                <a:uFillTx/>
                <a:latin typeface="Cambria Math"/>
                <a:ea typeface="Cambria Math"/>
                <a:cs typeface="+mn-cs"/>
              </a:rPr>
              <a:t>+</a:t>
            </a:r>
          </a:p>
        </p:txBody>
      </p:sp>
      <p:sp>
        <p:nvSpPr>
          <p:cNvPr id="91" name="bias"/>
          <p:cNvSpPr txBox="1"/>
          <p:nvPr/>
        </p:nvSpPr>
        <p:spPr>
          <a:xfrm>
            <a:off x="5888736" y="8183880"/>
            <a:ext cx="548640" cy="1005840"/>
          </a:xfrm>
          <a:prstGeom prst="rect">
            <a:avLst/>
          </a:prstGeom>
          <a:noFill/>
        </p:spPr>
        <p:txBody>
          <a:bodyPr wrap="non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800" b="1" i="0" u="none" strike="noStrike" kern="1200" cap="none" spc="0" normalizeH="0" baseline="0" noProof="0" dirty="0">
                <a:ln>
                  <a:noFill/>
                </a:ln>
                <a:solidFill>
                  <a:srgbClr val="3F2619"/>
                </a:solidFill>
                <a:effectLst/>
                <a:uLnTx/>
                <a:uFillTx/>
                <a:latin typeface="Noto Sans SC Medium"/>
                <a:ea typeface="Noto Sans SC Medium"/>
                <a:cs typeface="+mn-cs"/>
              </a:rPr>
              <a:t>1</a:t>
            </a:r>
          </a:p>
        </p:txBody>
      </p:sp>
      <p:sp>
        <p:nvSpPr>
          <p:cNvPr id="92" name="TextBox 91"/>
          <p:cNvSpPr txBox="1"/>
          <p:nvPr/>
        </p:nvSpPr>
        <p:spPr>
          <a:xfrm>
            <a:off x="6437376" y="8183880"/>
            <a:ext cx="822960" cy="1005840"/>
          </a:xfrm>
          <a:prstGeom prst="rect">
            <a:avLst/>
          </a:prstGeom>
          <a:noFill/>
        </p:spPr>
        <p:txBody>
          <a:bodyPr wrap="non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3600" b="0" i="0" u="none" strike="noStrike" kern="1200" cap="none" spc="0" normalizeH="0" baseline="0" noProof="0" dirty="0">
                <a:ln>
                  <a:noFill/>
                </a:ln>
                <a:solidFill>
                  <a:srgbClr val="3F2619"/>
                </a:solidFill>
                <a:effectLst/>
                <a:uLnTx/>
                <a:uFillTx/>
                <a:latin typeface="Cambria Math"/>
                <a:ea typeface="Cambria Math"/>
                <a:cs typeface="+mn-cs"/>
              </a:rPr>
              <a:t>=</a:t>
            </a:r>
          </a:p>
        </p:txBody>
      </p:sp>
      <p:grpSp>
        <p:nvGrpSpPr>
          <p:cNvPr id="14" name="feature map"/>
          <p:cNvGrpSpPr/>
          <p:nvPr/>
        </p:nvGrpSpPr>
        <p:grpSpPr>
          <a:xfrm>
            <a:off x="7260336" y="8183880"/>
            <a:ext cx="1005840" cy="1005840"/>
            <a:chOff x="7260336" y="8183880"/>
            <a:chExt cx="1005840" cy="1005840"/>
          </a:xfrm>
        </p:grpSpPr>
        <p:sp>
          <p:nvSpPr>
            <p:cNvPr id="93" name="Rectangle 92"/>
            <p:cNvSpPr/>
            <p:nvPr/>
          </p:nvSpPr>
          <p:spPr>
            <a:xfrm>
              <a:off x="7260336" y="8183880"/>
              <a:ext cx="502920" cy="502920"/>
            </a:xfrm>
            <a:prstGeom prst="rect">
              <a:avLst/>
            </a:prstGeom>
            <a:solidFill>
              <a:srgbClr val="FDB1B1"/>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6</a:t>
              </a:r>
            </a:p>
          </p:txBody>
        </p:sp>
        <p:sp>
          <p:nvSpPr>
            <p:cNvPr id="94" name="Rectangle 93"/>
            <p:cNvSpPr/>
            <p:nvPr/>
          </p:nvSpPr>
          <p:spPr>
            <a:xfrm>
              <a:off x="7763256" y="8183880"/>
              <a:ext cx="502920" cy="502920"/>
            </a:xfrm>
            <a:prstGeom prst="rect">
              <a:avLst/>
            </a:prstGeom>
            <a:solidFill>
              <a:srgbClr val="FFFFFF"/>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7</a:t>
              </a:r>
            </a:p>
          </p:txBody>
        </p:sp>
        <p:sp>
          <p:nvSpPr>
            <p:cNvPr id="95" name="Rectangle 94"/>
            <p:cNvSpPr/>
            <p:nvPr/>
          </p:nvSpPr>
          <p:spPr>
            <a:xfrm>
              <a:off x="7260336" y="8686800"/>
              <a:ext cx="502920" cy="502920"/>
            </a:xfrm>
            <a:prstGeom prst="rect">
              <a:avLst/>
            </a:prstGeom>
            <a:solidFill>
              <a:srgbClr val="FFFFFF"/>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3</a:t>
              </a:r>
            </a:p>
          </p:txBody>
        </p:sp>
        <p:sp>
          <p:nvSpPr>
            <p:cNvPr id="96" name="Rectangle 95"/>
            <p:cNvSpPr/>
            <p:nvPr/>
          </p:nvSpPr>
          <p:spPr>
            <a:xfrm>
              <a:off x="7763256" y="8686800"/>
              <a:ext cx="502920" cy="502920"/>
            </a:xfrm>
            <a:prstGeom prst="rect">
              <a:avLst/>
            </a:prstGeom>
            <a:solidFill>
              <a:srgbClr val="FFFFFF"/>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7</a:t>
              </a:r>
            </a:p>
          </p:txBody>
        </p:sp>
      </p:grpSp>
      <p:sp>
        <p:nvSpPr>
          <p:cNvPr id="97" name="TextBox 96"/>
          <p:cNvSpPr txBox="1"/>
          <p:nvPr/>
        </p:nvSpPr>
        <p:spPr>
          <a:xfrm>
            <a:off x="1865376" y="9262872"/>
            <a:ext cx="1737360" cy="365760"/>
          </a:xfrm>
          <a:prstGeom prst="rect">
            <a:avLst/>
          </a:prstGeom>
          <a:noFill/>
        </p:spPr>
        <p:txBody>
          <a:bodyPr wrap="non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700" b="0" i="0" u="none" strike="noStrike" kern="1200" cap="none" spc="0" normalizeH="0" baseline="0" noProof="0" dirty="0">
                <a:ln>
                  <a:noFill/>
                </a:ln>
                <a:solidFill>
                  <a:srgbClr val="7A6555"/>
                </a:solidFill>
                <a:effectLst/>
                <a:uLnTx/>
                <a:uFillTx/>
                <a:latin typeface="Noto Sans SC Medium"/>
                <a:ea typeface="Noto Sans SC Medium"/>
                <a:cs typeface="+mn-cs"/>
              </a:rPr>
              <a:t>channel 1 結果</a:t>
            </a:r>
          </a:p>
        </p:txBody>
      </p:sp>
      <p:sp>
        <p:nvSpPr>
          <p:cNvPr id="98" name="TextBox 97"/>
          <p:cNvSpPr txBox="1"/>
          <p:nvPr/>
        </p:nvSpPr>
        <p:spPr>
          <a:xfrm>
            <a:off x="3694176" y="9262872"/>
            <a:ext cx="1737360" cy="365760"/>
          </a:xfrm>
          <a:prstGeom prst="rect">
            <a:avLst/>
          </a:prstGeom>
          <a:noFill/>
        </p:spPr>
        <p:txBody>
          <a:bodyPr wrap="non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700" b="0" i="0" u="none" strike="noStrike" kern="1200" cap="none" spc="0" normalizeH="0" baseline="0" noProof="0" dirty="0">
                <a:ln>
                  <a:noFill/>
                </a:ln>
                <a:solidFill>
                  <a:srgbClr val="7A6555"/>
                </a:solidFill>
                <a:effectLst/>
                <a:uLnTx/>
                <a:uFillTx/>
                <a:latin typeface="Noto Sans SC Medium"/>
                <a:ea typeface="Noto Sans SC Medium"/>
                <a:cs typeface="+mn-cs"/>
              </a:rPr>
              <a:t>channel 2 結果</a:t>
            </a:r>
          </a:p>
        </p:txBody>
      </p:sp>
      <p:sp>
        <p:nvSpPr>
          <p:cNvPr id="99" name="TextBox 98"/>
          <p:cNvSpPr txBox="1"/>
          <p:nvPr/>
        </p:nvSpPr>
        <p:spPr>
          <a:xfrm>
            <a:off x="5705856" y="9262872"/>
            <a:ext cx="914400" cy="365760"/>
          </a:xfrm>
          <a:prstGeom prst="rect">
            <a:avLst/>
          </a:prstGeom>
          <a:noFill/>
        </p:spPr>
        <p:txBody>
          <a:bodyPr wrap="non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700" b="0" i="0" u="none" strike="noStrike" kern="1200" cap="none" spc="0" normalizeH="0" baseline="0" noProof="0" dirty="0">
                <a:ln>
                  <a:noFill/>
                </a:ln>
                <a:solidFill>
                  <a:srgbClr val="7A6555"/>
                </a:solidFill>
                <a:effectLst/>
                <a:uLnTx/>
                <a:uFillTx/>
                <a:latin typeface="Noto Sans SC Medium"/>
                <a:ea typeface="Noto Sans SC Medium"/>
                <a:cs typeface="+mn-cs"/>
              </a:rPr>
              <a:t>bias</a:t>
            </a:r>
          </a:p>
        </p:txBody>
      </p:sp>
      <p:sp>
        <p:nvSpPr>
          <p:cNvPr id="100" name="TextBox 99"/>
          <p:cNvSpPr txBox="1"/>
          <p:nvPr/>
        </p:nvSpPr>
        <p:spPr>
          <a:xfrm>
            <a:off x="6894576" y="9262872"/>
            <a:ext cx="1737360" cy="365760"/>
          </a:xfrm>
          <a:prstGeom prst="rect">
            <a:avLst/>
          </a:prstGeom>
          <a:noFill/>
        </p:spPr>
        <p:txBody>
          <a:bodyPr wrap="non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700" b="0" i="0" u="none" strike="noStrike" kern="1200" cap="none" spc="0" normalizeH="0" baseline="0" noProof="0" dirty="0">
                <a:ln>
                  <a:noFill/>
                </a:ln>
                <a:solidFill>
                  <a:srgbClr val="7A6555"/>
                </a:solidFill>
                <a:effectLst/>
                <a:uLnTx/>
                <a:uFillTx/>
                <a:latin typeface="Noto Sans SC Medium"/>
                <a:ea typeface="Noto Sans SC Medium"/>
                <a:cs typeface="+mn-cs"/>
              </a:rPr>
              <a:t>feature map</a:t>
            </a:r>
          </a:p>
        </p:txBody>
      </p:sp>
      <p:sp>
        <p:nvSpPr>
          <p:cNvPr id="101" name="TextBox 100"/>
          <p:cNvSpPr txBox="1"/>
          <p:nvPr/>
        </p:nvSpPr>
        <p:spPr>
          <a:xfrm>
            <a:off x="8997696" y="8229600"/>
            <a:ext cx="8686800" cy="1097280"/>
          </a:xfrm>
          <a:prstGeom prst="rect">
            <a:avLst/>
          </a:prstGeom>
          <a:noFill/>
        </p:spPr>
        <p:txBody>
          <a:bodyPr wrap="square" lIns="0" tIns="0" rIns="0" bIns="0" anchor="ctr">
            <a:noAutofit/>
          </a:bodyPr>
          <a:lstStyle/>
          <a:p>
            <a:pPr marL="0" marR="0" lvl="0" indent="0" algn="l" defTabSz="914400" rtl="0" eaLnBrk="1" fontAlgn="auto" latinLnBrk="0" hangingPunct="1">
              <a:lnSpc>
                <a:spcPts val="3400"/>
              </a:lnSpc>
              <a:spcBef>
                <a:spcPts val="0"/>
              </a:spcBef>
              <a:spcAft>
                <a:spcPts val="0"/>
              </a:spcAft>
              <a:buClrTx/>
              <a:buSzTx/>
              <a:buFontTx/>
              <a:buNone/>
              <a:tabLst/>
              <a:defRPr/>
            </a:pPr>
            <a:r>
              <a:rPr kumimoji="0" lang="zh-TW" altLang="en-US" sz="2200" b="0" i="0" u="none" strike="noStrike" kern="1200" cap="none" spc="0" normalizeH="0" baseline="0" noProof="0" dirty="0">
                <a:ln>
                  <a:noFill/>
                </a:ln>
                <a:solidFill>
                  <a:srgbClr val="3F2619"/>
                </a:solidFill>
                <a:effectLst/>
                <a:uLnTx/>
                <a:uFillTx/>
                <a:latin typeface="Noto Sans SC Medium"/>
                <a:ea typeface="Noto Sans SC Medium"/>
                <a:cs typeface="+mn-cs"/>
              </a:rPr>
              <a:t>例如左上角就是 2 + 3 + 1 = 6。</a:t>
            </a:r>
          </a:p>
          <a:p>
            <a:pPr marL="0" marR="0" lvl="0" indent="0" algn="l" defTabSz="914400" rtl="0" eaLnBrk="1" fontAlgn="auto" latinLnBrk="0" hangingPunct="1">
              <a:lnSpc>
                <a:spcPts val="3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7A6555"/>
                </a:solidFill>
                <a:effectLst/>
                <a:uLnTx/>
                <a:uFillTx/>
                <a:latin typeface="Noto Sans SC Medium"/>
                <a:ea typeface="Noto Sans SC Medium"/>
                <a:cs typeface="+mn-cs"/>
              </a:rPr>
              <a:t>多一個 filter，就多一張 feature map（多 1 個輸出 channel）</a:t>
            </a:r>
          </a:p>
        </p:txBody>
      </p:sp>
    </p:spTree>
    <p:extLst>
      <p:ext uri="{BB962C8B-B14F-4D97-AF65-F5344CB8AC3E}">
        <p14:creationId xmlns:p14="http://schemas.microsoft.com/office/powerpoint/2010/main" val="11164715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8821252" cy="1051570"/>
          </a:xfrm>
          <a:prstGeom prst="rect">
            <a:avLst/>
          </a:prstGeom>
        </p:spPr>
        <p:txBody>
          <a:bodyPr wrap="square" lIns="0" tIns="0" rIns="0" bIns="0" rtlCol="0" anchor="t">
            <a:spAutoFit/>
          </a:bodyPr>
          <a:lstStyle/>
          <a:p>
            <a:pPr marL="0" lvl="0" indent="0">
              <a:lnSpc>
                <a:spcPts val="8157"/>
              </a:lnSpc>
              <a:spcBef>
                <a:spcPct val="0"/>
              </a:spcBef>
            </a:pPr>
            <a:r>
              <a:rPr lang="zh-TW" altLang="en-US" sz="7200" dirty="0">
                <a:solidFill>
                  <a:srgbClr val="3F2619"/>
                </a:solidFill>
                <a:latin typeface="Chiron GoRound TC ExtraBold" pitchFamily="2" charset="-120"/>
                <a:ea typeface="Chiron GoRound TC ExtraBold" pitchFamily="2" charset="-120"/>
              </a:rPr>
              <a:t>什麼是</a:t>
            </a:r>
            <a:r>
              <a:rPr lang="en-US" altLang="zh-TW" sz="7200" dirty="0">
                <a:solidFill>
                  <a:srgbClr val="3F2619"/>
                </a:solidFill>
                <a:latin typeface="Chiron GoRound TC ExtraBold" pitchFamily="2" charset="-120"/>
                <a:ea typeface="Chiron GoRound TC ExtraBold" pitchFamily="2" charset="-120"/>
              </a:rPr>
              <a:t> Pooling</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11" name="TextBox 30">
            <a:extLst>
              <a:ext uri="{FF2B5EF4-FFF2-40B4-BE49-F238E27FC236}">
                <a16:creationId xmlns:a16="http://schemas.microsoft.com/office/drawing/2014/main" id="{98B939D4-A9F0-4573-A915-737C7A2E131A}"/>
              </a:ext>
            </a:extLst>
          </p:cNvPr>
          <p:cNvSpPr txBox="1"/>
          <p:nvPr/>
        </p:nvSpPr>
        <p:spPr>
          <a:xfrm>
            <a:off x="2227748" y="2294444"/>
            <a:ext cx="15450652" cy="3606565"/>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池化層</a:t>
            </a:r>
            <a:endParaRPr lang="en-US" altLang="zh-TW" sz="3200" dirty="0">
              <a:solidFill>
                <a:srgbClr val="3F2619"/>
              </a:solidFill>
              <a:latin typeface="Noto Sans SC Medium" panose="020B0200000000000000" pitchFamily="34" charset="-128"/>
              <a:ea typeface="Noto Sans SC Medium" panose="020B0200000000000000" pitchFamily="34" charset="-128"/>
            </a:endParaRPr>
          </a:p>
          <a:p>
            <a:pPr marL="285750" indent="-285750">
              <a:lnSpc>
                <a:spcPct val="150000"/>
              </a:lnSpc>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當我們在做圖片的特徵萃取的過程中</a:t>
            </a:r>
            <a:endParaRPr lang="en-US" altLang="zh-TW" sz="3200" dirty="0">
              <a:solidFill>
                <a:srgbClr val="3F2619"/>
              </a:solidFill>
              <a:latin typeface="Noto Sans SC Medium" panose="020B0200000000000000" pitchFamily="34" charset="-128"/>
              <a:ea typeface="Noto Sans SC Medium" panose="020B0200000000000000" pitchFamily="34" charset="-128"/>
            </a:endParaRPr>
          </a:p>
          <a:p>
            <a:pPr marL="285750" indent="-285750">
              <a:lnSpc>
                <a:spcPct val="150000"/>
              </a:lnSpc>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圖形的縮放通常不會影響到我們的目的</a:t>
            </a:r>
            <a:endParaRPr lang="en-US" altLang="zh-TW" sz="3200" dirty="0">
              <a:solidFill>
                <a:srgbClr val="3F2619"/>
              </a:solidFill>
              <a:latin typeface="Noto Sans SC Medium" panose="020B0200000000000000" pitchFamily="34" charset="-128"/>
              <a:ea typeface="Noto Sans SC Medium" panose="020B0200000000000000" pitchFamily="34" charset="-128"/>
            </a:endParaRPr>
          </a:p>
          <a:p>
            <a:pPr marL="285750" indent="-285750">
              <a:lnSpc>
                <a:spcPct val="150000"/>
              </a:lnSpc>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經由這樣的 </a:t>
            </a:r>
            <a:r>
              <a:rPr lang="en-US" altLang="zh-TW" sz="3200" dirty="0">
                <a:solidFill>
                  <a:srgbClr val="3F2619"/>
                </a:solidFill>
                <a:latin typeface="Noto Sans SC Medium" panose="020B0200000000000000" pitchFamily="34" charset="-128"/>
                <a:ea typeface="Noto Sans SC Medium" panose="020B0200000000000000" pitchFamily="34" charset="-128"/>
              </a:rPr>
              <a:t>scaling </a:t>
            </a:r>
            <a:r>
              <a:rPr lang="zh-TW" altLang="en-US" sz="3200" dirty="0">
                <a:solidFill>
                  <a:srgbClr val="3F2619"/>
                </a:solidFill>
                <a:latin typeface="Noto Sans SC Medium" panose="020B0200000000000000" pitchFamily="34" charset="-128"/>
                <a:ea typeface="Noto Sans SC Medium" panose="020B0200000000000000" pitchFamily="34" charset="-128"/>
              </a:rPr>
              <a:t>我們也可以再一次的減少神經網路的參數</a:t>
            </a:r>
          </a:p>
          <a:p>
            <a:pPr marL="285750" indent="-285750">
              <a:lnSpc>
                <a:spcPct val="150000"/>
              </a:lnSpc>
              <a:buFont typeface="Wingdings" panose="05000000000000000000" pitchFamily="2" charset="2"/>
              <a:buChar char="l"/>
            </a:pPr>
            <a:endParaRPr lang="en-US" altLang="zh-TW" sz="3200" dirty="0">
              <a:solidFill>
                <a:srgbClr val="3F2619"/>
              </a:solidFill>
              <a:latin typeface="Noto Sans SC Medium" panose="020B0200000000000000" pitchFamily="34" charset="-128"/>
              <a:ea typeface="Noto Sans SC Medium" panose="020B0200000000000000" pitchFamily="34" charset="-128"/>
            </a:endParaRPr>
          </a:p>
        </p:txBody>
      </p:sp>
      <p:sp>
        <p:nvSpPr>
          <p:cNvPr id="9" name="Freeform 10">
            <a:extLst>
              <a:ext uri="{FF2B5EF4-FFF2-40B4-BE49-F238E27FC236}">
                <a16:creationId xmlns:a16="http://schemas.microsoft.com/office/drawing/2014/main" id="{1986DC4C-C182-400E-935A-1079CE51B963}"/>
              </a:ext>
            </a:extLst>
          </p:cNvPr>
          <p:cNvSpPr/>
          <p:nvPr/>
        </p:nvSpPr>
        <p:spPr>
          <a:xfrm rot="5400000">
            <a:off x="-976159" y="115668"/>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pic>
        <p:nvPicPr>
          <p:cNvPr id="5" name="圖片 4">
            <a:extLst>
              <a:ext uri="{FF2B5EF4-FFF2-40B4-BE49-F238E27FC236}">
                <a16:creationId xmlns:a16="http://schemas.microsoft.com/office/drawing/2014/main" id="{05BA2018-7389-48A8-AF63-1BAC6CC53887}"/>
              </a:ext>
            </a:extLst>
          </p:cNvPr>
          <p:cNvPicPr>
            <a:picLocks noChangeAspect="1"/>
          </p:cNvPicPr>
          <p:nvPr/>
        </p:nvPicPr>
        <p:blipFill>
          <a:blip r:embed="rId8"/>
          <a:stretch>
            <a:fillRect/>
          </a:stretch>
        </p:blipFill>
        <p:spPr>
          <a:xfrm>
            <a:off x="3886200" y="5901009"/>
            <a:ext cx="3506972" cy="3479995"/>
          </a:xfrm>
          <a:prstGeom prst="rect">
            <a:avLst/>
          </a:prstGeom>
        </p:spPr>
      </p:pic>
      <p:pic>
        <p:nvPicPr>
          <p:cNvPr id="8" name="圖片 7">
            <a:extLst>
              <a:ext uri="{FF2B5EF4-FFF2-40B4-BE49-F238E27FC236}">
                <a16:creationId xmlns:a16="http://schemas.microsoft.com/office/drawing/2014/main" id="{765A54E4-9298-4133-9D62-E3916A38361C}"/>
              </a:ext>
            </a:extLst>
          </p:cNvPr>
          <p:cNvPicPr>
            <a:picLocks noChangeAspect="1"/>
          </p:cNvPicPr>
          <p:nvPr/>
        </p:nvPicPr>
        <p:blipFill>
          <a:blip r:embed="rId8"/>
          <a:stretch>
            <a:fillRect/>
          </a:stretch>
        </p:blipFill>
        <p:spPr>
          <a:xfrm>
            <a:off x="12877800" y="6678248"/>
            <a:ext cx="1940442" cy="1925516"/>
          </a:xfrm>
          <a:prstGeom prst="rect">
            <a:avLst/>
          </a:prstGeom>
        </p:spPr>
      </p:pic>
      <p:sp>
        <p:nvSpPr>
          <p:cNvPr id="10" name="箭號: 向右 9">
            <a:extLst>
              <a:ext uri="{FF2B5EF4-FFF2-40B4-BE49-F238E27FC236}">
                <a16:creationId xmlns:a16="http://schemas.microsoft.com/office/drawing/2014/main" id="{1238DEE9-C01B-4B83-83F7-9B9D29557C97}"/>
              </a:ext>
            </a:extLst>
          </p:cNvPr>
          <p:cNvSpPr/>
          <p:nvPr/>
        </p:nvSpPr>
        <p:spPr>
          <a:xfrm>
            <a:off x="8763000" y="7465580"/>
            <a:ext cx="2743200" cy="702894"/>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2394561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8821252" cy="1051570"/>
          </a:xfrm>
          <a:prstGeom prst="rect">
            <a:avLst/>
          </a:prstGeom>
        </p:spPr>
        <p:txBody>
          <a:bodyPr wrap="square" lIns="0" tIns="0" rIns="0" bIns="0" rtlCol="0" anchor="t">
            <a:spAutoFit/>
          </a:bodyPr>
          <a:lstStyle/>
          <a:p>
            <a:pPr marL="0" lvl="0" indent="0">
              <a:lnSpc>
                <a:spcPts val="8157"/>
              </a:lnSpc>
              <a:spcBef>
                <a:spcPct val="0"/>
              </a:spcBef>
            </a:pPr>
            <a:r>
              <a:rPr lang="zh-TW" altLang="en-US" sz="7200" dirty="0">
                <a:solidFill>
                  <a:srgbClr val="3F2619"/>
                </a:solidFill>
                <a:latin typeface="Chiron GoRound TC ExtraBold" pitchFamily="2" charset="-120"/>
                <a:ea typeface="Chiron GoRound TC ExtraBold" pitchFamily="2" charset="-120"/>
              </a:rPr>
              <a:t>什麼是 </a:t>
            </a:r>
            <a:r>
              <a:rPr lang="en-US" altLang="zh-TW" sz="7200" dirty="0">
                <a:solidFill>
                  <a:srgbClr val="3F2619"/>
                </a:solidFill>
                <a:latin typeface="Chiron GoRound TC ExtraBold" pitchFamily="2" charset="-120"/>
                <a:ea typeface="Chiron GoRound TC ExtraBold" pitchFamily="2" charset="-120"/>
              </a:rPr>
              <a:t>Max Pooling</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11" name="TextBox 30">
            <a:extLst>
              <a:ext uri="{FF2B5EF4-FFF2-40B4-BE49-F238E27FC236}">
                <a16:creationId xmlns:a16="http://schemas.microsoft.com/office/drawing/2014/main" id="{98B939D4-A9F0-4573-A915-737C7A2E131A}"/>
              </a:ext>
            </a:extLst>
          </p:cNvPr>
          <p:cNvSpPr txBox="1"/>
          <p:nvPr/>
        </p:nvSpPr>
        <p:spPr>
          <a:xfrm>
            <a:off x="2227748" y="2294444"/>
            <a:ext cx="15450652" cy="2129365"/>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挑出矩陣當中的最大值就好</a:t>
            </a:r>
            <a:endParaRPr lang="en-US" altLang="zh-TW" sz="3200" dirty="0">
              <a:solidFill>
                <a:srgbClr val="3F2619"/>
              </a:solidFill>
              <a:latin typeface="Noto Sans SC Medium" panose="020B0200000000000000" pitchFamily="34" charset="-128"/>
              <a:ea typeface="Noto Sans SC Medium" panose="020B0200000000000000" pitchFamily="34" charset="-128"/>
            </a:endParaRPr>
          </a:p>
          <a:p>
            <a:pPr marL="285750" indent="-285750">
              <a:lnSpc>
                <a:spcPct val="150000"/>
              </a:lnSpc>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好處是當圖片整個平移幾個</a:t>
            </a:r>
            <a:r>
              <a:rPr lang="en-US" altLang="zh-TW" sz="3200" dirty="0">
                <a:solidFill>
                  <a:srgbClr val="3F2619"/>
                </a:solidFill>
                <a:latin typeface="Noto Sans SC Medium" panose="020B0200000000000000" pitchFamily="34" charset="-128"/>
                <a:ea typeface="Noto Sans SC Medium" panose="020B0200000000000000" pitchFamily="34" charset="-128"/>
              </a:rPr>
              <a:t>Pixel</a:t>
            </a:r>
            <a:r>
              <a:rPr lang="zh-TW" altLang="en-US" sz="3200" dirty="0">
                <a:solidFill>
                  <a:srgbClr val="3F2619"/>
                </a:solidFill>
                <a:latin typeface="Noto Sans SC Medium" panose="020B0200000000000000" pitchFamily="34" charset="-128"/>
                <a:ea typeface="Noto Sans SC Medium" panose="020B0200000000000000" pitchFamily="34" charset="-128"/>
              </a:rPr>
              <a:t>的話</a:t>
            </a:r>
            <a:endParaRPr lang="en-US" altLang="zh-TW" sz="3200" dirty="0">
              <a:solidFill>
                <a:srgbClr val="3F2619"/>
              </a:solidFill>
              <a:latin typeface="Noto Sans SC Medium" panose="020B0200000000000000" pitchFamily="34" charset="-128"/>
              <a:ea typeface="Noto Sans SC Medium" panose="020B0200000000000000" pitchFamily="34" charset="-128"/>
            </a:endParaRPr>
          </a:p>
          <a:p>
            <a:pPr marL="285750" indent="-285750">
              <a:lnSpc>
                <a:spcPct val="150000"/>
              </a:lnSpc>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對判斷上不會造成影響以及有很好的抗雜訊功能</a:t>
            </a:r>
            <a:endParaRPr lang="en-US" altLang="zh-TW" sz="3200" dirty="0">
              <a:solidFill>
                <a:srgbClr val="3F2619"/>
              </a:solidFill>
              <a:latin typeface="Noto Sans SC Medium" panose="020B0200000000000000" pitchFamily="34" charset="-128"/>
              <a:ea typeface="Noto Sans SC Medium" panose="020B0200000000000000" pitchFamily="34" charset="-128"/>
            </a:endParaRPr>
          </a:p>
        </p:txBody>
      </p:sp>
      <p:sp>
        <p:nvSpPr>
          <p:cNvPr id="9" name="Freeform 10">
            <a:extLst>
              <a:ext uri="{FF2B5EF4-FFF2-40B4-BE49-F238E27FC236}">
                <a16:creationId xmlns:a16="http://schemas.microsoft.com/office/drawing/2014/main" id="{1986DC4C-C182-400E-935A-1079CE51B963}"/>
              </a:ext>
            </a:extLst>
          </p:cNvPr>
          <p:cNvSpPr/>
          <p:nvPr/>
        </p:nvSpPr>
        <p:spPr>
          <a:xfrm rot="5400000">
            <a:off x="-976159" y="115668"/>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pic>
        <p:nvPicPr>
          <p:cNvPr id="4" name="圖片 3">
            <a:extLst>
              <a:ext uri="{FF2B5EF4-FFF2-40B4-BE49-F238E27FC236}">
                <a16:creationId xmlns:a16="http://schemas.microsoft.com/office/drawing/2014/main" id="{D35B9AB4-E519-4E1A-9BB5-0DCCD7C3D27B}"/>
              </a:ext>
            </a:extLst>
          </p:cNvPr>
          <p:cNvPicPr>
            <a:picLocks noChangeAspect="1"/>
          </p:cNvPicPr>
          <p:nvPr/>
        </p:nvPicPr>
        <p:blipFill rotWithShape="1">
          <a:blip r:embed="rId8"/>
          <a:srcRect t="2735" b="53635"/>
          <a:stretch/>
        </p:blipFill>
        <p:spPr>
          <a:xfrm>
            <a:off x="152400" y="5285316"/>
            <a:ext cx="8845344" cy="3325990"/>
          </a:xfrm>
          <a:prstGeom prst="rect">
            <a:avLst/>
          </a:prstGeom>
        </p:spPr>
      </p:pic>
      <p:pic>
        <p:nvPicPr>
          <p:cNvPr id="12" name="圖片 11">
            <a:extLst>
              <a:ext uri="{FF2B5EF4-FFF2-40B4-BE49-F238E27FC236}">
                <a16:creationId xmlns:a16="http://schemas.microsoft.com/office/drawing/2014/main" id="{25037B73-11C9-4299-9D31-0DC2200EA5CF}"/>
              </a:ext>
            </a:extLst>
          </p:cNvPr>
          <p:cNvPicPr>
            <a:picLocks noChangeAspect="1"/>
          </p:cNvPicPr>
          <p:nvPr/>
        </p:nvPicPr>
        <p:blipFill rotWithShape="1">
          <a:blip r:embed="rId8"/>
          <a:srcRect t="54545" b="1825"/>
          <a:stretch/>
        </p:blipFill>
        <p:spPr>
          <a:xfrm>
            <a:off x="9296400" y="5285316"/>
            <a:ext cx="8845344" cy="3325990"/>
          </a:xfrm>
          <a:prstGeom prst="rect">
            <a:avLst/>
          </a:prstGeom>
        </p:spPr>
      </p:pic>
      <p:sp>
        <p:nvSpPr>
          <p:cNvPr id="10" name="文字方塊 9">
            <a:extLst>
              <a:ext uri="{FF2B5EF4-FFF2-40B4-BE49-F238E27FC236}">
                <a16:creationId xmlns:a16="http://schemas.microsoft.com/office/drawing/2014/main" id="{64C8BB1A-1C48-4239-B1A6-E930D9246D3B}"/>
              </a:ext>
            </a:extLst>
          </p:cNvPr>
          <p:cNvSpPr txBox="1"/>
          <p:nvPr/>
        </p:nvSpPr>
        <p:spPr>
          <a:xfrm>
            <a:off x="6324600" y="5390586"/>
            <a:ext cx="1981200" cy="369332"/>
          </a:xfrm>
          <a:prstGeom prst="rect">
            <a:avLst/>
          </a:prstGeom>
          <a:noFill/>
        </p:spPr>
        <p:txBody>
          <a:bodyPr wrap="square">
            <a:spAutoFit/>
          </a:bodyPr>
          <a:lstStyle/>
          <a:p>
            <a:pPr algn="ctr"/>
            <a:r>
              <a:rPr lang="en-US" altLang="zh-TW" b="1" dirty="0" err="1">
                <a:latin typeface="微軟正黑體" panose="020B0604030504040204" pitchFamily="34" charset="-120"/>
                <a:ea typeface="微軟正黑體" panose="020B0604030504040204" pitchFamily="34" charset="-120"/>
              </a:rPr>
              <a:t>ceil_mode</a:t>
            </a:r>
            <a:r>
              <a:rPr lang="en-US" altLang="zh-TW" b="1" dirty="0">
                <a:latin typeface="微軟正黑體" panose="020B0604030504040204" pitchFamily="34" charset="-120"/>
                <a:ea typeface="微軟正黑體" panose="020B0604030504040204" pitchFamily="34" charset="-120"/>
              </a:rPr>
              <a:t>=True</a:t>
            </a:r>
            <a:endParaRPr lang="zh-TW" altLang="en-US" b="1" dirty="0">
              <a:latin typeface="微軟正黑體" panose="020B0604030504040204" pitchFamily="34" charset="-120"/>
              <a:ea typeface="微軟正黑體" panose="020B0604030504040204" pitchFamily="34" charset="-120"/>
            </a:endParaRPr>
          </a:p>
        </p:txBody>
      </p:sp>
      <p:sp>
        <p:nvSpPr>
          <p:cNvPr id="13" name="文字方塊 12">
            <a:extLst>
              <a:ext uri="{FF2B5EF4-FFF2-40B4-BE49-F238E27FC236}">
                <a16:creationId xmlns:a16="http://schemas.microsoft.com/office/drawing/2014/main" id="{491F350E-8318-4426-A724-74ED499F477A}"/>
              </a:ext>
            </a:extLst>
          </p:cNvPr>
          <p:cNvSpPr txBox="1"/>
          <p:nvPr/>
        </p:nvSpPr>
        <p:spPr>
          <a:xfrm>
            <a:off x="15465528" y="5390586"/>
            <a:ext cx="1981200" cy="369332"/>
          </a:xfrm>
          <a:prstGeom prst="rect">
            <a:avLst/>
          </a:prstGeom>
          <a:noFill/>
        </p:spPr>
        <p:txBody>
          <a:bodyPr wrap="square">
            <a:spAutoFit/>
          </a:bodyPr>
          <a:lstStyle/>
          <a:p>
            <a:pPr algn="ctr"/>
            <a:r>
              <a:rPr lang="en-US" altLang="zh-TW" b="1" dirty="0" err="1">
                <a:latin typeface="微軟正黑體" panose="020B0604030504040204" pitchFamily="34" charset="-120"/>
                <a:ea typeface="微軟正黑體" panose="020B0604030504040204" pitchFamily="34" charset="-120"/>
              </a:rPr>
              <a:t>ceil_mode</a:t>
            </a:r>
            <a:r>
              <a:rPr lang="en-US" altLang="zh-TW" b="1" dirty="0">
                <a:latin typeface="微軟正黑體" panose="020B0604030504040204" pitchFamily="34" charset="-120"/>
                <a:ea typeface="微軟正黑體" panose="020B0604030504040204" pitchFamily="34" charset="-120"/>
              </a:rPr>
              <a:t>=True</a:t>
            </a:r>
            <a:endParaRPr lang="zh-TW" altLang="en-US" b="1"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1255071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zh-TW" altLang="en-US" sz="7200" dirty="0">
                <a:solidFill>
                  <a:srgbClr val="3F2619"/>
                </a:solidFill>
                <a:latin typeface="Chiron GoRound TC ExtraBold" pitchFamily="2" charset="-120"/>
                <a:ea typeface="Chiron GoRound TC ExtraBold" pitchFamily="2" charset="-120"/>
              </a:rPr>
              <a:t>什麼是 </a:t>
            </a:r>
            <a:r>
              <a:rPr lang="en-US" altLang="zh-TW" sz="7200" dirty="0">
                <a:solidFill>
                  <a:srgbClr val="3F2619"/>
                </a:solidFill>
                <a:latin typeface="Chiron GoRound TC ExtraBold" pitchFamily="2" charset="-120"/>
                <a:ea typeface="Chiron GoRound TC ExtraBold" pitchFamily="2" charset="-120"/>
              </a:rPr>
              <a:t>Fully Connected Layer</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11" name="TextBox 30">
            <a:extLst>
              <a:ext uri="{FF2B5EF4-FFF2-40B4-BE49-F238E27FC236}">
                <a16:creationId xmlns:a16="http://schemas.microsoft.com/office/drawing/2014/main" id="{98B939D4-A9F0-4573-A915-737C7A2E131A}"/>
              </a:ext>
            </a:extLst>
          </p:cNvPr>
          <p:cNvSpPr txBox="1"/>
          <p:nvPr/>
        </p:nvSpPr>
        <p:spPr>
          <a:xfrm>
            <a:off x="2227748" y="2294444"/>
            <a:ext cx="15450652" cy="651910"/>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全連接層的部分就是將之前的結果平坦化之後接到最基本的神經網絡了</a:t>
            </a:r>
            <a:endParaRPr lang="en-US" altLang="zh-TW" sz="3200" dirty="0">
              <a:solidFill>
                <a:srgbClr val="3F2619"/>
              </a:solidFill>
              <a:latin typeface="Noto Sans SC Medium" panose="020B0200000000000000" pitchFamily="34" charset="-128"/>
              <a:ea typeface="Noto Sans SC Medium" panose="020B0200000000000000" pitchFamily="34" charset="-128"/>
            </a:endParaRPr>
          </a:p>
        </p:txBody>
      </p:sp>
      <p:sp>
        <p:nvSpPr>
          <p:cNvPr id="9" name="Freeform 10">
            <a:extLst>
              <a:ext uri="{FF2B5EF4-FFF2-40B4-BE49-F238E27FC236}">
                <a16:creationId xmlns:a16="http://schemas.microsoft.com/office/drawing/2014/main" id="{1986DC4C-C182-400E-935A-1079CE51B963}"/>
              </a:ext>
            </a:extLst>
          </p:cNvPr>
          <p:cNvSpPr/>
          <p:nvPr/>
        </p:nvSpPr>
        <p:spPr>
          <a:xfrm rot="5400000">
            <a:off x="-976159" y="115668"/>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pic>
        <p:nvPicPr>
          <p:cNvPr id="8194" name="Picture 2">
            <a:extLst>
              <a:ext uri="{FF2B5EF4-FFF2-40B4-BE49-F238E27FC236}">
                <a16:creationId xmlns:a16="http://schemas.microsoft.com/office/drawing/2014/main" id="{E31849CB-0A3D-468A-8046-49E82D9F505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8200" y="4612877"/>
            <a:ext cx="6667500" cy="3562350"/>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a:extLst>
              <a:ext uri="{FF2B5EF4-FFF2-40B4-BE49-F238E27FC236}">
                <a16:creationId xmlns:a16="http://schemas.microsoft.com/office/drawing/2014/main" id="{88DE0511-0A72-4AB6-9D12-6AC15C08212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129863" y="4015007"/>
            <a:ext cx="9533974" cy="41813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20851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marR="0" lvl="0" indent="0" algn="l" defTabSz="914400" rtl="0" eaLnBrk="1" fontAlgn="auto" latinLnBrk="0" hangingPunct="1">
              <a:lnSpc>
                <a:spcPts val="8157"/>
              </a:lnSpc>
              <a:spcBef>
                <a:spcPct val="0"/>
              </a:spcBef>
              <a:spcAft>
                <a:spcPts val="0"/>
              </a:spcAft>
              <a:buClrTx/>
              <a:buSzTx/>
              <a:buFontTx/>
              <a:buNone/>
              <a:tabLst/>
              <a:defRPr/>
            </a:pPr>
            <a:r>
              <a:rPr kumimoji="0" lang="zh-TW" altLang="en-US" sz="7200" b="0" i="0" u="none" strike="noStrike" kern="1200" cap="none" spc="0" normalizeH="0" baseline="0" noProof="0" dirty="0">
                <a:ln>
                  <a:noFill/>
                </a:ln>
                <a:solidFill>
                  <a:srgbClr val="3F2619"/>
                </a:solidFill>
                <a:effectLst/>
                <a:uLnTx/>
                <a:uFillTx/>
                <a:latin typeface="Chiron GoRound TC ExtraBold" pitchFamily="2" charset="-120"/>
                <a:ea typeface="Chiron GoRound TC ExtraBold" pitchFamily="2" charset="-120"/>
                <a:cs typeface="+mn-cs"/>
              </a:rPr>
              <a:t>CNN 完整架構</a:t>
            </a:r>
            <a:endParaRPr kumimoji="0" lang="en-US" sz="7200" b="0" i="0" u="none" strike="noStrike" kern="1200" cap="none" spc="0" normalizeH="0" baseline="0" noProof="0" dirty="0">
              <a:ln>
                <a:noFill/>
              </a:ln>
              <a:solidFill>
                <a:srgbClr val="3F2619"/>
              </a:solidFill>
              <a:effectLst/>
              <a:uLnTx/>
              <a:uFillTx/>
              <a:latin typeface="Chiron GoRound TC ExtraBold" pitchFamily="2" charset="-120"/>
              <a:ea typeface="Chiron GoRound TC ExtraBold" pitchFamily="2" charset="-120"/>
              <a:cs typeface="+mn-cs"/>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11" name="TextBox 30">
            <a:extLst>
              <a:ext uri="{FF2B5EF4-FFF2-40B4-BE49-F238E27FC236}">
                <a16:creationId xmlns:a16="http://schemas.microsoft.com/office/drawing/2014/main" id="{98B939D4-A9F0-4573-A915-737C7A2E131A}"/>
              </a:ext>
            </a:extLst>
          </p:cNvPr>
          <p:cNvSpPr txBox="1"/>
          <p:nvPr/>
        </p:nvSpPr>
        <p:spPr>
          <a:xfrm>
            <a:off x="2227748" y="2294444"/>
            <a:ext cx="15450652" cy="651910"/>
          </a:xfrm>
          <a:prstGeom prst="rect">
            <a:avLst/>
          </a:prstGeom>
        </p:spPr>
        <p:txBody>
          <a:bodyPr wrap="square" lIns="0" tIns="0" rIns="0" bIns="0" rtlCol="0" anchor="t">
            <a:spAutoFit/>
          </a:bodyPr>
          <a:lstStyle/>
          <a:p>
            <a:pPr marL="285750" marR="0" lvl="0" indent="-285750" algn="l" defTabSz="914400" rtl="0" eaLnBrk="1" fontAlgn="auto" latinLnBrk="0" hangingPunct="1">
              <a:lnSpc>
                <a:spcPts val="5600"/>
              </a:lnSpc>
              <a:spcBef>
                <a:spcPts val="0"/>
              </a:spcBef>
              <a:spcAft>
                <a:spcPts val="0"/>
              </a:spcAft>
              <a:buClrTx/>
              <a:buSzTx/>
              <a:buFont typeface="Wingdings" panose="05000000000000000000" pitchFamily="2" charset="2"/>
              <a:buChar char="l"/>
              <a:tabLst/>
              <a:defRPr/>
            </a:pPr>
            <a:r>
              <a:rPr kumimoji="0" lang="zh-TW" altLang="en-US" sz="30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rPr>
              <a:t>把 Convolution、Pooling、Fully Connected 依序疊起來，就是完整的 CNN</a:t>
            </a:r>
            <a:endParaRPr kumimoji="0" lang="en-US" altLang="zh-TW" sz="30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endParaRPr>
          </a:p>
          <a:p>
            <a:pPr marL="285750" marR="0" lvl="0" indent="-285750" algn="l" defTabSz="914400" rtl="0" eaLnBrk="1" fontAlgn="auto" latinLnBrk="0" hangingPunct="1">
              <a:lnSpc>
                <a:spcPts val="5600"/>
              </a:lnSpc>
              <a:spcBef>
                <a:spcPts val="0"/>
              </a:spcBef>
              <a:spcAft>
                <a:spcPts val="0"/>
              </a:spcAft>
              <a:buClrTx/>
              <a:buSzTx/>
              <a:buFont typeface="Wingdings" panose="05000000000000000000" pitchFamily="2" charset="2"/>
              <a:buChar char="l"/>
              <a:tabLst/>
              <a:defRPr/>
            </a:pPr>
            <a:r>
              <a:rPr kumimoji="0" lang="zh-TW" altLang="en-US" sz="30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rPr>
              <a:t>以 28×28 灰階圖、10 個類別為例（如 Fashion-MNIST），總參數量 20,490</a:t>
            </a:r>
            <a:endParaRPr kumimoji="0" lang="en-US" altLang="zh-TW" sz="30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endParaRPr>
          </a:p>
        </p:txBody>
      </p:sp>
      <p:sp>
        <p:nvSpPr>
          <p:cNvPr id="9" name="Freeform 10">
            <a:extLst>
              <a:ext uri="{FF2B5EF4-FFF2-40B4-BE49-F238E27FC236}">
                <a16:creationId xmlns:a16="http://schemas.microsoft.com/office/drawing/2014/main" id="{1986DC4C-C182-400E-935A-1079CE51B963}"/>
              </a:ext>
            </a:extLst>
          </p:cNvPr>
          <p:cNvSpPr/>
          <p:nvPr/>
        </p:nvSpPr>
        <p:spPr>
          <a:xfrm rot="5400000">
            <a:off x="-976159" y="115668"/>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2" name="Code"/>
          <p:cNvSpPr/>
          <p:nvPr/>
        </p:nvSpPr>
        <p:spPr>
          <a:xfrm>
            <a:off x="2231136" y="4114800"/>
            <a:ext cx="11795760" cy="4511040"/>
          </a:xfrm>
          <a:prstGeom prst="rect">
            <a:avLst/>
          </a:prstGeom>
          <a:solidFill>
            <a:srgbClr val="1E1E1E"/>
          </a:solidFill>
          <a:ln>
            <a:noFill/>
          </a:ln>
        </p:spPr>
        <p:txBody>
          <a:bodyPr wrap="none" lIns="320040" tIns="274320" rIns="320040" bIns="274320" rtlCol="0" anchor="t">
            <a:noAutofit/>
          </a:bodyPr>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import</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torch</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nn</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as</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nn</a:t>
            </a:r>
            <a:endParaRPr kumimoji="0" sz="20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endParaRPr kumimoji="0" sz="20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model</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nn</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Sequential</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sz="20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nn</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Conv2d</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1</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16</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kernel_size</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3</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padding</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1</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(16, 28, 28) </a:t>
            </a:r>
            <a:r>
              <a:rPr kumimoji="0" lang="en-US" altLang="zh-TW" sz="2000" b="0" i="0" u="none" strike="noStrike" kern="1200" cap="none" spc="0" normalizeH="0" baseline="0" noProof="0" dirty="0">
                <a:ln>
                  <a:noFill/>
                </a:ln>
                <a:solidFill>
                  <a:srgbClr val="6A9955"/>
                </a:solidFill>
                <a:effectLst/>
                <a:uLnTx/>
                <a:uFillTx/>
                <a:latin typeface="Consolas"/>
                <a:ea typeface="Microsoft JhengHei"/>
                <a:cs typeface="+mn-cs"/>
              </a:rPr>
              <a:t>160</a:t>
            </a:r>
            <a:endParaRPr kumimoji="0" sz="20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nn</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ReLU</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sz="20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nn</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MaxPool2d</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2</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(16, 14, 14) </a:t>
            </a:r>
            <a:r>
              <a:rPr kumimoji="0" lang="en-US" altLang="zh-TW" sz="2000" b="0" i="0" u="none" strike="noStrike" kern="1200" cap="none" spc="0" normalizeH="0" baseline="0" noProof="0" dirty="0">
                <a:ln>
                  <a:noFill/>
                </a:ln>
                <a:solidFill>
                  <a:srgbClr val="6A9955"/>
                </a:solidFill>
                <a:effectLst/>
                <a:uLnTx/>
                <a:uFillTx/>
                <a:latin typeface="Consolas"/>
                <a:ea typeface="Microsoft JhengHei"/>
                <a:cs typeface="+mn-cs"/>
              </a:rPr>
              <a:t>0</a:t>
            </a:r>
            <a:endParaRPr kumimoji="0" sz="20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nn</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Conv2d</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16</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32</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kernel_size</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3</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padding</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1</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(32, 14, 14) </a:t>
            </a:r>
            <a:r>
              <a:rPr kumimoji="0" lang="en-US" altLang="zh-TW" sz="2000" b="0" i="0" u="none" strike="noStrike" kern="1200" cap="none" spc="0" normalizeH="0" baseline="0" noProof="0" dirty="0">
                <a:ln>
                  <a:noFill/>
                </a:ln>
                <a:solidFill>
                  <a:srgbClr val="6A9955"/>
                </a:solidFill>
                <a:effectLst/>
                <a:uLnTx/>
                <a:uFillTx/>
                <a:latin typeface="Consolas"/>
                <a:ea typeface="Microsoft JhengHei"/>
                <a:cs typeface="+mn-cs"/>
              </a:rPr>
              <a:t>4640</a:t>
            </a:r>
            <a:endParaRPr kumimoji="0" sz="20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nn</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ReLU</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sz="20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nn</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MaxPool2d</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2</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(32, 7, 7) </a:t>
            </a:r>
            <a:r>
              <a:rPr kumimoji="0" lang="en-US" altLang="zh-TW" sz="2000" b="0" i="0" u="none" strike="noStrike" kern="1200" cap="none" spc="0" normalizeH="0" baseline="0" noProof="0" dirty="0">
                <a:ln>
                  <a:noFill/>
                </a:ln>
                <a:solidFill>
                  <a:srgbClr val="6A9955"/>
                </a:solidFill>
                <a:effectLst/>
                <a:uLnTx/>
                <a:uFillTx/>
                <a:latin typeface="Consolas"/>
                <a:ea typeface="Microsoft JhengHei"/>
                <a:cs typeface="+mn-cs"/>
              </a:rPr>
              <a:t>0</a:t>
            </a:r>
            <a:endParaRPr kumimoji="0" sz="20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nn</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Flatten</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(1568,) </a:t>
            </a:r>
            <a:r>
              <a:rPr kumimoji="0" lang="en-US" altLang="zh-TW" sz="2000" b="0" i="0" u="none" strike="noStrike" kern="1200" cap="none" spc="0" normalizeH="0" baseline="0" noProof="0" dirty="0">
                <a:ln>
                  <a:noFill/>
                </a:ln>
                <a:solidFill>
                  <a:srgbClr val="6A9955"/>
                </a:solidFill>
                <a:effectLst/>
                <a:uLnTx/>
                <a:uFillTx/>
                <a:latin typeface="Consolas"/>
                <a:ea typeface="Microsoft JhengHei"/>
                <a:cs typeface="+mn-cs"/>
              </a:rPr>
              <a:t>0</a:t>
            </a:r>
            <a:endParaRPr kumimoji="0" sz="20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nn</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Linear</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32</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7</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7</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10</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(10,) </a:t>
            </a:r>
            <a:r>
              <a:rPr kumimoji="0" lang="en-US" altLang="zh-TW" sz="2000" b="0" i="0" u="none" strike="noStrike" kern="1200" cap="none" spc="0" normalizeH="0" baseline="0" noProof="0" dirty="0">
                <a:ln>
                  <a:noFill/>
                </a:ln>
                <a:solidFill>
                  <a:srgbClr val="6A9955"/>
                </a:solidFill>
                <a:effectLst/>
                <a:uLnTx/>
                <a:uFillTx/>
                <a:latin typeface="Consolas"/>
                <a:ea typeface="Microsoft JhengHei"/>
                <a:cs typeface="+mn-cs"/>
              </a:rPr>
              <a:t>15690</a:t>
            </a:r>
            <a:endParaRPr kumimoji="0" sz="20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sz="20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print</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sum</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p</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numel</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for</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p</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in</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model</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parameters</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20490</a:t>
            </a:r>
            <a:endParaRPr kumimoji="0"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33" name="Brace features"/>
          <p:cNvSpPr/>
          <p:nvPr/>
        </p:nvSpPr>
        <p:spPr>
          <a:xfrm>
            <a:off x="14301216" y="5340096"/>
            <a:ext cx="274320" cy="1755648"/>
          </a:xfrm>
          <a:prstGeom prst="rightBrace">
            <a:avLst/>
          </a:prstGeom>
          <a:noFill/>
          <a:ln w="25400">
            <a:solidFill>
              <a:srgbClr val="3F2619"/>
            </a:solid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4" name="Brace features label"/>
          <p:cNvSpPr txBox="1"/>
          <p:nvPr/>
        </p:nvSpPr>
        <p:spPr>
          <a:xfrm>
            <a:off x="14758416" y="5715000"/>
            <a:ext cx="2980944" cy="1005840"/>
          </a:xfrm>
          <a:prstGeom prst="rect">
            <a:avLst/>
          </a:prstGeom>
          <a:noFill/>
        </p:spPr>
        <p:txBody>
          <a:bodyPr wrap="square" lIns="0" tIns="0" rIns="0" bIns="0" anchor="ctr">
            <a:noAutofit/>
          </a:bodyP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zh-TW" altLang="en-US" sz="2600" b="0" i="0" u="none" strike="noStrike" kern="1200" cap="none" spc="0" normalizeH="0" baseline="0" noProof="0" dirty="0">
                <a:ln>
                  <a:noFill/>
                </a:ln>
                <a:solidFill>
                  <a:srgbClr val="3F2619"/>
                </a:solidFill>
                <a:effectLst/>
                <a:uLnTx/>
                <a:uFillTx/>
                <a:latin typeface="Noto Sans SC Medium"/>
                <a:ea typeface="Noto Sans SC Medium"/>
                <a:cs typeface="+mn-cs"/>
              </a:rPr>
              <a:t>特徵提取</a:t>
            </a:r>
          </a:p>
          <a:p>
            <a:pPr marL="0" marR="0" lvl="0" indent="0" algn="l" defTabSz="914400" rtl="0" eaLnBrk="1" fontAlgn="auto" latinLnBrk="0" hangingPunct="1">
              <a:lnSpc>
                <a:spcPts val="3000"/>
              </a:lnSpc>
              <a:spcBef>
                <a:spcPts val="0"/>
              </a:spcBef>
              <a:spcAft>
                <a:spcPts val="0"/>
              </a:spcAft>
              <a:buClrTx/>
              <a:buSzTx/>
              <a:buFontTx/>
              <a:buNone/>
              <a:tabLst/>
              <a:defRPr/>
            </a:pPr>
            <a:r>
              <a:rPr kumimoji="0" lang="zh-TW" altLang="en-US" sz="1600" b="0" i="0" u="none" strike="noStrike" kern="1200" cap="none" spc="0" normalizeH="0" baseline="0" noProof="0" dirty="0">
                <a:ln>
                  <a:noFill/>
                </a:ln>
                <a:solidFill>
                  <a:srgbClr val="7A6555"/>
                </a:solidFill>
                <a:effectLst/>
                <a:uLnTx/>
                <a:uFillTx/>
                <a:latin typeface="Noto Sans SC Medium"/>
                <a:ea typeface="Noto Sans SC Medium"/>
                <a:cs typeface="+mn-cs"/>
              </a:rPr>
              <a:t>Convolution + Pooling</a:t>
            </a:r>
          </a:p>
        </p:txBody>
      </p:sp>
      <p:sp>
        <p:nvSpPr>
          <p:cNvPr id="35" name="Brace classifier"/>
          <p:cNvSpPr/>
          <p:nvPr/>
        </p:nvSpPr>
        <p:spPr>
          <a:xfrm>
            <a:off x="14301216" y="7168896"/>
            <a:ext cx="274320" cy="536448"/>
          </a:xfrm>
          <a:prstGeom prst="rightBrace">
            <a:avLst/>
          </a:prstGeom>
          <a:noFill/>
          <a:ln w="25400">
            <a:solidFill>
              <a:srgbClr val="3F2619"/>
            </a:solid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6" name="Brace classifier label"/>
          <p:cNvSpPr txBox="1"/>
          <p:nvPr/>
        </p:nvSpPr>
        <p:spPr>
          <a:xfrm>
            <a:off x="14758416" y="6934200"/>
            <a:ext cx="2980944" cy="1005840"/>
          </a:xfrm>
          <a:prstGeom prst="rect">
            <a:avLst/>
          </a:prstGeom>
          <a:noFill/>
        </p:spPr>
        <p:txBody>
          <a:bodyPr wrap="square" lIns="0" tIns="0" rIns="0" bIns="0" anchor="ctr">
            <a:noAutofit/>
          </a:bodyP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zh-TW" altLang="en-US" sz="2600" b="0" i="0" u="none" strike="noStrike" kern="1200" cap="none" spc="0" normalizeH="0" baseline="0" noProof="0" dirty="0">
                <a:ln>
                  <a:noFill/>
                </a:ln>
                <a:solidFill>
                  <a:srgbClr val="3F2619"/>
                </a:solidFill>
                <a:effectLst/>
                <a:uLnTx/>
                <a:uFillTx/>
                <a:latin typeface="Noto Sans SC Medium"/>
                <a:ea typeface="Noto Sans SC Medium"/>
                <a:cs typeface="+mn-cs"/>
              </a:rPr>
              <a:t>分類</a:t>
            </a:r>
          </a:p>
          <a:p>
            <a:pPr marL="0" marR="0" lvl="0" indent="0" algn="l" defTabSz="914400" rtl="0" eaLnBrk="1" fontAlgn="auto" latinLnBrk="0" hangingPunct="1">
              <a:lnSpc>
                <a:spcPts val="3000"/>
              </a:lnSpc>
              <a:spcBef>
                <a:spcPts val="0"/>
              </a:spcBef>
              <a:spcAft>
                <a:spcPts val="0"/>
              </a:spcAft>
              <a:buClrTx/>
              <a:buSzTx/>
              <a:buFontTx/>
              <a:buNone/>
              <a:tabLst/>
              <a:defRPr/>
            </a:pPr>
            <a:r>
              <a:rPr kumimoji="0" lang="zh-TW" altLang="en-US" sz="1600" b="0" i="0" u="none" strike="noStrike" kern="1200" cap="none" spc="0" normalizeH="0" baseline="0" noProof="0" dirty="0">
                <a:ln>
                  <a:noFill/>
                </a:ln>
                <a:solidFill>
                  <a:srgbClr val="7A6555"/>
                </a:solidFill>
                <a:effectLst/>
                <a:uLnTx/>
                <a:uFillTx/>
                <a:latin typeface="Noto Sans SC Medium"/>
                <a:ea typeface="Noto Sans SC Medium"/>
                <a:cs typeface="+mn-cs"/>
              </a:rPr>
              <a:t>Fully Connected</a:t>
            </a:r>
          </a:p>
        </p:txBody>
      </p:sp>
    </p:spTree>
    <p:extLst>
      <p:ext uri="{BB962C8B-B14F-4D97-AF65-F5344CB8AC3E}">
        <p14:creationId xmlns:p14="http://schemas.microsoft.com/office/powerpoint/2010/main" val="10973557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30">
            <a:extLst>
              <a:ext uri="{FF2B5EF4-FFF2-40B4-BE49-F238E27FC236}">
                <a16:creationId xmlns:a16="http://schemas.microsoft.com/office/drawing/2014/main" id="{6EE25D80-740E-48C2-AC07-730356A79277}"/>
              </a:ext>
            </a:extLst>
          </p:cNvPr>
          <p:cNvSpPr txBox="1"/>
          <p:nvPr/>
        </p:nvSpPr>
        <p:spPr>
          <a:xfrm>
            <a:off x="2227748" y="2294444"/>
            <a:ext cx="15450652" cy="3226461"/>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zh-TW" altLang="en-US" sz="3600" dirty="0">
                <a:solidFill>
                  <a:srgbClr val="3F2619"/>
                </a:solidFill>
                <a:latin typeface="Noto Sans SC Medium" panose="020B0200000000000000" pitchFamily="34" charset="-128"/>
                <a:ea typeface="Noto Sans SC Medium" panose="020B0200000000000000" pitchFamily="34" charset="-128"/>
              </a:rPr>
              <a:t>資料集介紹</a:t>
            </a:r>
            <a:r>
              <a:rPr lang="en-US" altLang="zh-TW" sz="3600" dirty="0">
                <a:solidFill>
                  <a:srgbClr val="3F2619"/>
                </a:solidFill>
                <a:latin typeface="Noto Sans SC Medium" panose="020B0200000000000000" pitchFamily="34" charset="-128"/>
                <a:ea typeface="Noto Sans SC Medium" panose="020B0200000000000000" pitchFamily="34" charset="-128"/>
              </a:rPr>
              <a:t>Fashion-MNIST </a:t>
            </a:r>
          </a:p>
          <a:p>
            <a:pPr marL="285750" indent="-285750">
              <a:lnSpc>
                <a:spcPct val="150000"/>
              </a:lnSpc>
              <a:buFont typeface="Wingdings" panose="05000000000000000000" pitchFamily="2" charset="2"/>
              <a:buChar char="l"/>
            </a:pPr>
            <a:r>
              <a:rPr lang="zh-TW" altLang="en-US" sz="3600" dirty="0">
                <a:solidFill>
                  <a:srgbClr val="3F2619"/>
                </a:solidFill>
                <a:latin typeface="Noto Sans SC Medium" panose="020B0200000000000000" pitchFamily="34" charset="-128"/>
                <a:ea typeface="Noto Sans SC Medium" panose="020B0200000000000000" pitchFamily="34" charset="-128"/>
              </a:rPr>
              <a:t>訓練資料 </a:t>
            </a:r>
            <a:r>
              <a:rPr lang="en-US" altLang="zh-TW" sz="3600" dirty="0">
                <a:solidFill>
                  <a:srgbClr val="3F2619"/>
                </a:solidFill>
                <a:latin typeface="Noto Sans SC Medium" panose="020B0200000000000000" pitchFamily="34" charset="-128"/>
                <a:ea typeface="Noto Sans SC Medium" panose="020B0200000000000000" pitchFamily="34" charset="-128"/>
              </a:rPr>
              <a:t>60,000 </a:t>
            </a:r>
            <a:r>
              <a:rPr lang="zh-TW" altLang="en-US" sz="3600" dirty="0">
                <a:solidFill>
                  <a:srgbClr val="3F2619"/>
                </a:solidFill>
                <a:latin typeface="Noto Sans SC Medium" panose="020B0200000000000000" pitchFamily="34" charset="-128"/>
                <a:ea typeface="Noto Sans SC Medium" panose="020B0200000000000000" pitchFamily="34" charset="-128"/>
              </a:rPr>
              <a:t>張</a:t>
            </a:r>
          </a:p>
          <a:p>
            <a:pPr marL="285750" indent="-285750">
              <a:lnSpc>
                <a:spcPct val="150000"/>
              </a:lnSpc>
              <a:buFont typeface="Wingdings" panose="05000000000000000000" pitchFamily="2" charset="2"/>
              <a:buChar char="l"/>
            </a:pPr>
            <a:r>
              <a:rPr lang="zh-TW" altLang="en-US" sz="3600" dirty="0">
                <a:solidFill>
                  <a:srgbClr val="3F2619"/>
                </a:solidFill>
                <a:latin typeface="Noto Sans SC Medium" panose="020B0200000000000000" pitchFamily="34" charset="-128"/>
                <a:ea typeface="Noto Sans SC Medium" panose="020B0200000000000000" pitchFamily="34" charset="-128"/>
              </a:rPr>
              <a:t>測試資料 </a:t>
            </a:r>
            <a:r>
              <a:rPr lang="en-US" altLang="zh-TW" sz="3600" dirty="0">
                <a:solidFill>
                  <a:srgbClr val="3F2619"/>
                </a:solidFill>
                <a:latin typeface="Noto Sans SC Medium" panose="020B0200000000000000" pitchFamily="34" charset="-128"/>
                <a:ea typeface="Noto Sans SC Medium" panose="020B0200000000000000" pitchFamily="34" charset="-128"/>
              </a:rPr>
              <a:t>10,000 </a:t>
            </a:r>
            <a:r>
              <a:rPr lang="zh-TW" altLang="en-US" sz="3600" dirty="0">
                <a:solidFill>
                  <a:srgbClr val="3F2619"/>
                </a:solidFill>
                <a:latin typeface="Noto Sans SC Medium" panose="020B0200000000000000" pitchFamily="34" charset="-128"/>
                <a:ea typeface="Noto Sans SC Medium" panose="020B0200000000000000" pitchFamily="34" charset="-128"/>
              </a:rPr>
              <a:t>張</a:t>
            </a:r>
          </a:p>
          <a:p>
            <a:pPr marL="285750" indent="-285750">
              <a:lnSpc>
                <a:spcPct val="150000"/>
              </a:lnSpc>
              <a:buFont typeface="Wingdings" panose="05000000000000000000" pitchFamily="2" charset="2"/>
              <a:buChar char="l"/>
            </a:pP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8" name="圖片 7">
            <a:extLst>
              <a:ext uri="{FF2B5EF4-FFF2-40B4-BE49-F238E27FC236}">
                <a16:creationId xmlns:a16="http://schemas.microsoft.com/office/drawing/2014/main" id="{158DBE0A-5F8B-4EC8-AB21-E612BAB4ABD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035525" y="2052272"/>
            <a:ext cx="7680975" cy="7680975"/>
          </a:xfrm>
          <a:prstGeom prst="rect">
            <a:avLst/>
          </a:prstGeom>
        </p:spPr>
      </p:pic>
    </p:spTree>
    <p:extLst>
      <p:ext uri="{BB962C8B-B14F-4D97-AF65-F5344CB8AC3E}">
        <p14:creationId xmlns:p14="http://schemas.microsoft.com/office/powerpoint/2010/main" val="17344716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30">
            <a:extLst>
              <a:ext uri="{FF2B5EF4-FFF2-40B4-BE49-F238E27FC236}">
                <a16:creationId xmlns:a16="http://schemas.microsoft.com/office/drawing/2014/main" id="{6EE25D80-740E-48C2-AC07-730356A79277}"/>
              </a:ext>
            </a:extLst>
          </p:cNvPr>
          <p:cNvSpPr txBox="1"/>
          <p:nvPr/>
        </p:nvSpPr>
        <p:spPr>
          <a:xfrm>
            <a:off x="2227748" y="2294444"/>
            <a:ext cx="15450652" cy="747897"/>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Step1</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10" name="圖片 9">
            <a:extLst>
              <a:ext uri="{FF2B5EF4-FFF2-40B4-BE49-F238E27FC236}">
                <a16:creationId xmlns:a16="http://schemas.microsoft.com/office/drawing/2014/main" id="{73EDB92C-271B-42EF-B14E-8D224E60211B}"/>
              </a:ext>
            </a:extLst>
          </p:cNvPr>
          <p:cNvPicPr>
            <a:picLocks noChangeAspect="1"/>
          </p:cNvPicPr>
          <p:nvPr/>
        </p:nvPicPr>
        <p:blipFill>
          <a:blip r:embed="rId8"/>
          <a:stretch>
            <a:fillRect/>
          </a:stretch>
        </p:blipFill>
        <p:spPr>
          <a:xfrm>
            <a:off x="2689941" y="3368036"/>
            <a:ext cx="13002265" cy="6001045"/>
          </a:xfrm>
          <a:prstGeom prst="rect">
            <a:avLst/>
          </a:prstGeom>
        </p:spPr>
      </p:pic>
    </p:spTree>
    <p:extLst>
      <p:ext uri="{BB962C8B-B14F-4D97-AF65-F5344CB8AC3E}">
        <p14:creationId xmlns:p14="http://schemas.microsoft.com/office/powerpoint/2010/main" val="31222218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30">
            <a:extLst>
              <a:ext uri="{FF2B5EF4-FFF2-40B4-BE49-F238E27FC236}">
                <a16:creationId xmlns:a16="http://schemas.microsoft.com/office/drawing/2014/main" id="{6EE25D80-740E-48C2-AC07-730356A79277}"/>
              </a:ext>
            </a:extLst>
          </p:cNvPr>
          <p:cNvSpPr txBox="1"/>
          <p:nvPr/>
        </p:nvSpPr>
        <p:spPr>
          <a:xfrm>
            <a:off x="2227748" y="2294444"/>
            <a:ext cx="15450652" cy="747897"/>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Step2</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17" name="圖片 16">
            <a:extLst>
              <a:ext uri="{FF2B5EF4-FFF2-40B4-BE49-F238E27FC236}">
                <a16:creationId xmlns:a16="http://schemas.microsoft.com/office/drawing/2014/main" id="{2190C556-E825-4B9B-8F42-94529318EDF0}"/>
              </a:ext>
            </a:extLst>
          </p:cNvPr>
          <p:cNvPicPr>
            <a:picLocks noChangeAspect="1"/>
          </p:cNvPicPr>
          <p:nvPr/>
        </p:nvPicPr>
        <p:blipFill>
          <a:blip r:embed="rId8"/>
          <a:stretch>
            <a:fillRect/>
          </a:stretch>
        </p:blipFill>
        <p:spPr>
          <a:xfrm>
            <a:off x="2281000" y="3729924"/>
            <a:ext cx="9998175" cy="747896"/>
          </a:xfrm>
          <a:prstGeom prst="rect">
            <a:avLst/>
          </a:prstGeom>
        </p:spPr>
      </p:pic>
      <p:pic>
        <p:nvPicPr>
          <p:cNvPr id="19" name="圖片 18">
            <a:extLst>
              <a:ext uri="{FF2B5EF4-FFF2-40B4-BE49-F238E27FC236}">
                <a16:creationId xmlns:a16="http://schemas.microsoft.com/office/drawing/2014/main" id="{E1E32BB1-977D-44EB-A9D7-FABFEB65814B}"/>
              </a:ext>
            </a:extLst>
          </p:cNvPr>
          <p:cNvPicPr>
            <a:picLocks noChangeAspect="1"/>
          </p:cNvPicPr>
          <p:nvPr/>
        </p:nvPicPr>
        <p:blipFill>
          <a:blip r:embed="rId9"/>
          <a:stretch>
            <a:fillRect/>
          </a:stretch>
        </p:blipFill>
        <p:spPr>
          <a:xfrm>
            <a:off x="2278125" y="4855129"/>
            <a:ext cx="13621852" cy="4522600"/>
          </a:xfrm>
          <a:prstGeom prst="rect">
            <a:avLst/>
          </a:prstGeom>
        </p:spPr>
      </p:pic>
    </p:spTree>
    <p:extLst>
      <p:ext uri="{BB962C8B-B14F-4D97-AF65-F5344CB8AC3E}">
        <p14:creationId xmlns:p14="http://schemas.microsoft.com/office/powerpoint/2010/main" val="42900247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30">
            <a:extLst>
              <a:ext uri="{FF2B5EF4-FFF2-40B4-BE49-F238E27FC236}">
                <a16:creationId xmlns:a16="http://schemas.microsoft.com/office/drawing/2014/main" id="{6EE25D80-740E-48C2-AC07-730356A79277}"/>
              </a:ext>
            </a:extLst>
          </p:cNvPr>
          <p:cNvSpPr txBox="1"/>
          <p:nvPr/>
        </p:nvSpPr>
        <p:spPr>
          <a:xfrm>
            <a:off x="2227748" y="2294444"/>
            <a:ext cx="15450652" cy="733471"/>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Step2_result</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15" name="圖片 14">
            <a:extLst>
              <a:ext uri="{FF2B5EF4-FFF2-40B4-BE49-F238E27FC236}">
                <a16:creationId xmlns:a16="http://schemas.microsoft.com/office/drawing/2014/main" id="{59BAFAE8-27C3-4F01-A99E-EC3F0F206C5A}"/>
              </a:ext>
            </a:extLst>
          </p:cNvPr>
          <p:cNvPicPr>
            <a:picLocks noChangeAspect="1"/>
          </p:cNvPicPr>
          <p:nvPr/>
        </p:nvPicPr>
        <p:blipFill>
          <a:blip r:embed="rId8"/>
          <a:stretch>
            <a:fillRect/>
          </a:stretch>
        </p:blipFill>
        <p:spPr>
          <a:xfrm>
            <a:off x="3904519" y="3585721"/>
            <a:ext cx="10478962" cy="5792008"/>
          </a:xfrm>
          <a:prstGeom prst="rect">
            <a:avLst/>
          </a:prstGeom>
        </p:spPr>
      </p:pic>
    </p:spTree>
    <p:extLst>
      <p:ext uri="{BB962C8B-B14F-4D97-AF65-F5344CB8AC3E}">
        <p14:creationId xmlns:p14="http://schemas.microsoft.com/office/powerpoint/2010/main" val="16776614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30">
            <a:extLst>
              <a:ext uri="{FF2B5EF4-FFF2-40B4-BE49-F238E27FC236}">
                <a16:creationId xmlns:a16="http://schemas.microsoft.com/office/drawing/2014/main" id="{6EE25D80-740E-48C2-AC07-730356A79277}"/>
              </a:ext>
            </a:extLst>
          </p:cNvPr>
          <p:cNvSpPr txBox="1"/>
          <p:nvPr/>
        </p:nvSpPr>
        <p:spPr>
          <a:xfrm>
            <a:off x="2227748" y="2294444"/>
            <a:ext cx="15450652" cy="747897"/>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Step3</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7" name="圖片 6">
            <a:extLst>
              <a:ext uri="{FF2B5EF4-FFF2-40B4-BE49-F238E27FC236}">
                <a16:creationId xmlns:a16="http://schemas.microsoft.com/office/drawing/2014/main" id="{1008EB4C-7A3F-4A90-9093-12A87B7C00FD}"/>
              </a:ext>
            </a:extLst>
          </p:cNvPr>
          <p:cNvPicPr>
            <a:picLocks noChangeAspect="1"/>
          </p:cNvPicPr>
          <p:nvPr/>
        </p:nvPicPr>
        <p:blipFill>
          <a:blip r:embed="rId8"/>
          <a:stretch>
            <a:fillRect/>
          </a:stretch>
        </p:blipFill>
        <p:spPr>
          <a:xfrm>
            <a:off x="2281000" y="4193784"/>
            <a:ext cx="9530319" cy="747896"/>
          </a:xfrm>
          <a:prstGeom prst="rect">
            <a:avLst/>
          </a:prstGeom>
        </p:spPr>
      </p:pic>
      <p:pic>
        <p:nvPicPr>
          <p:cNvPr id="12" name="圖片 11">
            <a:extLst>
              <a:ext uri="{FF2B5EF4-FFF2-40B4-BE49-F238E27FC236}">
                <a16:creationId xmlns:a16="http://schemas.microsoft.com/office/drawing/2014/main" id="{C77C4C8A-7CF4-4E7D-9F7C-C9AFD96B5843}"/>
              </a:ext>
            </a:extLst>
          </p:cNvPr>
          <p:cNvPicPr>
            <a:picLocks noChangeAspect="1"/>
          </p:cNvPicPr>
          <p:nvPr/>
        </p:nvPicPr>
        <p:blipFill>
          <a:blip r:embed="rId9"/>
          <a:stretch>
            <a:fillRect/>
          </a:stretch>
        </p:blipFill>
        <p:spPr>
          <a:xfrm>
            <a:off x="2281000" y="5345321"/>
            <a:ext cx="13308966" cy="3941105"/>
          </a:xfrm>
          <a:prstGeom prst="rect">
            <a:avLst/>
          </a:prstGeom>
        </p:spPr>
      </p:pic>
    </p:spTree>
    <p:extLst>
      <p:ext uri="{BB962C8B-B14F-4D97-AF65-F5344CB8AC3E}">
        <p14:creationId xmlns:p14="http://schemas.microsoft.com/office/powerpoint/2010/main" val="37689589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30">
            <a:extLst>
              <a:ext uri="{FF2B5EF4-FFF2-40B4-BE49-F238E27FC236}">
                <a16:creationId xmlns:a16="http://schemas.microsoft.com/office/drawing/2014/main" id="{6EE25D80-740E-48C2-AC07-730356A79277}"/>
              </a:ext>
            </a:extLst>
          </p:cNvPr>
          <p:cNvSpPr txBox="1"/>
          <p:nvPr/>
        </p:nvSpPr>
        <p:spPr>
          <a:xfrm>
            <a:off x="2227748" y="2294444"/>
            <a:ext cx="15450652" cy="747897"/>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Step4</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10" name="圖片 9">
            <a:extLst>
              <a:ext uri="{FF2B5EF4-FFF2-40B4-BE49-F238E27FC236}">
                <a16:creationId xmlns:a16="http://schemas.microsoft.com/office/drawing/2014/main" id="{0F787420-5868-418D-BF33-39ED9656FD82}"/>
              </a:ext>
            </a:extLst>
          </p:cNvPr>
          <p:cNvPicPr>
            <a:picLocks noChangeAspect="1"/>
          </p:cNvPicPr>
          <p:nvPr/>
        </p:nvPicPr>
        <p:blipFill>
          <a:blip r:embed="rId8"/>
          <a:stretch>
            <a:fillRect/>
          </a:stretch>
        </p:blipFill>
        <p:spPr>
          <a:xfrm>
            <a:off x="2281000" y="3445367"/>
            <a:ext cx="10526184" cy="2009854"/>
          </a:xfrm>
          <a:prstGeom prst="rect">
            <a:avLst/>
          </a:prstGeom>
        </p:spPr>
      </p:pic>
      <p:pic>
        <p:nvPicPr>
          <p:cNvPr id="13" name="圖片 12">
            <a:extLst>
              <a:ext uri="{FF2B5EF4-FFF2-40B4-BE49-F238E27FC236}">
                <a16:creationId xmlns:a16="http://schemas.microsoft.com/office/drawing/2014/main" id="{CE62A782-23E2-4837-8095-D7399642C52C}"/>
              </a:ext>
            </a:extLst>
          </p:cNvPr>
          <p:cNvPicPr>
            <a:picLocks noChangeAspect="1"/>
          </p:cNvPicPr>
          <p:nvPr/>
        </p:nvPicPr>
        <p:blipFill>
          <a:blip r:embed="rId9"/>
          <a:stretch>
            <a:fillRect/>
          </a:stretch>
        </p:blipFill>
        <p:spPr>
          <a:xfrm>
            <a:off x="9454154" y="369259"/>
            <a:ext cx="7690846" cy="9548481"/>
          </a:xfrm>
          <a:prstGeom prst="rect">
            <a:avLst/>
          </a:prstGeom>
        </p:spPr>
      </p:pic>
      <p:pic>
        <p:nvPicPr>
          <p:cNvPr id="17" name="圖片 16">
            <a:extLst>
              <a:ext uri="{FF2B5EF4-FFF2-40B4-BE49-F238E27FC236}">
                <a16:creationId xmlns:a16="http://schemas.microsoft.com/office/drawing/2014/main" id="{3F8466F5-AA94-4A4B-B506-46F46AA910B6}"/>
              </a:ext>
            </a:extLst>
          </p:cNvPr>
          <p:cNvPicPr>
            <a:picLocks noChangeAspect="1"/>
          </p:cNvPicPr>
          <p:nvPr/>
        </p:nvPicPr>
        <p:blipFill>
          <a:blip r:embed="rId10"/>
          <a:stretch>
            <a:fillRect/>
          </a:stretch>
        </p:blipFill>
        <p:spPr>
          <a:xfrm>
            <a:off x="2281000" y="5858247"/>
            <a:ext cx="6382852" cy="2614858"/>
          </a:xfrm>
          <a:prstGeom prst="rect">
            <a:avLst/>
          </a:prstGeom>
        </p:spPr>
      </p:pic>
      <p:pic>
        <p:nvPicPr>
          <p:cNvPr id="19" name="圖片 18">
            <a:extLst>
              <a:ext uri="{FF2B5EF4-FFF2-40B4-BE49-F238E27FC236}">
                <a16:creationId xmlns:a16="http://schemas.microsoft.com/office/drawing/2014/main" id="{A1A63487-67E4-4903-9BB5-6E474B889468}"/>
              </a:ext>
            </a:extLst>
          </p:cNvPr>
          <p:cNvPicPr>
            <a:picLocks noChangeAspect="1"/>
          </p:cNvPicPr>
          <p:nvPr/>
        </p:nvPicPr>
        <p:blipFill>
          <a:blip r:embed="rId11"/>
          <a:stretch>
            <a:fillRect/>
          </a:stretch>
        </p:blipFill>
        <p:spPr>
          <a:xfrm>
            <a:off x="2227749" y="9134593"/>
            <a:ext cx="6436104" cy="607793"/>
          </a:xfrm>
          <a:prstGeom prst="rect">
            <a:avLst/>
          </a:prstGeom>
        </p:spPr>
      </p:pic>
    </p:spTree>
    <p:extLst>
      <p:ext uri="{BB962C8B-B14F-4D97-AF65-F5344CB8AC3E}">
        <p14:creationId xmlns:p14="http://schemas.microsoft.com/office/powerpoint/2010/main" val="32872246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30">
            <a:extLst>
              <a:ext uri="{FF2B5EF4-FFF2-40B4-BE49-F238E27FC236}">
                <a16:creationId xmlns:a16="http://schemas.microsoft.com/office/drawing/2014/main" id="{6EE25D80-740E-48C2-AC07-730356A79277}"/>
              </a:ext>
            </a:extLst>
          </p:cNvPr>
          <p:cNvSpPr txBox="1"/>
          <p:nvPr/>
        </p:nvSpPr>
        <p:spPr>
          <a:xfrm>
            <a:off x="2227748" y="2294444"/>
            <a:ext cx="15450652" cy="747897"/>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Step5</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10" name="圖片 9">
            <a:extLst>
              <a:ext uri="{FF2B5EF4-FFF2-40B4-BE49-F238E27FC236}">
                <a16:creationId xmlns:a16="http://schemas.microsoft.com/office/drawing/2014/main" id="{7BCAC90D-28A1-4810-B8DD-E1F628D3E397}"/>
              </a:ext>
            </a:extLst>
          </p:cNvPr>
          <p:cNvPicPr>
            <a:picLocks noChangeAspect="1"/>
          </p:cNvPicPr>
          <p:nvPr/>
        </p:nvPicPr>
        <p:blipFill>
          <a:blip r:embed="rId8"/>
          <a:stretch>
            <a:fillRect/>
          </a:stretch>
        </p:blipFill>
        <p:spPr>
          <a:xfrm>
            <a:off x="2288189" y="3624310"/>
            <a:ext cx="6339128" cy="1781243"/>
          </a:xfrm>
          <a:prstGeom prst="rect">
            <a:avLst/>
          </a:prstGeom>
        </p:spPr>
      </p:pic>
      <p:pic>
        <p:nvPicPr>
          <p:cNvPr id="13" name="圖片 12">
            <a:extLst>
              <a:ext uri="{FF2B5EF4-FFF2-40B4-BE49-F238E27FC236}">
                <a16:creationId xmlns:a16="http://schemas.microsoft.com/office/drawing/2014/main" id="{0229E470-F626-4DB4-BF98-48DA4D9C0572}"/>
              </a:ext>
            </a:extLst>
          </p:cNvPr>
          <p:cNvPicPr>
            <a:picLocks noChangeAspect="1"/>
          </p:cNvPicPr>
          <p:nvPr/>
        </p:nvPicPr>
        <p:blipFill>
          <a:blip r:embed="rId9"/>
          <a:stretch>
            <a:fillRect/>
          </a:stretch>
        </p:blipFill>
        <p:spPr>
          <a:xfrm>
            <a:off x="2280999" y="6185754"/>
            <a:ext cx="14884641" cy="2539145"/>
          </a:xfrm>
          <a:prstGeom prst="rect">
            <a:avLst/>
          </a:prstGeom>
        </p:spPr>
      </p:pic>
    </p:spTree>
    <p:extLst>
      <p:ext uri="{BB962C8B-B14F-4D97-AF65-F5344CB8AC3E}">
        <p14:creationId xmlns:p14="http://schemas.microsoft.com/office/powerpoint/2010/main" val="17857319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30">
            <a:extLst>
              <a:ext uri="{FF2B5EF4-FFF2-40B4-BE49-F238E27FC236}">
                <a16:creationId xmlns:a16="http://schemas.microsoft.com/office/drawing/2014/main" id="{6EE25D80-740E-48C2-AC07-730356A79277}"/>
              </a:ext>
            </a:extLst>
          </p:cNvPr>
          <p:cNvSpPr txBox="1"/>
          <p:nvPr/>
        </p:nvSpPr>
        <p:spPr>
          <a:xfrm>
            <a:off x="2227748" y="2294444"/>
            <a:ext cx="15450652" cy="747897"/>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Step6</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4" name="圖片 3">
            <a:extLst>
              <a:ext uri="{FF2B5EF4-FFF2-40B4-BE49-F238E27FC236}">
                <a16:creationId xmlns:a16="http://schemas.microsoft.com/office/drawing/2014/main" id="{1263181F-7419-4ED0-8F22-1C77F4CE1213}"/>
              </a:ext>
            </a:extLst>
          </p:cNvPr>
          <p:cNvPicPr>
            <a:picLocks noChangeAspect="1"/>
          </p:cNvPicPr>
          <p:nvPr/>
        </p:nvPicPr>
        <p:blipFill>
          <a:blip r:embed="rId8"/>
          <a:stretch>
            <a:fillRect/>
          </a:stretch>
        </p:blipFill>
        <p:spPr>
          <a:xfrm>
            <a:off x="2281000" y="3634401"/>
            <a:ext cx="5670073" cy="1100164"/>
          </a:xfrm>
          <a:prstGeom prst="rect">
            <a:avLst/>
          </a:prstGeom>
        </p:spPr>
      </p:pic>
      <p:pic>
        <p:nvPicPr>
          <p:cNvPr id="7" name="圖片 6">
            <a:extLst>
              <a:ext uri="{FF2B5EF4-FFF2-40B4-BE49-F238E27FC236}">
                <a16:creationId xmlns:a16="http://schemas.microsoft.com/office/drawing/2014/main" id="{E3A92EB8-E5E5-4351-85BD-39E6FBD385B9}"/>
              </a:ext>
            </a:extLst>
          </p:cNvPr>
          <p:cNvPicPr>
            <a:picLocks noChangeAspect="1"/>
          </p:cNvPicPr>
          <p:nvPr/>
        </p:nvPicPr>
        <p:blipFill>
          <a:blip r:embed="rId9"/>
          <a:stretch>
            <a:fillRect/>
          </a:stretch>
        </p:blipFill>
        <p:spPr>
          <a:xfrm>
            <a:off x="9144000" y="1405582"/>
            <a:ext cx="8761227" cy="8202229"/>
          </a:xfrm>
          <a:prstGeom prst="rect">
            <a:avLst/>
          </a:prstGeom>
        </p:spPr>
      </p:pic>
      <p:pic>
        <p:nvPicPr>
          <p:cNvPr id="10" name="圖片 9">
            <a:extLst>
              <a:ext uri="{FF2B5EF4-FFF2-40B4-BE49-F238E27FC236}">
                <a16:creationId xmlns:a16="http://schemas.microsoft.com/office/drawing/2014/main" id="{7831A7FC-8796-46C7-A37B-20A245CA6F6F}"/>
              </a:ext>
            </a:extLst>
          </p:cNvPr>
          <p:cNvPicPr>
            <a:picLocks noChangeAspect="1"/>
          </p:cNvPicPr>
          <p:nvPr/>
        </p:nvPicPr>
        <p:blipFill>
          <a:blip r:embed="rId10"/>
          <a:stretch>
            <a:fillRect/>
          </a:stretch>
        </p:blipFill>
        <p:spPr>
          <a:xfrm>
            <a:off x="609600" y="6736186"/>
            <a:ext cx="7507595" cy="2871625"/>
          </a:xfrm>
          <a:prstGeom prst="rect">
            <a:avLst/>
          </a:prstGeom>
        </p:spPr>
      </p:pic>
    </p:spTree>
    <p:extLst>
      <p:ext uri="{BB962C8B-B14F-4D97-AF65-F5344CB8AC3E}">
        <p14:creationId xmlns:p14="http://schemas.microsoft.com/office/powerpoint/2010/main" val="1583308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30">
            <a:extLst>
              <a:ext uri="{FF2B5EF4-FFF2-40B4-BE49-F238E27FC236}">
                <a16:creationId xmlns:a16="http://schemas.microsoft.com/office/drawing/2014/main" id="{6EE25D80-740E-48C2-AC07-730356A79277}"/>
              </a:ext>
            </a:extLst>
          </p:cNvPr>
          <p:cNvSpPr txBox="1"/>
          <p:nvPr/>
        </p:nvSpPr>
        <p:spPr>
          <a:xfrm>
            <a:off x="2227748" y="2294444"/>
            <a:ext cx="15450652" cy="747897"/>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Step7-1</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4" name="圖片 3">
            <a:extLst>
              <a:ext uri="{FF2B5EF4-FFF2-40B4-BE49-F238E27FC236}">
                <a16:creationId xmlns:a16="http://schemas.microsoft.com/office/drawing/2014/main" id="{5972686D-50F4-4396-9EF2-6FDF29BBEBC4}"/>
              </a:ext>
            </a:extLst>
          </p:cNvPr>
          <p:cNvPicPr>
            <a:picLocks noChangeAspect="1"/>
          </p:cNvPicPr>
          <p:nvPr/>
        </p:nvPicPr>
        <p:blipFill>
          <a:blip r:embed="rId8"/>
          <a:stretch>
            <a:fillRect/>
          </a:stretch>
        </p:blipFill>
        <p:spPr>
          <a:xfrm>
            <a:off x="2281000" y="3706767"/>
            <a:ext cx="7884632" cy="533422"/>
          </a:xfrm>
          <a:prstGeom prst="rect">
            <a:avLst/>
          </a:prstGeom>
        </p:spPr>
      </p:pic>
      <p:pic>
        <p:nvPicPr>
          <p:cNvPr id="7" name="圖片 6">
            <a:extLst>
              <a:ext uri="{FF2B5EF4-FFF2-40B4-BE49-F238E27FC236}">
                <a16:creationId xmlns:a16="http://schemas.microsoft.com/office/drawing/2014/main" id="{D37AA6AD-F81D-4227-AC12-6202B12B45FC}"/>
              </a:ext>
            </a:extLst>
          </p:cNvPr>
          <p:cNvPicPr>
            <a:picLocks noChangeAspect="1"/>
          </p:cNvPicPr>
          <p:nvPr/>
        </p:nvPicPr>
        <p:blipFill>
          <a:blip r:embed="rId9"/>
          <a:stretch>
            <a:fillRect/>
          </a:stretch>
        </p:blipFill>
        <p:spPr>
          <a:xfrm>
            <a:off x="1117108" y="5705737"/>
            <a:ext cx="16836559" cy="3115714"/>
          </a:xfrm>
          <a:prstGeom prst="rect">
            <a:avLst/>
          </a:prstGeom>
        </p:spPr>
      </p:pic>
    </p:spTree>
    <p:extLst>
      <p:ext uri="{BB962C8B-B14F-4D97-AF65-F5344CB8AC3E}">
        <p14:creationId xmlns:p14="http://schemas.microsoft.com/office/powerpoint/2010/main" val="15537775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30">
            <a:extLst>
              <a:ext uri="{FF2B5EF4-FFF2-40B4-BE49-F238E27FC236}">
                <a16:creationId xmlns:a16="http://schemas.microsoft.com/office/drawing/2014/main" id="{6EE25D80-740E-48C2-AC07-730356A79277}"/>
              </a:ext>
            </a:extLst>
          </p:cNvPr>
          <p:cNvSpPr txBox="1"/>
          <p:nvPr/>
        </p:nvSpPr>
        <p:spPr>
          <a:xfrm>
            <a:off x="2227748" y="2294444"/>
            <a:ext cx="15450652" cy="747897"/>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Step7-2</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5" name="圖片 4">
            <a:extLst>
              <a:ext uri="{FF2B5EF4-FFF2-40B4-BE49-F238E27FC236}">
                <a16:creationId xmlns:a16="http://schemas.microsoft.com/office/drawing/2014/main" id="{4FB67064-E053-427E-A56F-9BCDD313250B}"/>
              </a:ext>
            </a:extLst>
          </p:cNvPr>
          <p:cNvPicPr>
            <a:picLocks noChangeAspect="1"/>
          </p:cNvPicPr>
          <p:nvPr/>
        </p:nvPicPr>
        <p:blipFill>
          <a:blip r:embed="rId8"/>
          <a:stretch>
            <a:fillRect/>
          </a:stretch>
        </p:blipFill>
        <p:spPr>
          <a:xfrm>
            <a:off x="5486400" y="2095501"/>
            <a:ext cx="9573207" cy="7399580"/>
          </a:xfrm>
          <a:prstGeom prst="rect">
            <a:avLst/>
          </a:prstGeom>
        </p:spPr>
      </p:pic>
    </p:spTree>
    <p:extLst>
      <p:ext uri="{BB962C8B-B14F-4D97-AF65-F5344CB8AC3E}">
        <p14:creationId xmlns:p14="http://schemas.microsoft.com/office/powerpoint/2010/main" val="40987267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30">
            <a:extLst>
              <a:ext uri="{FF2B5EF4-FFF2-40B4-BE49-F238E27FC236}">
                <a16:creationId xmlns:a16="http://schemas.microsoft.com/office/drawing/2014/main" id="{6EE25D80-740E-48C2-AC07-730356A79277}"/>
              </a:ext>
            </a:extLst>
          </p:cNvPr>
          <p:cNvSpPr txBox="1"/>
          <p:nvPr/>
        </p:nvSpPr>
        <p:spPr>
          <a:xfrm>
            <a:off x="2227748" y="2294444"/>
            <a:ext cx="15450652" cy="747897"/>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Step7-3</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10" name="圖片 9">
            <a:extLst>
              <a:ext uri="{FF2B5EF4-FFF2-40B4-BE49-F238E27FC236}">
                <a16:creationId xmlns:a16="http://schemas.microsoft.com/office/drawing/2014/main" id="{FBE19DBF-3555-44C4-967E-DF340F9FAA65}"/>
              </a:ext>
            </a:extLst>
          </p:cNvPr>
          <p:cNvPicPr>
            <a:picLocks noChangeAspect="1"/>
          </p:cNvPicPr>
          <p:nvPr/>
        </p:nvPicPr>
        <p:blipFill>
          <a:blip r:embed="rId8"/>
          <a:stretch>
            <a:fillRect/>
          </a:stretch>
        </p:blipFill>
        <p:spPr>
          <a:xfrm>
            <a:off x="4575694" y="2412528"/>
            <a:ext cx="13073951" cy="7150572"/>
          </a:xfrm>
          <a:prstGeom prst="rect">
            <a:avLst/>
          </a:prstGeom>
        </p:spPr>
      </p:pic>
    </p:spTree>
    <p:extLst>
      <p:ext uri="{BB962C8B-B14F-4D97-AF65-F5344CB8AC3E}">
        <p14:creationId xmlns:p14="http://schemas.microsoft.com/office/powerpoint/2010/main" val="2458815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30">
            <a:extLst>
              <a:ext uri="{FF2B5EF4-FFF2-40B4-BE49-F238E27FC236}">
                <a16:creationId xmlns:a16="http://schemas.microsoft.com/office/drawing/2014/main" id="{6EE25D80-740E-48C2-AC07-730356A79277}"/>
              </a:ext>
            </a:extLst>
          </p:cNvPr>
          <p:cNvSpPr txBox="1"/>
          <p:nvPr/>
        </p:nvSpPr>
        <p:spPr>
          <a:xfrm>
            <a:off x="2227748" y="2294444"/>
            <a:ext cx="15450652" cy="747897"/>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Step7_result</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5" name="圖片 4">
            <a:extLst>
              <a:ext uri="{FF2B5EF4-FFF2-40B4-BE49-F238E27FC236}">
                <a16:creationId xmlns:a16="http://schemas.microsoft.com/office/drawing/2014/main" id="{F48A0E57-BBCB-439E-B7B9-7C0C658078D8}"/>
              </a:ext>
            </a:extLst>
          </p:cNvPr>
          <p:cNvPicPr>
            <a:picLocks noChangeAspect="1"/>
          </p:cNvPicPr>
          <p:nvPr/>
        </p:nvPicPr>
        <p:blipFill>
          <a:blip r:embed="rId8"/>
          <a:stretch>
            <a:fillRect/>
          </a:stretch>
        </p:blipFill>
        <p:spPr>
          <a:xfrm>
            <a:off x="2298253" y="4903884"/>
            <a:ext cx="10926709" cy="3867318"/>
          </a:xfrm>
          <a:prstGeom prst="rect">
            <a:avLst/>
          </a:prstGeom>
        </p:spPr>
      </p:pic>
      <p:pic>
        <p:nvPicPr>
          <p:cNvPr id="10" name="圖片 9">
            <a:extLst>
              <a:ext uri="{FF2B5EF4-FFF2-40B4-BE49-F238E27FC236}">
                <a16:creationId xmlns:a16="http://schemas.microsoft.com/office/drawing/2014/main" id="{36A6B671-4DED-4CBC-B4DC-3C8D8EECB86A}"/>
              </a:ext>
            </a:extLst>
          </p:cNvPr>
          <p:cNvPicPr>
            <a:picLocks noChangeAspect="1"/>
          </p:cNvPicPr>
          <p:nvPr/>
        </p:nvPicPr>
        <p:blipFill>
          <a:blip r:embed="rId9"/>
          <a:stretch>
            <a:fillRect/>
          </a:stretch>
        </p:blipFill>
        <p:spPr>
          <a:xfrm>
            <a:off x="11685810" y="1646016"/>
            <a:ext cx="5992590" cy="2448192"/>
          </a:xfrm>
          <a:prstGeom prst="rect">
            <a:avLst/>
          </a:prstGeom>
        </p:spPr>
      </p:pic>
    </p:spTree>
    <p:extLst>
      <p:ext uri="{BB962C8B-B14F-4D97-AF65-F5344CB8AC3E}">
        <p14:creationId xmlns:p14="http://schemas.microsoft.com/office/powerpoint/2010/main" val="36640896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TextBox 30">
            <a:extLst>
              <a:ext uri="{FF2B5EF4-FFF2-40B4-BE49-F238E27FC236}">
                <a16:creationId xmlns:a16="http://schemas.microsoft.com/office/drawing/2014/main" id="{84776903-706A-4484-8AB7-D1A48F733856}"/>
              </a:ext>
            </a:extLst>
          </p:cNvPr>
          <p:cNvSpPr txBox="1"/>
          <p:nvPr/>
        </p:nvSpPr>
        <p:spPr>
          <a:xfrm>
            <a:off x="2227748" y="2294444"/>
            <a:ext cx="15450652" cy="747897"/>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Step8</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4" name="圖片 3">
            <a:extLst>
              <a:ext uri="{FF2B5EF4-FFF2-40B4-BE49-F238E27FC236}">
                <a16:creationId xmlns:a16="http://schemas.microsoft.com/office/drawing/2014/main" id="{22EAEABC-EECA-4EE8-AD25-F33AED21F404}"/>
              </a:ext>
            </a:extLst>
          </p:cNvPr>
          <p:cNvPicPr>
            <a:picLocks noChangeAspect="1"/>
          </p:cNvPicPr>
          <p:nvPr/>
        </p:nvPicPr>
        <p:blipFill>
          <a:blip r:embed="rId8"/>
          <a:stretch>
            <a:fillRect/>
          </a:stretch>
        </p:blipFill>
        <p:spPr>
          <a:xfrm>
            <a:off x="2234478" y="3805050"/>
            <a:ext cx="9386368" cy="5072250"/>
          </a:xfrm>
          <a:prstGeom prst="rect">
            <a:avLst/>
          </a:prstGeom>
        </p:spPr>
      </p:pic>
    </p:spTree>
    <p:extLst>
      <p:ext uri="{BB962C8B-B14F-4D97-AF65-F5344CB8AC3E}">
        <p14:creationId xmlns:p14="http://schemas.microsoft.com/office/powerpoint/2010/main" val="10531015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TextBox 30">
            <a:extLst>
              <a:ext uri="{FF2B5EF4-FFF2-40B4-BE49-F238E27FC236}">
                <a16:creationId xmlns:a16="http://schemas.microsoft.com/office/drawing/2014/main" id="{9172F7B0-202C-4272-88A4-26A332C6BD4F}"/>
              </a:ext>
            </a:extLst>
          </p:cNvPr>
          <p:cNvSpPr txBox="1"/>
          <p:nvPr/>
        </p:nvSpPr>
        <p:spPr>
          <a:xfrm>
            <a:off x="2227748" y="2294444"/>
            <a:ext cx="15450652" cy="747897"/>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Step9</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4" name="圖片 3">
            <a:extLst>
              <a:ext uri="{FF2B5EF4-FFF2-40B4-BE49-F238E27FC236}">
                <a16:creationId xmlns:a16="http://schemas.microsoft.com/office/drawing/2014/main" id="{D1504A9D-E2D8-4305-BB68-FC3126B68A87}"/>
              </a:ext>
            </a:extLst>
          </p:cNvPr>
          <p:cNvPicPr>
            <a:picLocks noChangeAspect="1"/>
          </p:cNvPicPr>
          <p:nvPr/>
        </p:nvPicPr>
        <p:blipFill>
          <a:blip r:embed="rId8"/>
          <a:stretch>
            <a:fillRect/>
          </a:stretch>
        </p:blipFill>
        <p:spPr>
          <a:xfrm>
            <a:off x="4966192" y="5801735"/>
            <a:ext cx="8449763" cy="4287627"/>
          </a:xfrm>
          <a:prstGeom prst="rect">
            <a:avLst/>
          </a:prstGeom>
        </p:spPr>
      </p:pic>
      <p:pic>
        <p:nvPicPr>
          <p:cNvPr id="8" name="圖片 7">
            <a:extLst>
              <a:ext uri="{FF2B5EF4-FFF2-40B4-BE49-F238E27FC236}">
                <a16:creationId xmlns:a16="http://schemas.microsoft.com/office/drawing/2014/main" id="{57E4966D-B856-4F98-AF7D-29089EB355BF}"/>
              </a:ext>
            </a:extLst>
          </p:cNvPr>
          <p:cNvPicPr>
            <a:picLocks noChangeAspect="1"/>
          </p:cNvPicPr>
          <p:nvPr/>
        </p:nvPicPr>
        <p:blipFill>
          <a:blip r:embed="rId9"/>
          <a:stretch>
            <a:fillRect/>
          </a:stretch>
        </p:blipFill>
        <p:spPr>
          <a:xfrm>
            <a:off x="2281000" y="3252788"/>
            <a:ext cx="14178200" cy="2393003"/>
          </a:xfrm>
          <a:prstGeom prst="rect">
            <a:avLst/>
          </a:prstGeom>
        </p:spPr>
      </p:pic>
    </p:spTree>
    <p:extLst>
      <p:ext uri="{BB962C8B-B14F-4D97-AF65-F5344CB8AC3E}">
        <p14:creationId xmlns:p14="http://schemas.microsoft.com/office/powerpoint/2010/main" val="18559939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TextBox 30">
            <a:extLst>
              <a:ext uri="{FF2B5EF4-FFF2-40B4-BE49-F238E27FC236}">
                <a16:creationId xmlns:a16="http://schemas.microsoft.com/office/drawing/2014/main" id="{BB513DDA-8B91-4991-AF9E-1CE214D42601}"/>
              </a:ext>
            </a:extLst>
          </p:cNvPr>
          <p:cNvSpPr txBox="1"/>
          <p:nvPr/>
        </p:nvSpPr>
        <p:spPr>
          <a:xfrm>
            <a:off x="2227748" y="2294444"/>
            <a:ext cx="15450652" cy="747897"/>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Step9</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4" name="圖片 3">
            <a:extLst>
              <a:ext uri="{FF2B5EF4-FFF2-40B4-BE49-F238E27FC236}">
                <a16:creationId xmlns:a16="http://schemas.microsoft.com/office/drawing/2014/main" id="{3BE2A38E-88FD-4B45-ABD8-CE0CA3A9D9B6}"/>
              </a:ext>
            </a:extLst>
          </p:cNvPr>
          <p:cNvPicPr>
            <a:picLocks noChangeAspect="1"/>
          </p:cNvPicPr>
          <p:nvPr/>
        </p:nvPicPr>
        <p:blipFill>
          <a:blip r:embed="rId8"/>
          <a:stretch>
            <a:fillRect/>
          </a:stretch>
        </p:blipFill>
        <p:spPr>
          <a:xfrm>
            <a:off x="2193243" y="3375945"/>
            <a:ext cx="5192956" cy="747898"/>
          </a:xfrm>
          <a:prstGeom prst="rect">
            <a:avLst/>
          </a:prstGeom>
        </p:spPr>
      </p:pic>
      <p:pic>
        <p:nvPicPr>
          <p:cNvPr id="13" name="圖片 12">
            <a:extLst>
              <a:ext uri="{FF2B5EF4-FFF2-40B4-BE49-F238E27FC236}">
                <a16:creationId xmlns:a16="http://schemas.microsoft.com/office/drawing/2014/main" id="{A6D239EF-8332-4A5C-9EBB-818A9805E287}"/>
              </a:ext>
            </a:extLst>
          </p:cNvPr>
          <p:cNvPicPr>
            <a:picLocks noChangeAspect="1"/>
          </p:cNvPicPr>
          <p:nvPr/>
        </p:nvPicPr>
        <p:blipFill>
          <a:blip r:embed="rId9"/>
          <a:stretch>
            <a:fillRect/>
          </a:stretch>
        </p:blipFill>
        <p:spPr>
          <a:xfrm>
            <a:off x="7585642" y="1881340"/>
            <a:ext cx="10502915" cy="7364594"/>
          </a:xfrm>
          <a:prstGeom prst="rect">
            <a:avLst/>
          </a:prstGeom>
        </p:spPr>
      </p:pic>
      <p:pic>
        <p:nvPicPr>
          <p:cNvPr id="15" name="圖片 14">
            <a:extLst>
              <a:ext uri="{FF2B5EF4-FFF2-40B4-BE49-F238E27FC236}">
                <a16:creationId xmlns:a16="http://schemas.microsoft.com/office/drawing/2014/main" id="{76EEEA75-289F-4667-9AC7-D7096B397A0A}"/>
              </a:ext>
            </a:extLst>
          </p:cNvPr>
          <p:cNvPicPr>
            <a:picLocks noChangeAspect="1"/>
          </p:cNvPicPr>
          <p:nvPr/>
        </p:nvPicPr>
        <p:blipFill>
          <a:blip r:embed="rId10"/>
          <a:stretch>
            <a:fillRect/>
          </a:stretch>
        </p:blipFill>
        <p:spPr>
          <a:xfrm>
            <a:off x="2193243" y="9429271"/>
            <a:ext cx="14662594" cy="589759"/>
          </a:xfrm>
          <a:prstGeom prst="rect">
            <a:avLst/>
          </a:prstGeom>
        </p:spPr>
      </p:pic>
    </p:spTree>
    <p:extLst>
      <p:ext uri="{BB962C8B-B14F-4D97-AF65-F5344CB8AC3E}">
        <p14:creationId xmlns:p14="http://schemas.microsoft.com/office/powerpoint/2010/main" val="28668467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pic>
        <p:nvPicPr>
          <p:cNvPr id="5" name="圖片 4">
            <a:extLst>
              <a:ext uri="{FF2B5EF4-FFF2-40B4-BE49-F238E27FC236}">
                <a16:creationId xmlns:a16="http://schemas.microsoft.com/office/drawing/2014/main" id="{0D19A516-9EB5-4D64-91BF-83D1EC39E58B}"/>
              </a:ext>
            </a:extLst>
          </p:cNvPr>
          <p:cNvPicPr>
            <a:picLocks noChangeAspect="1"/>
          </p:cNvPicPr>
          <p:nvPr/>
        </p:nvPicPr>
        <p:blipFill>
          <a:blip r:embed="rId8"/>
          <a:stretch>
            <a:fillRect/>
          </a:stretch>
        </p:blipFill>
        <p:spPr>
          <a:xfrm>
            <a:off x="1371528" y="2870112"/>
            <a:ext cx="14763592" cy="6109614"/>
          </a:xfrm>
          <a:prstGeom prst="rect">
            <a:avLst/>
          </a:prstGeom>
        </p:spPr>
      </p:pic>
    </p:spTree>
    <p:extLst>
      <p:ext uri="{BB962C8B-B14F-4D97-AF65-F5344CB8AC3E}">
        <p14:creationId xmlns:p14="http://schemas.microsoft.com/office/powerpoint/2010/main" val="9920197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a:off x="0" y="9055266"/>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TextBox 30">
            <a:extLst>
              <a:ext uri="{FF2B5EF4-FFF2-40B4-BE49-F238E27FC236}">
                <a16:creationId xmlns:a16="http://schemas.microsoft.com/office/drawing/2014/main" id="{BB513DDA-8B91-4991-AF9E-1CE214D42601}"/>
              </a:ext>
            </a:extLst>
          </p:cNvPr>
          <p:cNvSpPr txBox="1"/>
          <p:nvPr/>
        </p:nvSpPr>
        <p:spPr>
          <a:xfrm>
            <a:off x="2227748" y="2294444"/>
            <a:ext cx="15450652" cy="747897"/>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Step10</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5" name="圖片 4">
            <a:extLst>
              <a:ext uri="{FF2B5EF4-FFF2-40B4-BE49-F238E27FC236}">
                <a16:creationId xmlns:a16="http://schemas.microsoft.com/office/drawing/2014/main" id="{2F97493C-9C2C-41D0-ABA4-AD676F1D1B99}"/>
              </a:ext>
            </a:extLst>
          </p:cNvPr>
          <p:cNvPicPr>
            <a:picLocks noChangeAspect="1"/>
          </p:cNvPicPr>
          <p:nvPr/>
        </p:nvPicPr>
        <p:blipFill>
          <a:blip r:embed="rId8"/>
          <a:stretch>
            <a:fillRect/>
          </a:stretch>
        </p:blipFill>
        <p:spPr>
          <a:xfrm>
            <a:off x="10143031" y="1939674"/>
            <a:ext cx="7840169" cy="7983064"/>
          </a:xfrm>
          <a:prstGeom prst="rect">
            <a:avLst/>
          </a:prstGeom>
        </p:spPr>
      </p:pic>
      <p:pic>
        <p:nvPicPr>
          <p:cNvPr id="10" name="圖片 9">
            <a:extLst>
              <a:ext uri="{FF2B5EF4-FFF2-40B4-BE49-F238E27FC236}">
                <a16:creationId xmlns:a16="http://schemas.microsoft.com/office/drawing/2014/main" id="{4B96EBE1-1AE6-4719-9B83-3F4FDC6DE95D}"/>
              </a:ext>
            </a:extLst>
          </p:cNvPr>
          <p:cNvPicPr>
            <a:picLocks noChangeAspect="1"/>
          </p:cNvPicPr>
          <p:nvPr/>
        </p:nvPicPr>
        <p:blipFill>
          <a:blip r:embed="rId9"/>
          <a:stretch>
            <a:fillRect/>
          </a:stretch>
        </p:blipFill>
        <p:spPr>
          <a:xfrm>
            <a:off x="1814069" y="3264442"/>
            <a:ext cx="8052384" cy="5761190"/>
          </a:xfrm>
          <a:prstGeom prst="rect">
            <a:avLst/>
          </a:prstGeom>
        </p:spPr>
      </p:pic>
    </p:spTree>
    <p:extLst>
      <p:ext uri="{BB962C8B-B14F-4D97-AF65-F5344CB8AC3E}">
        <p14:creationId xmlns:p14="http://schemas.microsoft.com/office/powerpoint/2010/main" val="41828370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a:off x="0" y="9055266"/>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TextBox 30">
            <a:extLst>
              <a:ext uri="{FF2B5EF4-FFF2-40B4-BE49-F238E27FC236}">
                <a16:creationId xmlns:a16="http://schemas.microsoft.com/office/drawing/2014/main" id="{BB513DDA-8B91-4991-AF9E-1CE214D42601}"/>
              </a:ext>
            </a:extLst>
          </p:cNvPr>
          <p:cNvSpPr txBox="1"/>
          <p:nvPr/>
        </p:nvSpPr>
        <p:spPr>
          <a:xfrm>
            <a:off x="2227748" y="2294444"/>
            <a:ext cx="15450652" cy="747897"/>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Step11</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4" name="圖片 3">
            <a:extLst>
              <a:ext uri="{FF2B5EF4-FFF2-40B4-BE49-F238E27FC236}">
                <a16:creationId xmlns:a16="http://schemas.microsoft.com/office/drawing/2014/main" id="{ADC2DAB4-4E59-4897-8535-5B46FD9639C8}"/>
              </a:ext>
            </a:extLst>
          </p:cNvPr>
          <p:cNvPicPr>
            <a:picLocks noChangeAspect="1"/>
          </p:cNvPicPr>
          <p:nvPr/>
        </p:nvPicPr>
        <p:blipFill>
          <a:blip r:embed="rId8"/>
          <a:stretch>
            <a:fillRect/>
          </a:stretch>
        </p:blipFill>
        <p:spPr>
          <a:xfrm>
            <a:off x="8704555" y="2014629"/>
            <a:ext cx="9278645" cy="8106906"/>
          </a:xfrm>
          <a:prstGeom prst="rect">
            <a:avLst/>
          </a:prstGeom>
        </p:spPr>
      </p:pic>
      <p:pic>
        <p:nvPicPr>
          <p:cNvPr id="11" name="圖片 10">
            <a:extLst>
              <a:ext uri="{FF2B5EF4-FFF2-40B4-BE49-F238E27FC236}">
                <a16:creationId xmlns:a16="http://schemas.microsoft.com/office/drawing/2014/main" id="{834A4774-B3CB-48F6-A091-2394722F2936}"/>
              </a:ext>
            </a:extLst>
          </p:cNvPr>
          <p:cNvPicPr>
            <a:picLocks noChangeAspect="1"/>
          </p:cNvPicPr>
          <p:nvPr/>
        </p:nvPicPr>
        <p:blipFill>
          <a:blip r:embed="rId9"/>
          <a:stretch>
            <a:fillRect/>
          </a:stretch>
        </p:blipFill>
        <p:spPr>
          <a:xfrm>
            <a:off x="2743200" y="3298174"/>
            <a:ext cx="5400273" cy="6823361"/>
          </a:xfrm>
          <a:prstGeom prst="rect">
            <a:avLst/>
          </a:prstGeom>
        </p:spPr>
      </p:pic>
    </p:spTree>
    <p:extLst>
      <p:ext uri="{BB962C8B-B14F-4D97-AF65-F5344CB8AC3E}">
        <p14:creationId xmlns:p14="http://schemas.microsoft.com/office/powerpoint/2010/main" val="22212807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pic>
        <p:nvPicPr>
          <p:cNvPr id="4" name="圖片 3">
            <a:extLst>
              <a:ext uri="{FF2B5EF4-FFF2-40B4-BE49-F238E27FC236}">
                <a16:creationId xmlns:a16="http://schemas.microsoft.com/office/drawing/2014/main" id="{286D2985-0B34-4F3E-BC09-0438B3015E4A}"/>
              </a:ext>
            </a:extLst>
          </p:cNvPr>
          <p:cNvPicPr>
            <a:picLocks noChangeAspect="1"/>
          </p:cNvPicPr>
          <p:nvPr/>
        </p:nvPicPr>
        <p:blipFill>
          <a:blip r:embed="rId8"/>
          <a:stretch>
            <a:fillRect/>
          </a:stretch>
        </p:blipFill>
        <p:spPr>
          <a:xfrm>
            <a:off x="1656615" y="2973374"/>
            <a:ext cx="13918894" cy="6818326"/>
          </a:xfrm>
          <a:prstGeom prst="rect">
            <a:avLst/>
          </a:prstGeom>
        </p:spPr>
      </p:pic>
    </p:spTree>
    <p:extLst>
      <p:ext uri="{BB962C8B-B14F-4D97-AF65-F5344CB8AC3E}">
        <p14:creationId xmlns:p14="http://schemas.microsoft.com/office/powerpoint/2010/main" val="22904919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a:off x="485778" y="7436839"/>
            <a:ext cx="2004759" cy="2141005"/>
          </a:xfrm>
          <a:custGeom>
            <a:avLst/>
            <a:gdLst/>
            <a:ahLst/>
            <a:cxnLst/>
            <a:rect l="l" t="t" r="r" b="b"/>
            <a:pathLst>
              <a:path w="2004759" h="2141005">
                <a:moveTo>
                  <a:pt x="0" y="0"/>
                </a:moveTo>
                <a:lnTo>
                  <a:pt x="2004759" y="0"/>
                </a:lnTo>
                <a:lnTo>
                  <a:pt x="2004759" y="2141005"/>
                </a:lnTo>
                <a:lnTo>
                  <a:pt x="0" y="214100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2490537" y="7494055"/>
            <a:ext cx="1518167" cy="2141005"/>
          </a:xfrm>
          <a:custGeom>
            <a:avLst/>
            <a:gdLst/>
            <a:ahLst/>
            <a:cxnLst/>
            <a:rect l="l" t="t" r="r" b="b"/>
            <a:pathLst>
              <a:path w="1518167" h="2141005">
                <a:moveTo>
                  <a:pt x="0" y="0"/>
                </a:moveTo>
                <a:lnTo>
                  <a:pt x="1518167" y="0"/>
                </a:lnTo>
                <a:lnTo>
                  <a:pt x="1518167" y="2141005"/>
                </a:lnTo>
                <a:lnTo>
                  <a:pt x="0" y="214100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4094429" y="7599840"/>
            <a:ext cx="3027128" cy="2141005"/>
          </a:xfrm>
          <a:custGeom>
            <a:avLst/>
            <a:gdLst/>
            <a:ahLst/>
            <a:cxnLst/>
            <a:rect l="l" t="t" r="r" b="b"/>
            <a:pathLst>
              <a:path w="3027128" h="2141005">
                <a:moveTo>
                  <a:pt x="0" y="0"/>
                </a:moveTo>
                <a:lnTo>
                  <a:pt x="3027128" y="0"/>
                </a:lnTo>
                <a:lnTo>
                  <a:pt x="3027128" y="2141005"/>
                </a:lnTo>
                <a:lnTo>
                  <a:pt x="0" y="214100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a:off x="597782" y="5010150"/>
            <a:ext cx="1732268" cy="2141005"/>
          </a:xfrm>
          <a:custGeom>
            <a:avLst/>
            <a:gdLst/>
            <a:ahLst/>
            <a:cxnLst/>
            <a:rect l="l" t="t" r="r" b="b"/>
            <a:pathLst>
              <a:path w="1732268" h="2141005">
                <a:moveTo>
                  <a:pt x="0" y="0"/>
                </a:moveTo>
                <a:lnTo>
                  <a:pt x="1732267" y="0"/>
                </a:lnTo>
                <a:lnTo>
                  <a:pt x="1732267" y="2141005"/>
                </a:lnTo>
                <a:lnTo>
                  <a:pt x="0" y="214100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Freeform 7"/>
          <p:cNvSpPr/>
          <p:nvPr/>
        </p:nvSpPr>
        <p:spPr>
          <a:xfrm>
            <a:off x="628924" y="2869145"/>
            <a:ext cx="1701126" cy="2141005"/>
          </a:xfrm>
          <a:custGeom>
            <a:avLst/>
            <a:gdLst/>
            <a:ahLst/>
            <a:cxnLst/>
            <a:rect l="l" t="t" r="r" b="b"/>
            <a:pathLst>
              <a:path w="1701126" h="2141005">
                <a:moveTo>
                  <a:pt x="0" y="0"/>
                </a:moveTo>
                <a:lnTo>
                  <a:pt x="1701125" y="0"/>
                </a:lnTo>
                <a:lnTo>
                  <a:pt x="1701125" y="2141005"/>
                </a:lnTo>
                <a:lnTo>
                  <a:pt x="0" y="2141005"/>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8" name="Freeform 8"/>
          <p:cNvSpPr/>
          <p:nvPr/>
        </p:nvSpPr>
        <p:spPr>
          <a:xfrm>
            <a:off x="667851" y="380522"/>
            <a:ext cx="1662198" cy="2141005"/>
          </a:xfrm>
          <a:custGeom>
            <a:avLst/>
            <a:gdLst/>
            <a:ahLst/>
            <a:cxnLst/>
            <a:rect l="l" t="t" r="r" b="b"/>
            <a:pathLst>
              <a:path w="1662198" h="2141005">
                <a:moveTo>
                  <a:pt x="0" y="0"/>
                </a:moveTo>
                <a:lnTo>
                  <a:pt x="1662198" y="0"/>
                </a:lnTo>
                <a:lnTo>
                  <a:pt x="1662198" y="2141005"/>
                </a:lnTo>
                <a:lnTo>
                  <a:pt x="0" y="2141005"/>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9" name="Freeform 9"/>
          <p:cNvSpPr/>
          <p:nvPr/>
        </p:nvSpPr>
        <p:spPr>
          <a:xfrm>
            <a:off x="2606274" y="380522"/>
            <a:ext cx="2070936" cy="2141005"/>
          </a:xfrm>
          <a:custGeom>
            <a:avLst/>
            <a:gdLst/>
            <a:ahLst/>
            <a:cxnLst/>
            <a:rect l="l" t="t" r="r" b="b"/>
            <a:pathLst>
              <a:path w="2070936" h="2141005">
                <a:moveTo>
                  <a:pt x="0" y="0"/>
                </a:moveTo>
                <a:lnTo>
                  <a:pt x="2070936" y="0"/>
                </a:lnTo>
                <a:lnTo>
                  <a:pt x="2070936" y="2141005"/>
                </a:lnTo>
                <a:lnTo>
                  <a:pt x="0" y="2141005"/>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10" name="Freeform 10"/>
          <p:cNvSpPr/>
          <p:nvPr/>
        </p:nvSpPr>
        <p:spPr>
          <a:xfrm>
            <a:off x="4772460" y="380522"/>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11" name="Freeform 11"/>
          <p:cNvSpPr/>
          <p:nvPr/>
        </p:nvSpPr>
        <p:spPr>
          <a:xfrm>
            <a:off x="7132234" y="380522"/>
            <a:ext cx="2571076" cy="2141005"/>
          </a:xfrm>
          <a:custGeom>
            <a:avLst/>
            <a:gdLst/>
            <a:ahLst/>
            <a:cxnLst/>
            <a:rect l="l" t="t" r="r" b="b"/>
            <a:pathLst>
              <a:path w="2571076" h="2141005">
                <a:moveTo>
                  <a:pt x="0" y="0"/>
                </a:moveTo>
                <a:lnTo>
                  <a:pt x="2571076" y="0"/>
                </a:lnTo>
                <a:lnTo>
                  <a:pt x="2571076" y="2141005"/>
                </a:lnTo>
                <a:lnTo>
                  <a:pt x="0" y="2141005"/>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sp>
        <p:nvSpPr>
          <p:cNvPr id="12" name="Freeform 12"/>
          <p:cNvSpPr/>
          <p:nvPr/>
        </p:nvSpPr>
        <p:spPr>
          <a:xfrm>
            <a:off x="9802175" y="380522"/>
            <a:ext cx="1444205" cy="2141005"/>
          </a:xfrm>
          <a:custGeom>
            <a:avLst/>
            <a:gdLst/>
            <a:ahLst/>
            <a:cxnLst/>
            <a:rect l="l" t="t" r="r" b="b"/>
            <a:pathLst>
              <a:path w="1444205" h="2141005">
                <a:moveTo>
                  <a:pt x="0" y="0"/>
                </a:moveTo>
                <a:lnTo>
                  <a:pt x="1444205" y="0"/>
                </a:lnTo>
                <a:lnTo>
                  <a:pt x="1444205" y="2141005"/>
                </a:lnTo>
                <a:lnTo>
                  <a:pt x="0" y="2141005"/>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13" name="Freeform 13"/>
          <p:cNvSpPr/>
          <p:nvPr/>
        </p:nvSpPr>
        <p:spPr>
          <a:xfrm>
            <a:off x="11588001" y="380522"/>
            <a:ext cx="1467562" cy="2141005"/>
          </a:xfrm>
          <a:custGeom>
            <a:avLst/>
            <a:gdLst/>
            <a:ahLst/>
            <a:cxnLst/>
            <a:rect l="l" t="t" r="r" b="b"/>
            <a:pathLst>
              <a:path w="1467562" h="2141005">
                <a:moveTo>
                  <a:pt x="0" y="0"/>
                </a:moveTo>
                <a:lnTo>
                  <a:pt x="1467561" y="0"/>
                </a:lnTo>
                <a:lnTo>
                  <a:pt x="1467561" y="2141005"/>
                </a:lnTo>
                <a:lnTo>
                  <a:pt x="0" y="2141005"/>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sp>
      <p:sp>
        <p:nvSpPr>
          <p:cNvPr id="14" name="Freeform 14"/>
          <p:cNvSpPr/>
          <p:nvPr/>
        </p:nvSpPr>
        <p:spPr>
          <a:xfrm>
            <a:off x="13331787" y="380522"/>
            <a:ext cx="1876299" cy="2141005"/>
          </a:xfrm>
          <a:custGeom>
            <a:avLst/>
            <a:gdLst/>
            <a:ahLst/>
            <a:cxnLst/>
            <a:rect l="l" t="t" r="r" b="b"/>
            <a:pathLst>
              <a:path w="1876299" h="2141005">
                <a:moveTo>
                  <a:pt x="0" y="0"/>
                </a:moveTo>
                <a:lnTo>
                  <a:pt x="1876299" y="0"/>
                </a:lnTo>
                <a:lnTo>
                  <a:pt x="1876299" y="2141005"/>
                </a:lnTo>
                <a:lnTo>
                  <a:pt x="0" y="2141005"/>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sp>
      <p:sp>
        <p:nvSpPr>
          <p:cNvPr id="15" name="Freeform 15"/>
          <p:cNvSpPr/>
          <p:nvPr/>
        </p:nvSpPr>
        <p:spPr>
          <a:xfrm>
            <a:off x="15488437" y="380522"/>
            <a:ext cx="2393400" cy="2141005"/>
          </a:xfrm>
          <a:custGeom>
            <a:avLst/>
            <a:gdLst/>
            <a:ahLst/>
            <a:cxnLst/>
            <a:rect l="l" t="t" r="r" b="b"/>
            <a:pathLst>
              <a:path w="2393400" h="2141005">
                <a:moveTo>
                  <a:pt x="0" y="0"/>
                </a:moveTo>
                <a:lnTo>
                  <a:pt x="2393400" y="0"/>
                </a:lnTo>
                <a:lnTo>
                  <a:pt x="2393400" y="2141005"/>
                </a:lnTo>
                <a:lnTo>
                  <a:pt x="0" y="2141005"/>
                </a:lnTo>
                <a:lnTo>
                  <a:pt x="0" y="0"/>
                </a:lnTo>
                <a:close/>
              </a:path>
            </a:pathLst>
          </a:custGeom>
          <a:blipFill>
            <a:blip r:embed="rId27">
              <a:extLst>
                <a:ext uri="{96DAC541-7B7A-43D3-8B79-37D633B846F1}">
                  <asvg:svgBlip xmlns:asvg="http://schemas.microsoft.com/office/drawing/2016/SVG/main" r:embed="rId28"/>
                </a:ext>
              </a:extLst>
            </a:blip>
            <a:stretch>
              <a:fillRect/>
            </a:stretch>
          </a:blipFill>
        </p:spPr>
      </p:sp>
      <p:sp>
        <p:nvSpPr>
          <p:cNvPr id="16" name="Freeform 16"/>
          <p:cNvSpPr/>
          <p:nvPr/>
        </p:nvSpPr>
        <p:spPr>
          <a:xfrm>
            <a:off x="15622420" y="2750127"/>
            <a:ext cx="2047579" cy="2141005"/>
          </a:xfrm>
          <a:custGeom>
            <a:avLst/>
            <a:gdLst/>
            <a:ahLst/>
            <a:cxnLst/>
            <a:rect l="l" t="t" r="r" b="b"/>
            <a:pathLst>
              <a:path w="2047579" h="2141005">
                <a:moveTo>
                  <a:pt x="0" y="0"/>
                </a:moveTo>
                <a:lnTo>
                  <a:pt x="2047579" y="0"/>
                </a:lnTo>
                <a:lnTo>
                  <a:pt x="2047579" y="2141005"/>
                </a:lnTo>
                <a:lnTo>
                  <a:pt x="0" y="2141005"/>
                </a:lnTo>
                <a:lnTo>
                  <a:pt x="0" y="0"/>
                </a:lnTo>
                <a:close/>
              </a:path>
            </a:pathLst>
          </a:custGeom>
          <a:blipFill>
            <a:blip r:embed="rId29">
              <a:extLst>
                <a:ext uri="{96DAC541-7B7A-43D3-8B79-37D633B846F1}">
                  <asvg:svgBlip xmlns:asvg="http://schemas.microsoft.com/office/drawing/2016/SVG/main" r:embed="rId30"/>
                </a:ext>
              </a:extLst>
            </a:blip>
            <a:stretch>
              <a:fillRect/>
            </a:stretch>
          </a:blipFill>
        </p:spPr>
      </p:sp>
      <p:sp>
        <p:nvSpPr>
          <p:cNvPr id="17" name="Freeform 17"/>
          <p:cNvSpPr/>
          <p:nvPr/>
        </p:nvSpPr>
        <p:spPr>
          <a:xfrm>
            <a:off x="15622420" y="5295835"/>
            <a:ext cx="2125434" cy="2141005"/>
          </a:xfrm>
          <a:custGeom>
            <a:avLst/>
            <a:gdLst/>
            <a:ahLst/>
            <a:cxnLst/>
            <a:rect l="l" t="t" r="r" b="b"/>
            <a:pathLst>
              <a:path w="2125434" h="2141005">
                <a:moveTo>
                  <a:pt x="0" y="0"/>
                </a:moveTo>
                <a:lnTo>
                  <a:pt x="2125434" y="0"/>
                </a:lnTo>
                <a:lnTo>
                  <a:pt x="2125434" y="2141004"/>
                </a:lnTo>
                <a:lnTo>
                  <a:pt x="0" y="2141004"/>
                </a:lnTo>
                <a:lnTo>
                  <a:pt x="0" y="0"/>
                </a:lnTo>
                <a:close/>
              </a:path>
            </a:pathLst>
          </a:custGeom>
          <a:blipFill>
            <a:blip r:embed="rId31">
              <a:extLst>
                <a:ext uri="{96DAC541-7B7A-43D3-8B79-37D633B846F1}">
                  <asvg:svgBlip xmlns:asvg="http://schemas.microsoft.com/office/drawing/2016/SVG/main" r:embed="rId32"/>
                </a:ext>
              </a:extLst>
            </a:blip>
            <a:stretch>
              <a:fillRect/>
            </a:stretch>
          </a:blipFill>
        </p:spPr>
      </p:sp>
      <p:sp>
        <p:nvSpPr>
          <p:cNvPr id="18" name="Freeform 18"/>
          <p:cNvSpPr/>
          <p:nvPr/>
        </p:nvSpPr>
        <p:spPr>
          <a:xfrm>
            <a:off x="7227484" y="7599840"/>
            <a:ext cx="1782873" cy="2141005"/>
          </a:xfrm>
          <a:custGeom>
            <a:avLst/>
            <a:gdLst/>
            <a:ahLst/>
            <a:cxnLst/>
            <a:rect l="l" t="t" r="r" b="b"/>
            <a:pathLst>
              <a:path w="1782873" h="2141005">
                <a:moveTo>
                  <a:pt x="0" y="0"/>
                </a:moveTo>
                <a:lnTo>
                  <a:pt x="1782874" y="0"/>
                </a:lnTo>
                <a:lnTo>
                  <a:pt x="1782874" y="2141005"/>
                </a:lnTo>
                <a:lnTo>
                  <a:pt x="0" y="2141005"/>
                </a:lnTo>
                <a:lnTo>
                  <a:pt x="0" y="0"/>
                </a:lnTo>
                <a:close/>
              </a:path>
            </a:pathLst>
          </a:custGeom>
          <a:blipFill>
            <a:blip r:embed="rId33">
              <a:extLst>
                <a:ext uri="{96DAC541-7B7A-43D3-8B79-37D633B846F1}">
                  <asvg:svgBlip xmlns:asvg="http://schemas.microsoft.com/office/drawing/2016/SVG/main" r:embed="rId34"/>
                </a:ext>
              </a:extLst>
            </a:blip>
            <a:stretch>
              <a:fillRect/>
            </a:stretch>
          </a:blipFill>
        </p:spPr>
      </p:sp>
      <p:sp>
        <p:nvSpPr>
          <p:cNvPr id="19" name="Freeform 19"/>
          <p:cNvSpPr/>
          <p:nvPr/>
        </p:nvSpPr>
        <p:spPr>
          <a:xfrm>
            <a:off x="9091040" y="7599840"/>
            <a:ext cx="2188760" cy="2141005"/>
          </a:xfrm>
          <a:custGeom>
            <a:avLst/>
            <a:gdLst/>
            <a:ahLst/>
            <a:cxnLst/>
            <a:rect l="l" t="t" r="r" b="b"/>
            <a:pathLst>
              <a:path w="2188760" h="2141005">
                <a:moveTo>
                  <a:pt x="0" y="0"/>
                </a:moveTo>
                <a:lnTo>
                  <a:pt x="2188760" y="0"/>
                </a:lnTo>
                <a:lnTo>
                  <a:pt x="2188760" y="2141005"/>
                </a:lnTo>
                <a:lnTo>
                  <a:pt x="0" y="2141005"/>
                </a:lnTo>
                <a:lnTo>
                  <a:pt x="0" y="0"/>
                </a:lnTo>
                <a:close/>
              </a:path>
            </a:pathLst>
          </a:custGeom>
          <a:blipFill>
            <a:blip r:embed="rId35">
              <a:extLst>
                <a:ext uri="{96DAC541-7B7A-43D3-8B79-37D633B846F1}">
                  <asvg:svgBlip xmlns:asvg="http://schemas.microsoft.com/office/drawing/2016/SVG/main" r:embed="rId36"/>
                </a:ext>
              </a:extLst>
            </a:blip>
            <a:stretch>
              <a:fillRect/>
            </a:stretch>
          </a:blipFill>
        </p:spPr>
      </p:sp>
      <p:sp>
        <p:nvSpPr>
          <p:cNvPr id="20" name="Freeform 20"/>
          <p:cNvSpPr/>
          <p:nvPr/>
        </p:nvSpPr>
        <p:spPr>
          <a:xfrm>
            <a:off x="11321106" y="7599840"/>
            <a:ext cx="2141005" cy="2141005"/>
          </a:xfrm>
          <a:custGeom>
            <a:avLst/>
            <a:gdLst/>
            <a:ahLst/>
            <a:cxnLst/>
            <a:rect l="l" t="t" r="r" b="b"/>
            <a:pathLst>
              <a:path w="2141005" h="2141005">
                <a:moveTo>
                  <a:pt x="0" y="0"/>
                </a:moveTo>
                <a:lnTo>
                  <a:pt x="2141005" y="0"/>
                </a:lnTo>
                <a:lnTo>
                  <a:pt x="2141005" y="2141005"/>
                </a:lnTo>
                <a:lnTo>
                  <a:pt x="0" y="2141005"/>
                </a:lnTo>
                <a:lnTo>
                  <a:pt x="0" y="0"/>
                </a:lnTo>
                <a:close/>
              </a:path>
            </a:pathLst>
          </a:custGeom>
          <a:blipFill>
            <a:blip r:embed="rId37">
              <a:extLst>
                <a:ext uri="{96DAC541-7B7A-43D3-8B79-37D633B846F1}">
                  <asvg:svgBlip xmlns:asvg="http://schemas.microsoft.com/office/drawing/2016/SVG/main" r:embed="rId38"/>
                </a:ext>
              </a:extLst>
            </a:blip>
            <a:stretch>
              <a:fillRect/>
            </a:stretch>
          </a:blipFill>
        </p:spPr>
      </p:sp>
      <p:sp>
        <p:nvSpPr>
          <p:cNvPr id="21" name="Freeform 21"/>
          <p:cNvSpPr/>
          <p:nvPr/>
        </p:nvSpPr>
        <p:spPr>
          <a:xfrm>
            <a:off x="13452698" y="7669745"/>
            <a:ext cx="2413018" cy="2141005"/>
          </a:xfrm>
          <a:custGeom>
            <a:avLst/>
            <a:gdLst/>
            <a:ahLst/>
            <a:cxnLst/>
            <a:rect l="l" t="t" r="r" b="b"/>
            <a:pathLst>
              <a:path w="2413018" h="2141005">
                <a:moveTo>
                  <a:pt x="0" y="0"/>
                </a:moveTo>
                <a:lnTo>
                  <a:pt x="2413018" y="0"/>
                </a:lnTo>
                <a:lnTo>
                  <a:pt x="2413018" y="2141005"/>
                </a:lnTo>
                <a:lnTo>
                  <a:pt x="0" y="2141005"/>
                </a:lnTo>
                <a:lnTo>
                  <a:pt x="0" y="0"/>
                </a:lnTo>
                <a:close/>
              </a:path>
            </a:pathLst>
          </a:custGeom>
          <a:blipFill>
            <a:blip r:embed="rId39">
              <a:extLst>
                <a:ext uri="{96DAC541-7B7A-43D3-8B79-37D633B846F1}">
                  <asvg:svgBlip xmlns:asvg="http://schemas.microsoft.com/office/drawing/2016/SVG/main" r:embed="rId40"/>
                </a:ext>
              </a:extLst>
            </a:blip>
            <a:stretch>
              <a:fillRect/>
            </a:stretch>
          </a:blipFill>
        </p:spPr>
      </p:sp>
      <p:sp>
        <p:nvSpPr>
          <p:cNvPr id="22" name="Freeform 22"/>
          <p:cNvSpPr/>
          <p:nvPr/>
        </p:nvSpPr>
        <p:spPr>
          <a:xfrm>
            <a:off x="15865716" y="7599840"/>
            <a:ext cx="1638842" cy="2141005"/>
          </a:xfrm>
          <a:custGeom>
            <a:avLst/>
            <a:gdLst/>
            <a:ahLst/>
            <a:cxnLst/>
            <a:rect l="l" t="t" r="r" b="b"/>
            <a:pathLst>
              <a:path w="1638842" h="2141005">
                <a:moveTo>
                  <a:pt x="0" y="0"/>
                </a:moveTo>
                <a:lnTo>
                  <a:pt x="1638842" y="0"/>
                </a:lnTo>
                <a:lnTo>
                  <a:pt x="1638842" y="2141005"/>
                </a:lnTo>
                <a:lnTo>
                  <a:pt x="0" y="2141005"/>
                </a:lnTo>
                <a:lnTo>
                  <a:pt x="0" y="0"/>
                </a:lnTo>
                <a:close/>
              </a:path>
            </a:pathLst>
          </a:custGeom>
          <a:blipFill>
            <a:blip r:embed="rId41">
              <a:extLst>
                <a:ext uri="{96DAC541-7B7A-43D3-8B79-37D633B846F1}">
                  <asvg:svgBlip xmlns:asvg="http://schemas.microsoft.com/office/drawing/2016/SVG/main" r:embed="rId42"/>
                </a:ext>
              </a:extLst>
            </a:blip>
            <a:stretch>
              <a:fillRect/>
            </a:stretch>
          </a:blipFill>
        </p:spPr>
      </p:sp>
      <p:sp>
        <p:nvSpPr>
          <p:cNvPr id="23" name="TextBox 23"/>
          <p:cNvSpPr txBox="1"/>
          <p:nvPr/>
        </p:nvSpPr>
        <p:spPr>
          <a:xfrm>
            <a:off x="3411885" y="3296841"/>
            <a:ext cx="11464230" cy="3693319"/>
          </a:xfrm>
          <a:prstGeom prst="rect">
            <a:avLst/>
          </a:prstGeom>
        </p:spPr>
        <p:txBody>
          <a:bodyPr lIns="0" tIns="0" rIns="0" bIns="0" rtlCol="0" anchor="t">
            <a:spAutoFit/>
          </a:bodyPr>
          <a:lstStyle/>
          <a:p>
            <a:pPr algn="ctr"/>
            <a:r>
              <a:rPr lang="en-US" sz="12000" spc="-672" dirty="0">
                <a:solidFill>
                  <a:srgbClr val="F1A988"/>
                </a:solidFill>
                <a:latin typeface="Lazydog"/>
                <a:ea typeface="Lazydog"/>
                <a:cs typeface="Lazydog"/>
                <a:sym typeface="Lazydog"/>
              </a:rPr>
              <a:t>D</a:t>
            </a:r>
            <a:r>
              <a:rPr lang="en-US" sz="12000" spc="-672" dirty="0">
                <a:solidFill>
                  <a:srgbClr val="5B1C14"/>
                </a:solidFill>
                <a:latin typeface="Lazydog"/>
                <a:ea typeface="Lazydog"/>
                <a:cs typeface="Lazydog"/>
                <a:sym typeface="Lazydog"/>
              </a:rPr>
              <a:t>o</a:t>
            </a:r>
            <a:r>
              <a:rPr lang="en-US" sz="12000" spc="-672" dirty="0">
                <a:solidFill>
                  <a:srgbClr val="8E2423"/>
                </a:solidFill>
                <a:latin typeface="Lazydog"/>
                <a:ea typeface="Lazydog"/>
                <a:cs typeface="Lazydog"/>
                <a:sym typeface="Lazydog"/>
              </a:rPr>
              <a:t>e</a:t>
            </a:r>
            <a:r>
              <a:rPr lang="en-US" sz="12000" spc="-672" dirty="0">
                <a:solidFill>
                  <a:srgbClr val="338168"/>
                </a:solidFill>
                <a:latin typeface="Lazydog"/>
                <a:ea typeface="Lazydog"/>
                <a:cs typeface="Lazydog"/>
                <a:sym typeface="Lazydog"/>
              </a:rPr>
              <a:t>s</a:t>
            </a:r>
            <a:r>
              <a:rPr lang="en-US" sz="12000" spc="-672" dirty="0">
                <a:solidFill>
                  <a:srgbClr val="F1A988"/>
                </a:solidFill>
                <a:latin typeface="Lazydog"/>
                <a:ea typeface="Lazydog"/>
                <a:cs typeface="Lazydog"/>
                <a:sym typeface="Lazydog"/>
              </a:rPr>
              <a:t> </a:t>
            </a:r>
            <a:r>
              <a:rPr lang="en-US" sz="12000" spc="-672" dirty="0">
                <a:solidFill>
                  <a:srgbClr val="2DBCB7"/>
                </a:solidFill>
                <a:latin typeface="Lazydog"/>
                <a:ea typeface="Lazydog"/>
                <a:cs typeface="Lazydog"/>
                <a:sym typeface="Lazydog"/>
              </a:rPr>
              <a:t>a</a:t>
            </a:r>
            <a:r>
              <a:rPr lang="en-US" sz="12000" spc="-672" dirty="0">
                <a:solidFill>
                  <a:srgbClr val="1D949A"/>
                </a:solidFill>
                <a:latin typeface="Lazydog"/>
                <a:ea typeface="Lazydog"/>
                <a:cs typeface="Lazydog"/>
                <a:sym typeface="Lazydog"/>
              </a:rPr>
              <a:t>n</a:t>
            </a:r>
            <a:r>
              <a:rPr lang="en-US" sz="12000" spc="-672" dirty="0">
                <a:solidFill>
                  <a:srgbClr val="029316"/>
                </a:solidFill>
                <a:latin typeface="Lazydog"/>
                <a:ea typeface="Lazydog"/>
                <a:cs typeface="Lazydog"/>
                <a:sym typeface="Lazydog"/>
              </a:rPr>
              <a:t>y</a:t>
            </a:r>
            <a:r>
              <a:rPr lang="en-US" sz="12000" spc="-672" dirty="0">
                <a:solidFill>
                  <a:srgbClr val="64331F"/>
                </a:solidFill>
                <a:latin typeface="Lazydog"/>
                <a:ea typeface="Lazydog"/>
                <a:cs typeface="Lazydog"/>
                <a:sym typeface="Lazydog"/>
              </a:rPr>
              <a:t>o</a:t>
            </a:r>
            <a:r>
              <a:rPr lang="en-US" sz="12000" spc="-672" dirty="0">
                <a:solidFill>
                  <a:srgbClr val="B26628"/>
                </a:solidFill>
                <a:latin typeface="Lazydog"/>
                <a:ea typeface="Lazydog"/>
                <a:cs typeface="Lazydog"/>
                <a:sym typeface="Lazydog"/>
              </a:rPr>
              <a:t>n</a:t>
            </a:r>
            <a:r>
              <a:rPr lang="en-US" sz="12000" spc="-672" dirty="0">
                <a:solidFill>
                  <a:srgbClr val="C13E27"/>
                </a:solidFill>
                <a:latin typeface="Lazydog"/>
                <a:ea typeface="Lazydog"/>
                <a:cs typeface="Lazydog"/>
                <a:sym typeface="Lazydog"/>
              </a:rPr>
              <a:t>e</a:t>
            </a:r>
          </a:p>
          <a:p>
            <a:pPr marL="0" lvl="0" indent="0" algn="ctr"/>
            <a:r>
              <a:rPr lang="en-US" sz="12000" spc="-672" dirty="0">
                <a:solidFill>
                  <a:srgbClr val="AE6428"/>
                </a:solidFill>
                <a:latin typeface="Lazydog"/>
                <a:ea typeface="Lazydog"/>
                <a:cs typeface="Lazydog"/>
                <a:sym typeface="Lazydog"/>
              </a:rPr>
              <a:t>h</a:t>
            </a:r>
            <a:r>
              <a:rPr lang="en-US" sz="12000" spc="-672" dirty="0">
                <a:solidFill>
                  <a:srgbClr val="A42B2B"/>
                </a:solidFill>
                <a:latin typeface="Lazydog"/>
                <a:ea typeface="Lazydog"/>
                <a:cs typeface="Lazydog"/>
                <a:sym typeface="Lazydog"/>
              </a:rPr>
              <a:t>a</a:t>
            </a:r>
            <a:r>
              <a:rPr lang="en-US" sz="12000" spc="-672" dirty="0">
                <a:solidFill>
                  <a:srgbClr val="556458"/>
                </a:solidFill>
                <a:latin typeface="Lazydog"/>
                <a:ea typeface="Lazydog"/>
                <a:cs typeface="Lazydog"/>
                <a:sym typeface="Lazydog"/>
              </a:rPr>
              <a:t>v</a:t>
            </a:r>
            <a:r>
              <a:rPr lang="en-US" sz="12000" spc="-672" dirty="0">
                <a:solidFill>
                  <a:srgbClr val="338168"/>
                </a:solidFill>
                <a:latin typeface="Lazydog"/>
                <a:ea typeface="Lazydog"/>
                <a:cs typeface="Lazydog"/>
                <a:sym typeface="Lazydog"/>
              </a:rPr>
              <a:t>e</a:t>
            </a:r>
            <a:r>
              <a:rPr lang="en-US" sz="12000" spc="-672" dirty="0">
                <a:solidFill>
                  <a:srgbClr val="F1A988"/>
                </a:solidFill>
                <a:latin typeface="Lazydog"/>
                <a:ea typeface="Lazydog"/>
                <a:cs typeface="Lazydog"/>
                <a:sym typeface="Lazydog"/>
              </a:rPr>
              <a:t> </a:t>
            </a:r>
            <a:r>
              <a:rPr lang="en-US" sz="12000" spc="-672" dirty="0">
                <a:solidFill>
                  <a:srgbClr val="266753"/>
                </a:solidFill>
                <a:latin typeface="Lazydog"/>
                <a:ea typeface="Lazydog"/>
                <a:cs typeface="Lazydog"/>
                <a:sym typeface="Lazydog"/>
              </a:rPr>
              <a:t>q</a:t>
            </a:r>
            <a:r>
              <a:rPr lang="en-US" sz="12000" spc="-672" dirty="0">
                <a:solidFill>
                  <a:srgbClr val="009200"/>
                </a:solidFill>
                <a:latin typeface="Lazydog"/>
                <a:ea typeface="Lazydog"/>
                <a:cs typeface="Lazydog"/>
                <a:sym typeface="Lazydog"/>
              </a:rPr>
              <a:t>u</a:t>
            </a:r>
            <a:r>
              <a:rPr lang="en-US" sz="12000" spc="-672" dirty="0">
                <a:solidFill>
                  <a:srgbClr val="1D949A"/>
                </a:solidFill>
                <a:latin typeface="Lazydog"/>
                <a:ea typeface="Lazydog"/>
                <a:cs typeface="Lazydog"/>
                <a:sym typeface="Lazydog"/>
              </a:rPr>
              <a:t>e</a:t>
            </a:r>
            <a:r>
              <a:rPr lang="en-US" sz="12000" spc="-672" dirty="0">
                <a:solidFill>
                  <a:srgbClr val="2E1B5B"/>
                </a:solidFill>
                <a:latin typeface="Lazydog"/>
                <a:ea typeface="Lazydog"/>
                <a:cs typeface="Lazydog"/>
                <a:sym typeface="Lazydog"/>
              </a:rPr>
              <a:t>s</a:t>
            </a:r>
            <a:r>
              <a:rPr lang="en-US" sz="12000" spc="-672" dirty="0">
                <a:solidFill>
                  <a:srgbClr val="58585B"/>
                </a:solidFill>
                <a:latin typeface="Lazydog"/>
                <a:ea typeface="Lazydog"/>
                <a:cs typeface="Lazydog"/>
                <a:sym typeface="Lazydog"/>
              </a:rPr>
              <a:t>t</a:t>
            </a:r>
            <a:r>
              <a:rPr lang="en-US" sz="12000" spc="-672" dirty="0">
                <a:solidFill>
                  <a:srgbClr val="4E893F"/>
                </a:solidFill>
                <a:latin typeface="Lazydog"/>
                <a:ea typeface="Lazydog"/>
                <a:cs typeface="Lazydog"/>
                <a:sym typeface="Lazydog"/>
              </a:rPr>
              <a:t>i</a:t>
            </a:r>
            <a:r>
              <a:rPr lang="en-US" sz="12000" spc="-672" dirty="0">
                <a:solidFill>
                  <a:srgbClr val="76482E"/>
                </a:solidFill>
                <a:latin typeface="Lazydog"/>
                <a:ea typeface="Lazydog"/>
                <a:cs typeface="Lazydog"/>
                <a:sym typeface="Lazydog"/>
              </a:rPr>
              <a:t>o</a:t>
            </a:r>
            <a:r>
              <a:rPr lang="en-US" sz="12000" spc="-672" dirty="0">
                <a:solidFill>
                  <a:srgbClr val="5E1815"/>
                </a:solidFill>
                <a:latin typeface="Lazydog"/>
                <a:ea typeface="Lazydog"/>
                <a:cs typeface="Lazydog"/>
                <a:sym typeface="Lazydog"/>
              </a:rPr>
              <a:t>n</a:t>
            </a:r>
            <a:r>
              <a:rPr lang="en-US" sz="12000" spc="-672" dirty="0">
                <a:solidFill>
                  <a:srgbClr val="7DADC5"/>
                </a:solidFill>
                <a:latin typeface="Lazydog"/>
                <a:ea typeface="Lazydog"/>
                <a:cs typeface="Lazydog"/>
                <a:sym typeface="Lazydog"/>
              </a:rPr>
              <a:t>s</a:t>
            </a:r>
            <a:r>
              <a:rPr lang="en-US" sz="12000" spc="-672" dirty="0">
                <a:solidFill>
                  <a:srgbClr val="ACD03C"/>
                </a:solidFill>
                <a:latin typeface="Lazydog"/>
                <a:ea typeface="Lazydog"/>
                <a:cs typeface="Lazydog"/>
                <a:sym typeface="Lazydog"/>
              </a:rPr>
              <a:t>?</a:t>
            </a:r>
          </a:p>
        </p:txBody>
      </p:sp>
      <p:sp>
        <p:nvSpPr>
          <p:cNvPr id="24" name="Freeform 24"/>
          <p:cNvSpPr/>
          <p:nvPr/>
        </p:nvSpPr>
        <p:spPr>
          <a:xfrm rot="922608">
            <a:off x="4617859" y="329585"/>
            <a:ext cx="479131" cy="479131"/>
          </a:xfrm>
          <a:custGeom>
            <a:avLst/>
            <a:gdLst/>
            <a:ahLst/>
            <a:cxnLst/>
            <a:rect l="l" t="t" r="r" b="b"/>
            <a:pathLst>
              <a:path w="479131" h="479131">
                <a:moveTo>
                  <a:pt x="0" y="0"/>
                </a:moveTo>
                <a:lnTo>
                  <a:pt x="479131" y="0"/>
                </a:lnTo>
                <a:lnTo>
                  <a:pt x="479131" y="479132"/>
                </a:lnTo>
                <a:lnTo>
                  <a:pt x="0" y="479132"/>
                </a:lnTo>
                <a:lnTo>
                  <a:pt x="0" y="0"/>
                </a:lnTo>
                <a:close/>
              </a:path>
            </a:pathLst>
          </a:custGeom>
          <a:blipFill>
            <a:blip r:embed="rId43">
              <a:extLst>
                <a:ext uri="{96DAC541-7B7A-43D3-8B79-37D633B846F1}">
                  <asvg:svgBlip xmlns:asvg="http://schemas.microsoft.com/office/drawing/2016/SVG/main" r:embed="rId44"/>
                </a:ext>
              </a:extLst>
            </a:blip>
            <a:stretch>
              <a:fillRect/>
            </a:stretch>
          </a:blipFill>
          <a:ln cap="sq">
            <a:noFill/>
            <a:prstDash val="solid"/>
            <a:miter/>
          </a:ln>
        </p:spPr>
      </p:sp>
      <p:sp>
        <p:nvSpPr>
          <p:cNvPr id="25" name="Freeform 25"/>
          <p:cNvSpPr/>
          <p:nvPr/>
        </p:nvSpPr>
        <p:spPr>
          <a:xfrm rot="-737627">
            <a:off x="15530631" y="2567847"/>
            <a:ext cx="487589" cy="487589"/>
          </a:xfrm>
          <a:custGeom>
            <a:avLst/>
            <a:gdLst/>
            <a:ahLst/>
            <a:cxnLst/>
            <a:rect l="l" t="t" r="r" b="b"/>
            <a:pathLst>
              <a:path w="487589" h="487589">
                <a:moveTo>
                  <a:pt x="0" y="0"/>
                </a:moveTo>
                <a:lnTo>
                  <a:pt x="487588" y="0"/>
                </a:lnTo>
                <a:lnTo>
                  <a:pt x="487588" y="487588"/>
                </a:lnTo>
                <a:lnTo>
                  <a:pt x="0" y="487588"/>
                </a:lnTo>
                <a:lnTo>
                  <a:pt x="0" y="0"/>
                </a:lnTo>
                <a:close/>
              </a:path>
            </a:pathLst>
          </a:custGeom>
          <a:blipFill>
            <a:blip r:embed="rId45">
              <a:extLst>
                <a:ext uri="{96DAC541-7B7A-43D3-8B79-37D633B846F1}">
                  <asvg:svgBlip xmlns:asvg="http://schemas.microsoft.com/office/drawing/2016/SVG/main" r:embed="rId46"/>
                </a:ext>
              </a:extLst>
            </a:blip>
            <a:stretch>
              <a:fillRect/>
            </a:stretch>
          </a:blipFill>
          <a:ln cap="sq">
            <a:noFill/>
            <a:prstDash val="solid"/>
            <a:miter/>
          </a:ln>
        </p:spPr>
      </p:sp>
      <p:sp>
        <p:nvSpPr>
          <p:cNvPr id="26" name="Freeform 26"/>
          <p:cNvSpPr/>
          <p:nvPr/>
        </p:nvSpPr>
        <p:spPr>
          <a:xfrm rot="-911023">
            <a:off x="8658231" y="9416933"/>
            <a:ext cx="436253" cy="436253"/>
          </a:xfrm>
          <a:custGeom>
            <a:avLst/>
            <a:gdLst/>
            <a:ahLst/>
            <a:cxnLst/>
            <a:rect l="l" t="t" r="r" b="b"/>
            <a:pathLst>
              <a:path w="436253" h="436253">
                <a:moveTo>
                  <a:pt x="0" y="0"/>
                </a:moveTo>
                <a:lnTo>
                  <a:pt x="436253" y="0"/>
                </a:lnTo>
                <a:lnTo>
                  <a:pt x="436253" y="436253"/>
                </a:lnTo>
                <a:lnTo>
                  <a:pt x="0" y="436253"/>
                </a:lnTo>
                <a:lnTo>
                  <a:pt x="0" y="0"/>
                </a:lnTo>
                <a:close/>
              </a:path>
            </a:pathLst>
          </a:custGeom>
          <a:blipFill>
            <a:blip r:embed="rId47">
              <a:extLst>
                <a:ext uri="{96DAC541-7B7A-43D3-8B79-37D633B846F1}">
                  <asvg:svgBlip xmlns:asvg="http://schemas.microsoft.com/office/drawing/2016/SVG/main" r:embed="rId48"/>
                </a:ext>
              </a:extLst>
            </a:blip>
            <a:stretch>
              <a:fillRect/>
            </a:stretch>
          </a:blipFill>
          <a:ln cap="sq">
            <a:noFill/>
            <a:prstDash val="solid"/>
            <a:miter/>
          </a:ln>
        </p:spPr>
      </p:sp>
      <p:sp>
        <p:nvSpPr>
          <p:cNvPr id="27" name="Freeform 27"/>
          <p:cNvSpPr/>
          <p:nvPr/>
        </p:nvSpPr>
        <p:spPr>
          <a:xfrm>
            <a:off x="11403647" y="1964685"/>
            <a:ext cx="184354" cy="184354"/>
          </a:xfrm>
          <a:custGeom>
            <a:avLst/>
            <a:gdLst/>
            <a:ahLst/>
            <a:cxnLst/>
            <a:rect l="l" t="t" r="r" b="b"/>
            <a:pathLst>
              <a:path w="184354" h="184354">
                <a:moveTo>
                  <a:pt x="0" y="0"/>
                </a:moveTo>
                <a:lnTo>
                  <a:pt x="184354" y="0"/>
                </a:lnTo>
                <a:lnTo>
                  <a:pt x="184354" y="184354"/>
                </a:lnTo>
                <a:lnTo>
                  <a:pt x="0" y="184354"/>
                </a:lnTo>
                <a:lnTo>
                  <a:pt x="0" y="0"/>
                </a:lnTo>
                <a:close/>
              </a:path>
            </a:pathLst>
          </a:custGeom>
          <a:blipFill>
            <a:blip r:embed="rId49">
              <a:extLst>
                <a:ext uri="{96DAC541-7B7A-43D3-8B79-37D633B846F1}">
                  <asvg:svgBlip xmlns:asvg="http://schemas.microsoft.com/office/drawing/2016/SVG/main" r:embed="rId50"/>
                </a:ext>
              </a:extLst>
            </a:blip>
            <a:stretch>
              <a:fillRect/>
            </a:stretch>
          </a:blipFill>
          <a:ln cap="sq">
            <a:noFill/>
            <a:prstDash val="solid"/>
            <a:miter/>
          </a:ln>
        </p:spPr>
      </p:sp>
      <p:sp>
        <p:nvSpPr>
          <p:cNvPr id="28" name="Freeform 28"/>
          <p:cNvSpPr/>
          <p:nvPr/>
        </p:nvSpPr>
        <p:spPr>
          <a:xfrm>
            <a:off x="17655677" y="5001306"/>
            <a:ext cx="184354" cy="184354"/>
          </a:xfrm>
          <a:custGeom>
            <a:avLst/>
            <a:gdLst/>
            <a:ahLst/>
            <a:cxnLst/>
            <a:rect l="l" t="t" r="r" b="b"/>
            <a:pathLst>
              <a:path w="184354" h="184354">
                <a:moveTo>
                  <a:pt x="0" y="0"/>
                </a:moveTo>
                <a:lnTo>
                  <a:pt x="184354" y="0"/>
                </a:lnTo>
                <a:lnTo>
                  <a:pt x="184354" y="184354"/>
                </a:lnTo>
                <a:lnTo>
                  <a:pt x="0" y="184354"/>
                </a:lnTo>
                <a:lnTo>
                  <a:pt x="0" y="0"/>
                </a:lnTo>
                <a:close/>
              </a:path>
            </a:pathLst>
          </a:custGeom>
          <a:blipFill>
            <a:blip r:embed="rId51">
              <a:extLst>
                <a:ext uri="{96DAC541-7B7A-43D3-8B79-37D633B846F1}">
                  <asvg:svgBlip xmlns:asvg="http://schemas.microsoft.com/office/drawing/2016/SVG/main" r:embed="rId52"/>
                </a:ext>
              </a:extLst>
            </a:blip>
            <a:stretch>
              <a:fillRect/>
            </a:stretch>
          </a:blipFill>
          <a:ln cap="sq">
            <a:noFill/>
            <a:prstDash val="solid"/>
            <a:miter/>
          </a:ln>
        </p:spPr>
      </p:sp>
      <p:sp>
        <p:nvSpPr>
          <p:cNvPr id="29" name="Freeform 29"/>
          <p:cNvSpPr/>
          <p:nvPr/>
        </p:nvSpPr>
        <p:spPr>
          <a:xfrm>
            <a:off x="1877558" y="2603159"/>
            <a:ext cx="184354" cy="184354"/>
          </a:xfrm>
          <a:custGeom>
            <a:avLst/>
            <a:gdLst/>
            <a:ahLst/>
            <a:cxnLst/>
            <a:rect l="l" t="t" r="r" b="b"/>
            <a:pathLst>
              <a:path w="184354" h="184354">
                <a:moveTo>
                  <a:pt x="0" y="0"/>
                </a:moveTo>
                <a:lnTo>
                  <a:pt x="184353" y="0"/>
                </a:lnTo>
                <a:lnTo>
                  <a:pt x="184353" y="184354"/>
                </a:lnTo>
                <a:lnTo>
                  <a:pt x="0" y="184354"/>
                </a:lnTo>
                <a:lnTo>
                  <a:pt x="0" y="0"/>
                </a:lnTo>
                <a:close/>
              </a:path>
            </a:pathLst>
          </a:custGeom>
          <a:blipFill>
            <a:blip r:embed="rId53">
              <a:extLst>
                <a:ext uri="{96DAC541-7B7A-43D3-8B79-37D633B846F1}">
                  <asvg:svgBlip xmlns:asvg="http://schemas.microsoft.com/office/drawing/2016/SVG/main" r:embed="rId54"/>
                </a:ext>
              </a:extLst>
            </a:blip>
            <a:stretch>
              <a:fillRect/>
            </a:stretch>
          </a:blipFill>
          <a:ln cap="sq">
            <a:noFill/>
            <a:prstDash val="solid"/>
            <a:miter/>
          </a:ln>
        </p:spPr>
      </p:sp>
      <p:sp>
        <p:nvSpPr>
          <p:cNvPr id="30" name="Freeform 30"/>
          <p:cNvSpPr/>
          <p:nvPr/>
        </p:nvSpPr>
        <p:spPr>
          <a:xfrm>
            <a:off x="4211364" y="9258300"/>
            <a:ext cx="184354" cy="184354"/>
          </a:xfrm>
          <a:custGeom>
            <a:avLst/>
            <a:gdLst/>
            <a:ahLst/>
            <a:cxnLst/>
            <a:rect l="l" t="t" r="r" b="b"/>
            <a:pathLst>
              <a:path w="184354" h="184354">
                <a:moveTo>
                  <a:pt x="0" y="0"/>
                </a:moveTo>
                <a:lnTo>
                  <a:pt x="184354" y="0"/>
                </a:lnTo>
                <a:lnTo>
                  <a:pt x="184354" y="184354"/>
                </a:lnTo>
                <a:lnTo>
                  <a:pt x="0" y="184354"/>
                </a:lnTo>
                <a:lnTo>
                  <a:pt x="0" y="0"/>
                </a:lnTo>
                <a:close/>
              </a:path>
            </a:pathLst>
          </a:custGeom>
          <a:blipFill>
            <a:blip r:embed="rId55">
              <a:extLst>
                <a:ext uri="{96DAC541-7B7A-43D3-8B79-37D633B846F1}">
                  <asvg:svgBlip xmlns:asvg="http://schemas.microsoft.com/office/drawing/2016/SVG/main" r:embed="rId56"/>
                </a:ext>
              </a:extLst>
            </a:blip>
            <a:stretch>
              <a:fillRect/>
            </a:stretch>
          </a:blipFill>
          <a:ln cap="sq">
            <a:noFill/>
            <a:prstDash val="solid"/>
            <a:miter/>
          </a:ln>
        </p:spPr>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1" name="TextBox 31"/>
          <p:cNvSpPr txBox="1"/>
          <p:nvPr/>
        </p:nvSpPr>
        <p:spPr>
          <a:xfrm>
            <a:off x="2227748" y="909271"/>
            <a:ext cx="10040452" cy="1051570"/>
          </a:xfrm>
          <a:prstGeom prst="rect">
            <a:avLst/>
          </a:prstGeom>
        </p:spPr>
        <p:txBody>
          <a:bodyPr wrap="square" lIns="0" tIns="0" rIns="0" bIns="0" rtlCol="0" anchor="t">
            <a:spAutoFit/>
          </a:bodyPr>
          <a:lstStyle/>
          <a:p>
            <a:pPr>
              <a:lnSpc>
                <a:spcPts val="8157"/>
              </a:lnSpc>
              <a:spcBef>
                <a:spcPct val="0"/>
              </a:spcBef>
            </a:pPr>
            <a:r>
              <a:rPr lang="zh-TW" altLang="en-US" sz="7200" dirty="0">
                <a:solidFill>
                  <a:srgbClr val="3F2619"/>
                </a:solidFill>
                <a:latin typeface="Chiron GoRound TC ExtraBold" pitchFamily="2" charset="-120"/>
                <a:ea typeface="Chiron GoRound TC ExtraBold" pitchFamily="2" charset="-120"/>
              </a:rPr>
              <a:t>小試身手</a:t>
            </a: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11" name="TextBox 30">
            <a:extLst>
              <a:ext uri="{FF2B5EF4-FFF2-40B4-BE49-F238E27FC236}">
                <a16:creationId xmlns:a16="http://schemas.microsoft.com/office/drawing/2014/main" id="{98B939D4-A9F0-4573-A915-737C7A2E131A}"/>
              </a:ext>
            </a:extLst>
          </p:cNvPr>
          <p:cNvSpPr txBox="1"/>
          <p:nvPr/>
        </p:nvSpPr>
        <p:spPr>
          <a:xfrm>
            <a:off x="2227748" y="2294444"/>
            <a:ext cx="15450652" cy="5996450"/>
          </a:xfrm>
          <a:prstGeom prst="rect">
            <a:avLst/>
          </a:prstGeom>
        </p:spPr>
        <p:txBody>
          <a:bodyPr wrap="square" lIns="0" tIns="0" rIns="0" bIns="0" rtlCol="0" anchor="t">
            <a:spAutoFit/>
          </a:bodyPr>
          <a:lstStyle/>
          <a:p>
            <a:pPr marL="285750" indent="-285750" fontAlgn="base">
              <a:lnSpc>
                <a:spcPct val="150000"/>
              </a:lnSpc>
              <a:spcBef>
                <a:spcPct val="0"/>
              </a:spcBef>
              <a:spcAft>
                <a:spcPct val="0"/>
              </a:spcAft>
              <a:buFont typeface="Wingdings" panose="05000000000000000000" pitchFamily="2" charset="2"/>
              <a:buChar char="l"/>
            </a:pPr>
            <a:r>
              <a:rPr lang="zh-TW" altLang="en-US" sz="3600" dirty="0">
                <a:solidFill>
                  <a:srgbClr val="3F2619"/>
                </a:solidFill>
                <a:latin typeface="Noto Sans SC Medium" panose="020B0200000000000000" pitchFamily="34" charset="-128"/>
                <a:ea typeface="Noto Sans SC Medium" panose="020B0200000000000000" pitchFamily="34" charset="-128"/>
              </a:rPr>
              <a:t>題目：</a:t>
            </a:r>
            <a:r>
              <a:rPr lang="en-US" altLang="zh-TW" sz="3600" dirty="0">
                <a:solidFill>
                  <a:srgbClr val="3F2619"/>
                </a:solidFill>
                <a:latin typeface="Noto Sans SC Medium" panose="020B0200000000000000" pitchFamily="34" charset="-128"/>
                <a:ea typeface="Noto Sans SC Medium" panose="020B0200000000000000" pitchFamily="34" charset="-128"/>
              </a:rPr>
              <a:t> CIFAR-10</a:t>
            </a:r>
            <a:endParaRPr lang="zh-TW" altLang="en-US" sz="3600" dirty="0">
              <a:solidFill>
                <a:srgbClr val="3F2619"/>
              </a:solidFill>
              <a:latin typeface="Noto Sans SC Medium" panose="020B0200000000000000" pitchFamily="34" charset="-128"/>
              <a:ea typeface="Noto Sans SC Medium" panose="020B0200000000000000" pitchFamily="34" charset="-128"/>
            </a:endParaRPr>
          </a:p>
          <a:p>
            <a:pPr marL="742950" lvl="1" indent="-285750" fontAlgn="base">
              <a:lnSpc>
                <a:spcPct val="150000"/>
              </a:lnSpc>
              <a:spcBef>
                <a:spcPct val="0"/>
              </a:spcBef>
              <a:spcAft>
                <a:spcPct val="0"/>
              </a:spcAft>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特點：彩色圖像分類的經典資料集</a:t>
            </a:r>
          </a:p>
          <a:p>
            <a:pPr marL="742950" lvl="1" indent="-285750" fontAlgn="base">
              <a:lnSpc>
                <a:spcPct val="150000"/>
              </a:lnSpc>
              <a:spcBef>
                <a:spcPct val="0"/>
              </a:spcBef>
              <a:spcAft>
                <a:spcPct val="0"/>
              </a:spcAft>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圖像尺寸：</a:t>
            </a:r>
            <a:r>
              <a:rPr lang="en-US" altLang="zh-TW" sz="3200" dirty="0">
                <a:solidFill>
                  <a:srgbClr val="3F2619"/>
                </a:solidFill>
                <a:latin typeface="Noto Sans SC Medium" panose="020B0200000000000000" pitchFamily="34" charset="-128"/>
                <a:ea typeface="Noto Sans SC Medium" panose="020B0200000000000000" pitchFamily="34" charset="-128"/>
              </a:rPr>
              <a:t>32×32</a:t>
            </a:r>
            <a:r>
              <a:rPr lang="zh-TW" altLang="en-US" sz="3200" dirty="0">
                <a:solidFill>
                  <a:srgbClr val="3F2619"/>
                </a:solidFill>
                <a:latin typeface="Noto Sans SC Medium" panose="020B0200000000000000" pitchFamily="34" charset="-128"/>
                <a:ea typeface="Noto Sans SC Medium" panose="020B0200000000000000" pitchFamily="34" charset="-128"/>
              </a:rPr>
              <a:t>像素，</a:t>
            </a:r>
            <a:r>
              <a:rPr lang="en-US" altLang="zh-TW" sz="3200" dirty="0">
                <a:solidFill>
                  <a:srgbClr val="3F2619"/>
                </a:solidFill>
                <a:latin typeface="Noto Sans SC Medium" panose="020B0200000000000000" pitchFamily="34" charset="-128"/>
                <a:ea typeface="Noto Sans SC Medium" panose="020B0200000000000000" pitchFamily="34" charset="-128"/>
              </a:rPr>
              <a:t>RGB</a:t>
            </a:r>
            <a:r>
              <a:rPr lang="zh-TW" altLang="en-US" sz="3200" dirty="0">
                <a:solidFill>
                  <a:srgbClr val="3F2619"/>
                </a:solidFill>
                <a:latin typeface="Noto Sans SC Medium" panose="020B0200000000000000" pitchFamily="34" charset="-128"/>
                <a:ea typeface="Noto Sans SC Medium" panose="020B0200000000000000" pitchFamily="34" charset="-128"/>
              </a:rPr>
              <a:t>彩色圖像</a:t>
            </a:r>
          </a:p>
          <a:p>
            <a:pPr marL="742950" lvl="1" indent="-285750" fontAlgn="base">
              <a:lnSpc>
                <a:spcPct val="150000"/>
              </a:lnSpc>
              <a:spcBef>
                <a:spcPct val="0"/>
              </a:spcBef>
              <a:spcAft>
                <a:spcPct val="0"/>
              </a:spcAft>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類別數：</a:t>
            </a:r>
            <a:r>
              <a:rPr lang="en-US" altLang="zh-TW" sz="3200" dirty="0">
                <a:solidFill>
                  <a:srgbClr val="3F2619"/>
                </a:solidFill>
                <a:latin typeface="Noto Sans SC Medium" panose="020B0200000000000000" pitchFamily="34" charset="-128"/>
                <a:ea typeface="Noto Sans SC Medium" panose="020B0200000000000000" pitchFamily="34" charset="-128"/>
              </a:rPr>
              <a:t>10</a:t>
            </a:r>
            <a:r>
              <a:rPr lang="zh-TW" altLang="en-US" sz="3200" dirty="0">
                <a:solidFill>
                  <a:srgbClr val="3F2619"/>
                </a:solidFill>
                <a:latin typeface="Noto Sans SC Medium" panose="020B0200000000000000" pitchFamily="34" charset="-128"/>
                <a:ea typeface="Noto Sans SC Medium" panose="020B0200000000000000" pitchFamily="34" charset="-128"/>
              </a:rPr>
              <a:t>個（飛機、汽車、鳥、貓、鹿、狗、青蛙、馬、船、卡車）</a:t>
            </a:r>
          </a:p>
          <a:p>
            <a:pPr marL="742950" lvl="1" indent="-285750" fontAlgn="base">
              <a:lnSpc>
                <a:spcPct val="150000"/>
              </a:lnSpc>
              <a:spcBef>
                <a:spcPct val="0"/>
              </a:spcBef>
              <a:spcAft>
                <a:spcPct val="0"/>
              </a:spcAft>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資料量：</a:t>
            </a:r>
            <a:r>
              <a:rPr lang="en-US" altLang="zh-TW" sz="3200" dirty="0">
                <a:solidFill>
                  <a:srgbClr val="3F2619"/>
                </a:solidFill>
                <a:latin typeface="Noto Sans SC Medium" panose="020B0200000000000000" pitchFamily="34" charset="-128"/>
                <a:ea typeface="Noto Sans SC Medium" panose="020B0200000000000000" pitchFamily="34" charset="-128"/>
              </a:rPr>
              <a:t>50,000</a:t>
            </a:r>
            <a:r>
              <a:rPr lang="zh-TW" altLang="en-US" sz="3200" dirty="0">
                <a:solidFill>
                  <a:srgbClr val="3F2619"/>
                </a:solidFill>
                <a:latin typeface="Noto Sans SC Medium" panose="020B0200000000000000" pitchFamily="34" charset="-128"/>
                <a:ea typeface="Noto Sans SC Medium" panose="020B0200000000000000" pitchFamily="34" charset="-128"/>
              </a:rPr>
              <a:t>筆訓練資料，</a:t>
            </a:r>
            <a:r>
              <a:rPr lang="en-US" altLang="zh-TW" sz="3200" dirty="0">
                <a:solidFill>
                  <a:srgbClr val="3F2619"/>
                </a:solidFill>
                <a:latin typeface="Noto Sans SC Medium" panose="020B0200000000000000" pitchFamily="34" charset="-128"/>
                <a:ea typeface="Noto Sans SC Medium" panose="020B0200000000000000" pitchFamily="34" charset="-128"/>
              </a:rPr>
              <a:t>10,000</a:t>
            </a:r>
            <a:r>
              <a:rPr lang="zh-TW" altLang="en-US" sz="3200" dirty="0">
                <a:solidFill>
                  <a:srgbClr val="3F2619"/>
                </a:solidFill>
                <a:latin typeface="Noto Sans SC Medium" panose="020B0200000000000000" pitchFamily="34" charset="-128"/>
                <a:ea typeface="Noto Sans SC Medium" panose="020B0200000000000000" pitchFamily="34" charset="-128"/>
              </a:rPr>
              <a:t>筆測試資料</a:t>
            </a:r>
          </a:p>
          <a:p>
            <a:pPr marL="742950" lvl="1" indent="-285750" fontAlgn="base">
              <a:lnSpc>
                <a:spcPct val="150000"/>
              </a:lnSpc>
              <a:spcBef>
                <a:spcPct val="0"/>
              </a:spcBef>
              <a:spcAft>
                <a:spcPct val="0"/>
              </a:spcAft>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優點：從灰階到彩色的自然過渡，計算需求適中</a:t>
            </a:r>
          </a:p>
          <a:p>
            <a:pPr marL="742950" lvl="1" indent="-285750" fontAlgn="base">
              <a:lnSpc>
                <a:spcPct val="150000"/>
              </a:lnSpc>
              <a:spcBef>
                <a:spcPct val="0"/>
              </a:spcBef>
              <a:spcAft>
                <a:spcPct val="0"/>
              </a:spcAft>
              <a:buFont typeface="Wingdings" panose="05000000000000000000" pitchFamily="2" charset="2"/>
              <a:buChar char="l"/>
            </a:pPr>
            <a:r>
              <a:rPr lang="en-US" altLang="zh-TW" sz="3200" dirty="0" err="1">
                <a:solidFill>
                  <a:srgbClr val="3F2619"/>
                </a:solidFill>
                <a:latin typeface="Noto Sans SC Medium" panose="020B0200000000000000" pitchFamily="34" charset="-128"/>
                <a:ea typeface="Noto Sans SC Medium" panose="020B0200000000000000" pitchFamily="34" charset="-128"/>
              </a:rPr>
              <a:t>PyTorch</a:t>
            </a:r>
            <a:r>
              <a:rPr lang="zh-TW" altLang="en-US" sz="3200" dirty="0">
                <a:solidFill>
                  <a:srgbClr val="3F2619"/>
                </a:solidFill>
                <a:latin typeface="Noto Sans SC Medium" panose="020B0200000000000000" pitchFamily="34" charset="-128"/>
                <a:ea typeface="Noto Sans SC Medium" panose="020B0200000000000000" pitchFamily="34" charset="-128"/>
              </a:rPr>
              <a:t>載入：</a:t>
            </a:r>
            <a:r>
              <a:rPr lang="en-US" altLang="zh-TW" sz="3200" dirty="0">
                <a:solidFill>
                  <a:srgbClr val="3F2619"/>
                </a:solidFill>
                <a:latin typeface="Noto Sans SC Medium" panose="020B0200000000000000" pitchFamily="34" charset="-128"/>
                <a:ea typeface="Noto Sans SC Medium" panose="020B0200000000000000" pitchFamily="34" charset="-128"/>
              </a:rPr>
              <a:t>`torchvision.datasets.CIFAR10`</a:t>
            </a:r>
            <a:endParaRPr lang="zh-TW" altLang="en-US" sz="3200" dirty="0">
              <a:solidFill>
                <a:srgbClr val="3F2619"/>
              </a:solidFill>
              <a:latin typeface="Noto Sans SC Medium" panose="020B0200000000000000" pitchFamily="34" charset="-128"/>
              <a:ea typeface="Noto Sans SC Medium" panose="020B0200000000000000" pitchFamily="34" charset="-128"/>
            </a:endParaRPr>
          </a:p>
          <a:p>
            <a:pPr marL="285750" indent="-285750" fontAlgn="base">
              <a:lnSpc>
                <a:spcPct val="150000"/>
              </a:lnSpc>
              <a:spcBef>
                <a:spcPct val="0"/>
              </a:spcBef>
              <a:spcAft>
                <a:spcPct val="0"/>
              </a:spcAft>
              <a:buFont typeface="Wingdings" panose="05000000000000000000" pitchFamily="2" charset="2"/>
              <a:buChar char="l"/>
            </a:pPr>
            <a:endParaRPr lang="zh-TW" altLang="en-US" sz="3600" dirty="0">
              <a:solidFill>
                <a:srgbClr val="3F2619"/>
              </a:solidFill>
              <a:latin typeface="Noto Sans SC Medium" panose="020B0200000000000000" pitchFamily="34" charset="-128"/>
              <a:ea typeface="Noto Sans SC Medium" panose="020B0200000000000000" pitchFamily="34" charset="-128"/>
            </a:endParaRPr>
          </a:p>
        </p:txBody>
      </p:sp>
      <p:sp>
        <p:nvSpPr>
          <p:cNvPr id="7" name="Freeform 10">
            <a:extLst>
              <a:ext uri="{FF2B5EF4-FFF2-40B4-BE49-F238E27FC236}">
                <a16:creationId xmlns:a16="http://schemas.microsoft.com/office/drawing/2014/main" id="{EFE96425-31F4-4C25-A933-99173F08589D}"/>
              </a:ext>
            </a:extLst>
          </p:cNvPr>
          <p:cNvSpPr/>
          <p:nvPr/>
        </p:nvSpPr>
        <p:spPr>
          <a:xfrm>
            <a:off x="15888192" y="8968012"/>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Tree>
    <p:extLst>
      <p:ext uri="{BB962C8B-B14F-4D97-AF65-F5344CB8AC3E}">
        <p14:creationId xmlns:p14="http://schemas.microsoft.com/office/powerpoint/2010/main" val="3430508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1" name="TextBox 31"/>
          <p:cNvSpPr txBox="1"/>
          <p:nvPr/>
        </p:nvSpPr>
        <p:spPr>
          <a:xfrm>
            <a:off x="2227748" y="909271"/>
            <a:ext cx="10040452" cy="1051570"/>
          </a:xfrm>
          <a:prstGeom prst="rect">
            <a:avLst/>
          </a:prstGeom>
        </p:spPr>
        <p:txBody>
          <a:bodyPr wrap="square" lIns="0" tIns="0" rIns="0" bIns="0" rtlCol="0" anchor="t">
            <a:spAutoFit/>
          </a:bodyPr>
          <a:lstStyle/>
          <a:p>
            <a:pPr>
              <a:lnSpc>
                <a:spcPts val="8157"/>
              </a:lnSpc>
              <a:spcBef>
                <a:spcPct val="0"/>
              </a:spcBef>
            </a:pPr>
            <a:r>
              <a:rPr lang="zh-TW" altLang="en-US" sz="7200" dirty="0">
                <a:solidFill>
                  <a:srgbClr val="3F2619"/>
                </a:solidFill>
                <a:latin typeface="Chiron GoRound TC ExtraBold" pitchFamily="2" charset="-120"/>
                <a:ea typeface="Chiron GoRound TC ExtraBold" pitchFamily="2" charset="-120"/>
              </a:rPr>
              <a:t>小試身手</a:t>
            </a: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11" name="TextBox 30">
            <a:extLst>
              <a:ext uri="{FF2B5EF4-FFF2-40B4-BE49-F238E27FC236}">
                <a16:creationId xmlns:a16="http://schemas.microsoft.com/office/drawing/2014/main" id="{98B939D4-A9F0-4573-A915-737C7A2E131A}"/>
              </a:ext>
            </a:extLst>
          </p:cNvPr>
          <p:cNvSpPr txBox="1"/>
          <p:nvPr/>
        </p:nvSpPr>
        <p:spPr>
          <a:xfrm>
            <a:off x="2227748" y="2294444"/>
            <a:ext cx="15450652" cy="1564467"/>
          </a:xfrm>
          <a:prstGeom prst="rect">
            <a:avLst/>
          </a:prstGeom>
        </p:spPr>
        <p:txBody>
          <a:bodyPr wrap="square" lIns="0" tIns="0" rIns="0" bIns="0" rtlCol="0" anchor="t">
            <a:spAutoFit/>
          </a:bodyPr>
          <a:lstStyle/>
          <a:p>
            <a:pPr marL="285750" indent="-285750" fontAlgn="base">
              <a:lnSpc>
                <a:spcPct val="150000"/>
              </a:lnSpc>
              <a:spcBef>
                <a:spcPct val="0"/>
              </a:spcBef>
              <a:spcAft>
                <a:spcPct val="0"/>
              </a:spcAft>
              <a:buFont typeface="Wingdings" panose="05000000000000000000" pitchFamily="2" charset="2"/>
              <a:buChar char="l"/>
            </a:pPr>
            <a:r>
              <a:rPr lang="zh-TW" altLang="en-US" sz="3600" dirty="0">
                <a:solidFill>
                  <a:srgbClr val="3F2619"/>
                </a:solidFill>
                <a:latin typeface="Noto Sans SC Medium" panose="020B0200000000000000" pitchFamily="34" charset="-128"/>
                <a:ea typeface="Noto Sans SC Medium" panose="020B0200000000000000" pitchFamily="34" charset="-128"/>
              </a:rPr>
              <a:t>原圖：</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a:p>
            <a:pPr marL="285750" indent="-285750" fontAlgn="base">
              <a:lnSpc>
                <a:spcPct val="150000"/>
              </a:lnSpc>
              <a:spcBef>
                <a:spcPct val="0"/>
              </a:spcBef>
              <a:spcAft>
                <a:spcPct val="0"/>
              </a:spcAft>
              <a:buFont typeface="Wingdings" panose="05000000000000000000" pitchFamily="2" charset="2"/>
              <a:buChar char="l"/>
            </a:pPr>
            <a:endParaRPr lang="zh-TW" altLang="en-US" sz="3600" dirty="0">
              <a:solidFill>
                <a:srgbClr val="3F2619"/>
              </a:solidFill>
              <a:latin typeface="Noto Sans SC Medium" panose="020B0200000000000000" pitchFamily="34" charset="-128"/>
              <a:ea typeface="Noto Sans SC Medium" panose="020B0200000000000000" pitchFamily="34" charset="-128"/>
            </a:endParaRPr>
          </a:p>
        </p:txBody>
      </p:sp>
      <p:sp>
        <p:nvSpPr>
          <p:cNvPr id="7" name="Freeform 10">
            <a:extLst>
              <a:ext uri="{FF2B5EF4-FFF2-40B4-BE49-F238E27FC236}">
                <a16:creationId xmlns:a16="http://schemas.microsoft.com/office/drawing/2014/main" id="{EFE96425-31F4-4C25-A933-99173F08589D}"/>
              </a:ext>
            </a:extLst>
          </p:cNvPr>
          <p:cNvSpPr/>
          <p:nvPr/>
        </p:nvSpPr>
        <p:spPr>
          <a:xfrm>
            <a:off x="15888192" y="8968012"/>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pic>
        <p:nvPicPr>
          <p:cNvPr id="8" name="圖片 7">
            <a:extLst>
              <a:ext uri="{FF2B5EF4-FFF2-40B4-BE49-F238E27FC236}">
                <a16:creationId xmlns:a16="http://schemas.microsoft.com/office/drawing/2014/main" id="{ADBAFF04-45E6-47E2-B152-0FBABA624DE8}"/>
              </a:ext>
            </a:extLst>
          </p:cNvPr>
          <p:cNvPicPr>
            <a:picLocks noChangeAspect="1"/>
          </p:cNvPicPr>
          <p:nvPr/>
        </p:nvPicPr>
        <p:blipFill>
          <a:blip r:embed="rId7"/>
          <a:stretch>
            <a:fillRect/>
          </a:stretch>
        </p:blipFill>
        <p:spPr>
          <a:xfrm>
            <a:off x="3038615" y="3413937"/>
            <a:ext cx="12714293" cy="6301345"/>
          </a:xfrm>
          <a:prstGeom prst="rect">
            <a:avLst/>
          </a:prstGeom>
        </p:spPr>
      </p:pic>
    </p:spTree>
    <p:extLst>
      <p:ext uri="{BB962C8B-B14F-4D97-AF65-F5344CB8AC3E}">
        <p14:creationId xmlns:p14="http://schemas.microsoft.com/office/powerpoint/2010/main" val="1290143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1" name="TextBox 31"/>
          <p:cNvSpPr txBox="1"/>
          <p:nvPr/>
        </p:nvSpPr>
        <p:spPr>
          <a:xfrm>
            <a:off x="2227748" y="909271"/>
            <a:ext cx="10040452" cy="1051570"/>
          </a:xfrm>
          <a:prstGeom prst="rect">
            <a:avLst/>
          </a:prstGeom>
        </p:spPr>
        <p:txBody>
          <a:bodyPr wrap="square" lIns="0" tIns="0" rIns="0" bIns="0" rtlCol="0" anchor="t">
            <a:spAutoFit/>
          </a:bodyPr>
          <a:lstStyle/>
          <a:p>
            <a:pPr>
              <a:lnSpc>
                <a:spcPts val="8157"/>
              </a:lnSpc>
              <a:spcBef>
                <a:spcPct val="0"/>
              </a:spcBef>
            </a:pPr>
            <a:r>
              <a:rPr lang="zh-TW" altLang="en-US" sz="7200" dirty="0">
                <a:solidFill>
                  <a:srgbClr val="3F2619"/>
                </a:solidFill>
                <a:latin typeface="Chiron GoRound TC ExtraBold" pitchFamily="2" charset="-120"/>
                <a:ea typeface="Chiron GoRound TC ExtraBold" pitchFamily="2" charset="-120"/>
              </a:rPr>
              <a:t>小試身手</a:t>
            </a: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11" name="TextBox 30">
            <a:extLst>
              <a:ext uri="{FF2B5EF4-FFF2-40B4-BE49-F238E27FC236}">
                <a16:creationId xmlns:a16="http://schemas.microsoft.com/office/drawing/2014/main" id="{98B939D4-A9F0-4573-A915-737C7A2E131A}"/>
              </a:ext>
            </a:extLst>
          </p:cNvPr>
          <p:cNvSpPr txBox="1"/>
          <p:nvPr/>
        </p:nvSpPr>
        <p:spPr>
          <a:xfrm>
            <a:off x="2227748" y="2294444"/>
            <a:ext cx="15450652" cy="5996450"/>
          </a:xfrm>
          <a:prstGeom prst="rect">
            <a:avLst/>
          </a:prstGeom>
        </p:spPr>
        <p:txBody>
          <a:bodyPr wrap="square" lIns="0" tIns="0" rIns="0" bIns="0" rtlCol="0" anchor="t">
            <a:spAutoFit/>
          </a:bodyPr>
          <a:lstStyle/>
          <a:p>
            <a:pPr marL="285750" indent="-285750" fontAlgn="base">
              <a:lnSpc>
                <a:spcPct val="150000"/>
              </a:lnSpc>
              <a:spcBef>
                <a:spcPct val="0"/>
              </a:spcBef>
              <a:spcAft>
                <a:spcPct val="0"/>
              </a:spcAft>
              <a:buFont typeface="Wingdings" panose="05000000000000000000" pitchFamily="2" charset="2"/>
              <a:buChar char="l"/>
            </a:pPr>
            <a:r>
              <a:rPr lang="zh-TW" altLang="en-US" sz="3600" dirty="0">
                <a:solidFill>
                  <a:srgbClr val="3F2619"/>
                </a:solidFill>
                <a:latin typeface="Noto Sans SC Medium" panose="020B0200000000000000" pitchFamily="34" charset="-128"/>
                <a:ea typeface="Noto Sans SC Medium" panose="020B0200000000000000" pitchFamily="34" charset="-128"/>
              </a:rPr>
              <a:t>題目：</a:t>
            </a:r>
            <a:r>
              <a:rPr lang="en-US" altLang="zh-TW" sz="3600" dirty="0">
                <a:solidFill>
                  <a:srgbClr val="3F2619"/>
                </a:solidFill>
                <a:latin typeface="Noto Sans SC Medium" panose="020B0200000000000000" pitchFamily="34" charset="-128"/>
                <a:ea typeface="Noto Sans SC Medium" panose="020B0200000000000000" pitchFamily="34" charset="-128"/>
              </a:rPr>
              <a:t> Tiny ImageNet</a:t>
            </a:r>
            <a:endParaRPr lang="zh-TW" altLang="en-US" sz="3600" dirty="0">
              <a:solidFill>
                <a:srgbClr val="3F2619"/>
              </a:solidFill>
              <a:latin typeface="Noto Sans SC Medium" panose="020B0200000000000000" pitchFamily="34" charset="-128"/>
              <a:ea typeface="Noto Sans SC Medium" panose="020B0200000000000000" pitchFamily="34" charset="-128"/>
            </a:endParaRPr>
          </a:p>
          <a:p>
            <a:pPr marL="742950" lvl="1" indent="-285750" fontAlgn="base">
              <a:lnSpc>
                <a:spcPct val="150000"/>
              </a:lnSpc>
              <a:spcBef>
                <a:spcPct val="0"/>
              </a:spcBef>
              <a:spcAft>
                <a:spcPct val="0"/>
              </a:spcAft>
              <a:buFont typeface="Wingdings" panose="05000000000000000000" pitchFamily="2" charset="2"/>
              <a:buChar char="l"/>
            </a:pPr>
            <a:r>
              <a:rPr lang="zh-TW" altLang="zh-TW" sz="3200" dirty="0">
                <a:solidFill>
                  <a:srgbClr val="3F2619"/>
                </a:solidFill>
                <a:latin typeface="Noto Sans SC Medium" panose="020B0200000000000000" pitchFamily="34" charset="-128"/>
                <a:ea typeface="Noto Sans SC Medium" panose="020B0200000000000000" pitchFamily="34" charset="-128"/>
              </a:rPr>
              <a:t>規模適中：200 類、每類 500 張訓練圖、50 張驗證圖、50 張測試圖，總計 100k+ 圖片。</a:t>
            </a:r>
          </a:p>
          <a:p>
            <a:pPr marL="742950" marR="0" lvl="1" indent="-285750" fontAlgn="base">
              <a:lnSpc>
                <a:spcPct val="150000"/>
              </a:lnSpc>
              <a:spcBef>
                <a:spcPct val="0"/>
              </a:spcBef>
              <a:spcAft>
                <a:spcPct val="0"/>
              </a:spcAft>
              <a:buClrTx/>
              <a:buSzTx/>
              <a:buFont typeface="Wingdings" panose="05000000000000000000" pitchFamily="2" charset="2"/>
              <a:buChar char="l"/>
              <a:tabLst/>
            </a:pPr>
            <a:r>
              <a:rPr lang="zh-TW" altLang="zh-TW" sz="3200" dirty="0">
                <a:solidFill>
                  <a:srgbClr val="3F2619"/>
                </a:solidFill>
                <a:latin typeface="Noto Sans SC Medium" panose="020B0200000000000000" pitchFamily="34" charset="-128"/>
                <a:ea typeface="Noto Sans SC Medium" panose="020B0200000000000000" pitchFamily="34" charset="-128"/>
              </a:rPr>
              <a:t>解析度 64×64：</a:t>
            </a:r>
            <a:r>
              <a:rPr lang="zh-TW" altLang="zh-TW" sz="3200">
                <a:solidFill>
                  <a:srgbClr val="3F2619"/>
                </a:solidFill>
                <a:latin typeface="Noto Sans SC Medium" panose="020B0200000000000000" pitchFamily="34" charset="-128"/>
                <a:ea typeface="Noto Sans SC Medium" panose="020B0200000000000000" pitchFamily="34" charset="-128"/>
              </a:rPr>
              <a:t>不需要 </a:t>
            </a:r>
            <a:r>
              <a:rPr lang="zh-TW" altLang="zh-TW" sz="3200" dirty="0">
                <a:solidFill>
                  <a:srgbClr val="3F2619"/>
                </a:solidFill>
                <a:latin typeface="Noto Sans SC Medium" panose="020B0200000000000000" pitchFamily="34" charset="-128"/>
                <a:ea typeface="Noto Sans SC Medium" panose="020B0200000000000000" pitchFamily="34" charset="-128"/>
              </a:rPr>
              <a:t>GPU</a:t>
            </a:r>
            <a:endParaRPr lang="en-US" altLang="zh-TW" sz="3200" dirty="0">
              <a:solidFill>
                <a:srgbClr val="3F2619"/>
              </a:solidFill>
              <a:latin typeface="Noto Sans SC Medium" panose="020B0200000000000000" pitchFamily="34" charset="-128"/>
              <a:ea typeface="Noto Sans SC Medium" panose="020B0200000000000000" pitchFamily="34" charset="-128"/>
            </a:endParaRPr>
          </a:p>
          <a:p>
            <a:pPr marL="742950" marR="0" lvl="1" indent="-285750" fontAlgn="base">
              <a:lnSpc>
                <a:spcPct val="150000"/>
              </a:lnSpc>
              <a:spcBef>
                <a:spcPct val="0"/>
              </a:spcBef>
              <a:spcAft>
                <a:spcPct val="0"/>
              </a:spcAft>
              <a:buClrTx/>
              <a:buSzTx/>
              <a:buFont typeface="Wingdings" panose="05000000000000000000" pitchFamily="2" charset="2"/>
              <a:buChar char="l"/>
              <a:tabLst/>
            </a:pPr>
            <a:r>
              <a:rPr lang="zh-TW" altLang="zh-TW" sz="3200" dirty="0">
                <a:solidFill>
                  <a:srgbClr val="3F2619"/>
                </a:solidFill>
                <a:latin typeface="Noto Sans SC Medium" panose="020B0200000000000000" pitchFamily="34" charset="-128"/>
                <a:ea typeface="Noto Sans SC Medium" panose="020B0200000000000000" pitchFamily="34" charset="-128"/>
              </a:rPr>
              <a:t>筆電 GPU/桌機單卡即可順跑（甚至 CPU 也能做小模型/子集）。</a:t>
            </a:r>
          </a:p>
          <a:p>
            <a:pPr marL="742950" marR="0" lvl="1" indent="-285750" fontAlgn="base">
              <a:lnSpc>
                <a:spcPct val="150000"/>
              </a:lnSpc>
              <a:spcBef>
                <a:spcPct val="0"/>
              </a:spcBef>
              <a:spcAft>
                <a:spcPct val="0"/>
              </a:spcAft>
              <a:buClrTx/>
              <a:buSzTx/>
              <a:buFont typeface="Wingdings" panose="05000000000000000000" pitchFamily="2" charset="2"/>
              <a:buChar char="l"/>
              <a:tabLst/>
            </a:pPr>
            <a:r>
              <a:rPr lang="zh-TW" altLang="zh-TW" sz="3200" dirty="0">
                <a:solidFill>
                  <a:srgbClr val="3F2619"/>
                </a:solidFill>
                <a:latin typeface="Noto Sans SC Medium" panose="020B0200000000000000" pitchFamily="34" charset="-128"/>
                <a:ea typeface="Noto Sans SC Medium" panose="020B0200000000000000" pitchFamily="34" charset="-128"/>
              </a:rPr>
              <a:t>任務彈性大：可做分類、長尾練習（自抽子集）、CutMix/Mixup、Label Smoothing、Cosine LR 等</a:t>
            </a:r>
          </a:p>
          <a:p>
            <a:pPr marL="742950" lvl="1" indent="-285750" fontAlgn="base">
              <a:lnSpc>
                <a:spcPct val="150000"/>
              </a:lnSpc>
              <a:spcBef>
                <a:spcPct val="0"/>
              </a:spcBef>
              <a:spcAft>
                <a:spcPct val="0"/>
              </a:spcAft>
              <a:buFont typeface="Wingdings" panose="05000000000000000000" pitchFamily="2" charset="2"/>
              <a:buChar char="l"/>
            </a:pPr>
            <a:endParaRPr lang="zh-TW" altLang="en-US" sz="3600" dirty="0">
              <a:solidFill>
                <a:srgbClr val="3F2619"/>
              </a:solidFill>
              <a:latin typeface="Noto Sans SC Medium" panose="020B0200000000000000" pitchFamily="34" charset="-128"/>
              <a:ea typeface="Noto Sans SC Medium" panose="020B0200000000000000" pitchFamily="34" charset="-128"/>
            </a:endParaRPr>
          </a:p>
        </p:txBody>
      </p:sp>
      <p:sp>
        <p:nvSpPr>
          <p:cNvPr id="7" name="Freeform 10">
            <a:extLst>
              <a:ext uri="{FF2B5EF4-FFF2-40B4-BE49-F238E27FC236}">
                <a16:creationId xmlns:a16="http://schemas.microsoft.com/office/drawing/2014/main" id="{EFE96425-31F4-4C25-A933-99173F08589D}"/>
              </a:ext>
            </a:extLst>
          </p:cNvPr>
          <p:cNvSpPr/>
          <p:nvPr/>
        </p:nvSpPr>
        <p:spPr>
          <a:xfrm>
            <a:off x="15888192" y="8968012"/>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Tree>
    <p:extLst>
      <p:ext uri="{BB962C8B-B14F-4D97-AF65-F5344CB8AC3E}">
        <p14:creationId xmlns:p14="http://schemas.microsoft.com/office/powerpoint/2010/main" val="36633518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a:off x="485778" y="7436839"/>
            <a:ext cx="2004759" cy="2141005"/>
          </a:xfrm>
          <a:custGeom>
            <a:avLst/>
            <a:gdLst/>
            <a:ahLst/>
            <a:cxnLst/>
            <a:rect l="l" t="t" r="r" b="b"/>
            <a:pathLst>
              <a:path w="2004759" h="2141005">
                <a:moveTo>
                  <a:pt x="0" y="0"/>
                </a:moveTo>
                <a:lnTo>
                  <a:pt x="2004759" y="0"/>
                </a:lnTo>
                <a:lnTo>
                  <a:pt x="2004759" y="2141005"/>
                </a:lnTo>
                <a:lnTo>
                  <a:pt x="0" y="214100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2490537" y="7494055"/>
            <a:ext cx="1518167" cy="2141005"/>
          </a:xfrm>
          <a:custGeom>
            <a:avLst/>
            <a:gdLst/>
            <a:ahLst/>
            <a:cxnLst/>
            <a:rect l="l" t="t" r="r" b="b"/>
            <a:pathLst>
              <a:path w="1518167" h="2141005">
                <a:moveTo>
                  <a:pt x="0" y="0"/>
                </a:moveTo>
                <a:lnTo>
                  <a:pt x="1518167" y="0"/>
                </a:lnTo>
                <a:lnTo>
                  <a:pt x="1518167" y="2141005"/>
                </a:lnTo>
                <a:lnTo>
                  <a:pt x="0" y="214100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4094429" y="7599840"/>
            <a:ext cx="3027128" cy="2141005"/>
          </a:xfrm>
          <a:custGeom>
            <a:avLst/>
            <a:gdLst/>
            <a:ahLst/>
            <a:cxnLst/>
            <a:rect l="l" t="t" r="r" b="b"/>
            <a:pathLst>
              <a:path w="3027128" h="2141005">
                <a:moveTo>
                  <a:pt x="0" y="0"/>
                </a:moveTo>
                <a:lnTo>
                  <a:pt x="3027128" y="0"/>
                </a:lnTo>
                <a:lnTo>
                  <a:pt x="3027128" y="2141005"/>
                </a:lnTo>
                <a:lnTo>
                  <a:pt x="0" y="214100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a:off x="597782" y="5010150"/>
            <a:ext cx="1732268" cy="2141005"/>
          </a:xfrm>
          <a:custGeom>
            <a:avLst/>
            <a:gdLst/>
            <a:ahLst/>
            <a:cxnLst/>
            <a:rect l="l" t="t" r="r" b="b"/>
            <a:pathLst>
              <a:path w="1732268" h="2141005">
                <a:moveTo>
                  <a:pt x="0" y="0"/>
                </a:moveTo>
                <a:lnTo>
                  <a:pt x="1732267" y="0"/>
                </a:lnTo>
                <a:lnTo>
                  <a:pt x="1732267" y="2141005"/>
                </a:lnTo>
                <a:lnTo>
                  <a:pt x="0" y="214100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Freeform 7"/>
          <p:cNvSpPr/>
          <p:nvPr/>
        </p:nvSpPr>
        <p:spPr>
          <a:xfrm>
            <a:off x="628924" y="2869145"/>
            <a:ext cx="1701126" cy="2141005"/>
          </a:xfrm>
          <a:custGeom>
            <a:avLst/>
            <a:gdLst/>
            <a:ahLst/>
            <a:cxnLst/>
            <a:rect l="l" t="t" r="r" b="b"/>
            <a:pathLst>
              <a:path w="1701126" h="2141005">
                <a:moveTo>
                  <a:pt x="0" y="0"/>
                </a:moveTo>
                <a:lnTo>
                  <a:pt x="1701125" y="0"/>
                </a:lnTo>
                <a:lnTo>
                  <a:pt x="1701125" y="2141005"/>
                </a:lnTo>
                <a:lnTo>
                  <a:pt x="0" y="2141005"/>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8" name="Freeform 8"/>
          <p:cNvSpPr/>
          <p:nvPr/>
        </p:nvSpPr>
        <p:spPr>
          <a:xfrm>
            <a:off x="667851" y="380522"/>
            <a:ext cx="1662198" cy="2141005"/>
          </a:xfrm>
          <a:custGeom>
            <a:avLst/>
            <a:gdLst/>
            <a:ahLst/>
            <a:cxnLst/>
            <a:rect l="l" t="t" r="r" b="b"/>
            <a:pathLst>
              <a:path w="1662198" h="2141005">
                <a:moveTo>
                  <a:pt x="0" y="0"/>
                </a:moveTo>
                <a:lnTo>
                  <a:pt x="1662198" y="0"/>
                </a:lnTo>
                <a:lnTo>
                  <a:pt x="1662198" y="2141005"/>
                </a:lnTo>
                <a:lnTo>
                  <a:pt x="0" y="2141005"/>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9" name="Freeform 9"/>
          <p:cNvSpPr/>
          <p:nvPr/>
        </p:nvSpPr>
        <p:spPr>
          <a:xfrm>
            <a:off x="2606274" y="380522"/>
            <a:ext cx="2070936" cy="2141005"/>
          </a:xfrm>
          <a:custGeom>
            <a:avLst/>
            <a:gdLst/>
            <a:ahLst/>
            <a:cxnLst/>
            <a:rect l="l" t="t" r="r" b="b"/>
            <a:pathLst>
              <a:path w="2070936" h="2141005">
                <a:moveTo>
                  <a:pt x="0" y="0"/>
                </a:moveTo>
                <a:lnTo>
                  <a:pt x="2070936" y="0"/>
                </a:lnTo>
                <a:lnTo>
                  <a:pt x="2070936" y="2141005"/>
                </a:lnTo>
                <a:lnTo>
                  <a:pt x="0" y="2141005"/>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10" name="Freeform 10"/>
          <p:cNvSpPr/>
          <p:nvPr/>
        </p:nvSpPr>
        <p:spPr>
          <a:xfrm>
            <a:off x="4772460" y="380522"/>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11" name="Freeform 11"/>
          <p:cNvSpPr/>
          <p:nvPr/>
        </p:nvSpPr>
        <p:spPr>
          <a:xfrm>
            <a:off x="7132234" y="380522"/>
            <a:ext cx="2571076" cy="2141005"/>
          </a:xfrm>
          <a:custGeom>
            <a:avLst/>
            <a:gdLst/>
            <a:ahLst/>
            <a:cxnLst/>
            <a:rect l="l" t="t" r="r" b="b"/>
            <a:pathLst>
              <a:path w="2571076" h="2141005">
                <a:moveTo>
                  <a:pt x="0" y="0"/>
                </a:moveTo>
                <a:lnTo>
                  <a:pt x="2571076" y="0"/>
                </a:lnTo>
                <a:lnTo>
                  <a:pt x="2571076" y="2141005"/>
                </a:lnTo>
                <a:lnTo>
                  <a:pt x="0" y="2141005"/>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sp>
        <p:nvSpPr>
          <p:cNvPr id="12" name="Freeform 12"/>
          <p:cNvSpPr/>
          <p:nvPr/>
        </p:nvSpPr>
        <p:spPr>
          <a:xfrm>
            <a:off x="9802175" y="380522"/>
            <a:ext cx="1444205" cy="2141005"/>
          </a:xfrm>
          <a:custGeom>
            <a:avLst/>
            <a:gdLst/>
            <a:ahLst/>
            <a:cxnLst/>
            <a:rect l="l" t="t" r="r" b="b"/>
            <a:pathLst>
              <a:path w="1444205" h="2141005">
                <a:moveTo>
                  <a:pt x="0" y="0"/>
                </a:moveTo>
                <a:lnTo>
                  <a:pt x="1444205" y="0"/>
                </a:lnTo>
                <a:lnTo>
                  <a:pt x="1444205" y="2141005"/>
                </a:lnTo>
                <a:lnTo>
                  <a:pt x="0" y="2141005"/>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13" name="Freeform 13"/>
          <p:cNvSpPr/>
          <p:nvPr/>
        </p:nvSpPr>
        <p:spPr>
          <a:xfrm>
            <a:off x="11588001" y="380522"/>
            <a:ext cx="1467562" cy="2141005"/>
          </a:xfrm>
          <a:custGeom>
            <a:avLst/>
            <a:gdLst/>
            <a:ahLst/>
            <a:cxnLst/>
            <a:rect l="l" t="t" r="r" b="b"/>
            <a:pathLst>
              <a:path w="1467562" h="2141005">
                <a:moveTo>
                  <a:pt x="0" y="0"/>
                </a:moveTo>
                <a:lnTo>
                  <a:pt x="1467561" y="0"/>
                </a:lnTo>
                <a:lnTo>
                  <a:pt x="1467561" y="2141005"/>
                </a:lnTo>
                <a:lnTo>
                  <a:pt x="0" y="2141005"/>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sp>
      <p:sp>
        <p:nvSpPr>
          <p:cNvPr id="14" name="Freeform 14"/>
          <p:cNvSpPr/>
          <p:nvPr/>
        </p:nvSpPr>
        <p:spPr>
          <a:xfrm>
            <a:off x="13331787" y="380522"/>
            <a:ext cx="1876299" cy="2141005"/>
          </a:xfrm>
          <a:custGeom>
            <a:avLst/>
            <a:gdLst/>
            <a:ahLst/>
            <a:cxnLst/>
            <a:rect l="l" t="t" r="r" b="b"/>
            <a:pathLst>
              <a:path w="1876299" h="2141005">
                <a:moveTo>
                  <a:pt x="0" y="0"/>
                </a:moveTo>
                <a:lnTo>
                  <a:pt x="1876299" y="0"/>
                </a:lnTo>
                <a:lnTo>
                  <a:pt x="1876299" y="2141005"/>
                </a:lnTo>
                <a:lnTo>
                  <a:pt x="0" y="2141005"/>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sp>
      <p:sp>
        <p:nvSpPr>
          <p:cNvPr id="15" name="Freeform 15"/>
          <p:cNvSpPr/>
          <p:nvPr/>
        </p:nvSpPr>
        <p:spPr>
          <a:xfrm>
            <a:off x="15488437" y="380522"/>
            <a:ext cx="2393400" cy="2141005"/>
          </a:xfrm>
          <a:custGeom>
            <a:avLst/>
            <a:gdLst/>
            <a:ahLst/>
            <a:cxnLst/>
            <a:rect l="l" t="t" r="r" b="b"/>
            <a:pathLst>
              <a:path w="2393400" h="2141005">
                <a:moveTo>
                  <a:pt x="0" y="0"/>
                </a:moveTo>
                <a:lnTo>
                  <a:pt x="2393400" y="0"/>
                </a:lnTo>
                <a:lnTo>
                  <a:pt x="2393400" y="2141005"/>
                </a:lnTo>
                <a:lnTo>
                  <a:pt x="0" y="2141005"/>
                </a:lnTo>
                <a:lnTo>
                  <a:pt x="0" y="0"/>
                </a:lnTo>
                <a:close/>
              </a:path>
            </a:pathLst>
          </a:custGeom>
          <a:blipFill>
            <a:blip r:embed="rId27">
              <a:extLst>
                <a:ext uri="{96DAC541-7B7A-43D3-8B79-37D633B846F1}">
                  <asvg:svgBlip xmlns:asvg="http://schemas.microsoft.com/office/drawing/2016/SVG/main" r:embed="rId28"/>
                </a:ext>
              </a:extLst>
            </a:blip>
            <a:stretch>
              <a:fillRect/>
            </a:stretch>
          </a:blipFill>
        </p:spPr>
      </p:sp>
      <p:sp>
        <p:nvSpPr>
          <p:cNvPr id="16" name="Freeform 16"/>
          <p:cNvSpPr/>
          <p:nvPr/>
        </p:nvSpPr>
        <p:spPr>
          <a:xfrm>
            <a:off x="15622420" y="2750127"/>
            <a:ext cx="2047579" cy="2141005"/>
          </a:xfrm>
          <a:custGeom>
            <a:avLst/>
            <a:gdLst/>
            <a:ahLst/>
            <a:cxnLst/>
            <a:rect l="l" t="t" r="r" b="b"/>
            <a:pathLst>
              <a:path w="2047579" h="2141005">
                <a:moveTo>
                  <a:pt x="0" y="0"/>
                </a:moveTo>
                <a:lnTo>
                  <a:pt x="2047579" y="0"/>
                </a:lnTo>
                <a:lnTo>
                  <a:pt x="2047579" y="2141005"/>
                </a:lnTo>
                <a:lnTo>
                  <a:pt x="0" y="2141005"/>
                </a:lnTo>
                <a:lnTo>
                  <a:pt x="0" y="0"/>
                </a:lnTo>
                <a:close/>
              </a:path>
            </a:pathLst>
          </a:custGeom>
          <a:blipFill>
            <a:blip r:embed="rId29">
              <a:extLst>
                <a:ext uri="{96DAC541-7B7A-43D3-8B79-37D633B846F1}">
                  <asvg:svgBlip xmlns:asvg="http://schemas.microsoft.com/office/drawing/2016/SVG/main" r:embed="rId30"/>
                </a:ext>
              </a:extLst>
            </a:blip>
            <a:stretch>
              <a:fillRect/>
            </a:stretch>
          </a:blipFill>
        </p:spPr>
      </p:sp>
      <p:sp>
        <p:nvSpPr>
          <p:cNvPr id="17" name="Freeform 17"/>
          <p:cNvSpPr/>
          <p:nvPr/>
        </p:nvSpPr>
        <p:spPr>
          <a:xfrm>
            <a:off x="15622420" y="5295835"/>
            <a:ext cx="2125434" cy="2141005"/>
          </a:xfrm>
          <a:custGeom>
            <a:avLst/>
            <a:gdLst/>
            <a:ahLst/>
            <a:cxnLst/>
            <a:rect l="l" t="t" r="r" b="b"/>
            <a:pathLst>
              <a:path w="2125434" h="2141005">
                <a:moveTo>
                  <a:pt x="0" y="0"/>
                </a:moveTo>
                <a:lnTo>
                  <a:pt x="2125434" y="0"/>
                </a:lnTo>
                <a:lnTo>
                  <a:pt x="2125434" y="2141004"/>
                </a:lnTo>
                <a:lnTo>
                  <a:pt x="0" y="2141004"/>
                </a:lnTo>
                <a:lnTo>
                  <a:pt x="0" y="0"/>
                </a:lnTo>
                <a:close/>
              </a:path>
            </a:pathLst>
          </a:custGeom>
          <a:blipFill>
            <a:blip r:embed="rId31">
              <a:extLst>
                <a:ext uri="{96DAC541-7B7A-43D3-8B79-37D633B846F1}">
                  <asvg:svgBlip xmlns:asvg="http://schemas.microsoft.com/office/drawing/2016/SVG/main" r:embed="rId32"/>
                </a:ext>
              </a:extLst>
            </a:blip>
            <a:stretch>
              <a:fillRect/>
            </a:stretch>
          </a:blipFill>
        </p:spPr>
      </p:sp>
      <p:sp>
        <p:nvSpPr>
          <p:cNvPr id="18" name="Freeform 18"/>
          <p:cNvSpPr/>
          <p:nvPr/>
        </p:nvSpPr>
        <p:spPr>
          <a:xfrm>
            <a:off x="7227484" y="7599840"/>
            <a:ext cx="1782873" cy="2141005"/>
          </a:xfrm>
          <a:custGeom>
            <a:avLst/>
            <a:gdLst/>
            <a:ahLst/>
            <a:cxnLst/>
            <a:rect l="l" t="t" r="r" b="b"/>
            <a:pathLst>
              <a:path w="1782873" h="2141005">
                <a:moveTo>
                  <a:pt x="0" y="0"/>
                </a:moveTo>
                <a:lnTo>
                  <a:pt x="1782874" y="0"/>
                </a:lnTo>
                <a:lnTo>
                  <a:pt x="1782874" y="2141005"/>
                </a:lnTo>
                <a:lnTo>
                  <a:pt x="0" y="2141005"/>
                </a:lnTo>
                <a:lnTo>
                  <a:pt x="0" y="0"/>
                </a:lnTo>
                <a:close/>
              </a:path>
            </a:pathLst>
          </a:custGeom>
          <a:blipFill>
            <a:blip r:embed="rId33">
              <a:extLst>
                <a:ext uri="{96DAC541-7B7A-43D3-8B79-37D633B846F1}">
                  <asvg:svgBlip xmlns:asvg="http://schemas.microsoft.com/office/drawing/2016/SVG/main" r:embed="rId34"/>
                </a:ext>
              </a:extLst>
            </a:blip>
            <a:stretch>
              <a:fillRect/>
            </a:stretch>
          </a:blipFill>
        </p:spPr>
      </p:sp>
      <p:sp>
        <p:nvSpPr>
          <p:cNvPr id="19" name="Freeform 19"/>
          <p:cNvSpPr/>
          <p:nvPr/>
        </p:nvSpPr>
        <p:spPr>
          <a:xfrm>
            <a:off x="9091040" y="7599840"/>
            <a:ext cx="2188760" cy="2141005"/>
          </a:xfrm>
          <a:custGeom>
            <a:avLst/>
            <a:gdLst/>
            <a:ahLst/>
            <a:cxnLst/>
            <a:rect l="l" t="t" r="r" b="b"/>
            <a:pathLst>
              <a:path w="2188760" h="2141005">
                <a:moveTo>
                  <a:pt x="0" y="0"/>
                </a:moveTo>
                <a:lnTo>
                  <a:pt x="2188760" y="0"/>
                </a:lnTo>
                <a:lnTo>
                  <a:pt x="2188760" y="2141005"/>
                </a:lnTo>
                <a:lnTo>
                  <a:pt x="0" y="2141005"/>
                </a:lnTo>
                <a:lnTo>
                  <a:pt x="0" y="0"/>
                </a:lnTo>
                <a:close/>
              </a:path>
            </a:pathLst>
          </a:custGeom>
          <a:blipFill>
            <a:blip r:embed="rId35">
              <a:extLst>
                <a:ext uri="{96DAC541-7B7A-43D3-8B79-37D633B846F1}">
                  <asvg:svgBlip xmlns:asvg="http://schemas.microsoft.com/office/drawing/2016/SVG/main" r:embed="rId36"/>
                </a:ext>
              </a:extLst>
            </a:blip>
            <a:stretch>
              <a:fillRect/>
            </a:stretch>
          </a:blipFill>
        </p:spPr>
      </p:sp>
      <p:sp>
        <p:nvSpPr>
          <p:cNvPr id="20" name="Freeform 20"/>
          <p:cNvSpPr/>
          <p:nvPr/>
        </p:nvSpPr>
        <p:spPr>
          <a:xfrm>
            <a:off x="11321106" y="7599840"/>
            <a:ext cx="2141005" cy="2141005"/>
          </a:xfrm>
          <a:custGeom>
            <a:avLst/>
            <a:gdLst/>
            <a:ahLst/>
            <a:cxnLst/>
            <a:rect l="l" t="t" r="r" b="b"/>
            <a:pathLst>
              <a:path w="2141005" h="2141005">
                <a:moveTo>
                  <a:pt x="0" y="0"/>
                </a:moveTo>
                <a:lnTo>
                  <a:pt x="2141005" y="0"/>
                </a:lnTo>
                <a:lnTo>
                  <a:pt x="2141005" y="2141005"/>
                </a:lnTo>
                <a:lnTo>
                  <a:pt x="0" y="2141005"/>
                </a:lnTo>
                <a:lnTo>
                  <a:pt x="0" y="0"/>
                </a:lnTo>
                <a:close/>
              </a:path>
            </a:pathLst>
          </a:custGeom>
          <a:blipFill>
            <a:blip r:embed="rId37">
              <a:extLst>
                <a:ext uri="{96DAC541-7B7A-43D3-8B79-37D633B846F1}">
                  <asvg:svgBlip xmlns:asvg="http://schemas.microsoft.com/office/drawing/2016/SVG/main" r:embed="rId38"/>
                </a:ext>
              </a:extLst>
            </a:blip>
            <a:stretch>
              <a:fillRect/>
            </a:stretch>
          </a:blipFill>
        </p:spPr>
      </p:sp>
      <p:sp>
        <p:nvSpPr>
          <p:cNvPr id="21" name="Freeform 21"/>
          <p:cNvSpPr/>
          <p:nvPr/>
        </p:nvSpPr>
        <p:spPr>
          <a:xfrm>
            <a:off x="13452698" y="7669745"/>
            <a:ext cx="2413018" cy="2141005"/>
          </a:xfrm>
          <a:custGeom>
            <a:avLst/>
            <a:gdLst/>
            <a:ahLst/>
            <a:cxnLst/>
            <a:rect l="l" t="t" r="r" b="b"/>
            <a:pathLst>
              <a:path w="2413018" h="2141005">
                <a:moveTo>
                  <a:pt x="0" y="0"/>
                </a:moveTo>
                <a:lnTo>
                  <a:pt x="2413018" y="0"/>
                </a:lnTo>
                <a:lnTo>
                  <a:pt x="2413018" y="2141005"/>
                </a:lnTo>
                <a:lnTo>
                  <a:pt x="0" y="2141005"/>
                </a:lnTo>
                <a:lnTo>
                  <a:pt x="0" y="0"/>
                </a:lnTo>
                <a:close/>
              </a:path>
            </a:pathLst>
          </a:custGeom>
          <a:blipFill>
            <a:blip r:embed="rId39">
              <a:extLst>
                <a:ext uri="{96DAC541-7B7A-43D3-8B79-37D633B846F1}">
                  <asvg:svgBlip xmlns:asvg="http://schemas.microsoft.com/office/drawing/2016/SVG/main" r:embed="rId40"/>
                </a:ext>
              </a:extLst>
            </a:blip>
            <a:stretch>
              <a:fillRect/>
            </a:stretch>
          </a:blipFill>
        </p:spPr>
      </p:sp>
      <p:sp>
        <p:nvSpPr>
          <p:cNvPr id="22" name="Freeform 22"/>
          <p:cNvSpPr/>
          <p:nvPr/>
        </p:nvSpPr>
        <p:spPr>
          <a:xfrm>
            <a:off x="15865716" y="7599840"/>
            <a:ext cx="1638842" cy="2141005"/>
          </a:xfrm>
          <a:custGeom>
            <a:avLst/>
            <a:gdLst/>
            <a:ahLst/>
            <a:cxnLst/>
            <a:rect l="l" t="t" r="r" b="b"/>
            <a:pathLst>
              <a:path w="1638842" h="2141005">
                <a:moveTo>
                  <a:pt x="0" y="0"/>
                </a:moveTo>
                <a:lnTo>
                  <a:pt x="1638842" y="0"/>
                </a:lnTo>
                <a:lnTo>
                  <a:pt x="1638842" y="2141005"/>
                </a:lnTo>
                <a:lnTo>
                  <a:pt x="0" y="2141005"/>
                </a:lnTo>
                <a:lnTo>
                  <a:pt x="0" y="0"/>
                </a:lnTo>
                <a:close/>
              </a:path>
            </a:pathLst>
          </a:custGeom>
          <a:blipFill>
            <a:blip r:embed="rId41">
              <a:extLst>
                <a:ext uri="{96DAC541-7B7A-43D3-8B79-37D633B846F1}">
                  <asvg:svgBlip xmlns:asvg="http://schemas.microsoft.com/office/drawing/2016/SVG/main" r:embed="rId42"/>
                </a:ext>
              </a:extLst>
            </a:blip>
            <a:stretch>
              <a:fillRect/>
            </a:stretch>
          </a:blipFill>
        </p:spPr>
      </p:sp>
      <p:sp>
        <p:nvSpPr>
          <p:cNvPr id="23" name="TextBox 23"/>
          <p:cNvSpPr txBox="1"/>
          <p:nvPr/>
        </p:nvSpPr>
        <p:spPr>
          <a:xfrm>
            <a:off x="5590580" y="2681288"/>
            <a:ext cx="7106841" cy="4924425"/>
          </a:xfrm>
          <a:prstGeom prst="rect">
            <a:avLst/>
          </a:prstGeom>
        </p:spPr>
        <p:txBody>
          <a:bodyPr lIns="0" tIns="0" rIns="0" bIns="0" rtlCol="0" anchor="t">
            <a:spAutoFit/>
          </a:bodyPr>
          <a:lstStyle/>
          <a:p>
            <a:pPr marL="0" lvl="0" indent="0" algn="ctr"/>
            <a:r>
              <a:rPr lang="en-US" sz="16000" spc="-672" dirty="0">
                <a:solidFill>
                  <a:srgbClr val="891942"/>
                </a:solidFill>
                <a:latin typeface="Lazydog"/>
                <a:ea typeface="Lazydog"/>
                <a:cs typeface="Lazydog"/>
                <a:sym typeface="Lazydog"/>
              </a:rPr>
              <a:t>t</a:t>
            </a:r>
            <a:r>
              <a:rPr lang="en-US" sz="16000" spc="-672" dirty="0">
                <a:solidFill>
                  <a:srgbClr val="4E893F"/>
                </a:solidFill>
                <a:latin typeface="Lazydog"/>
                <a:ea typeface="Lazydog"/>
                <a:cs typeface="Lazydog"/>
                <a:sym typeface="Lazydog"/>
              </a:rPr>
              <a:t>h</a:t>
            </a:r>
            <a:r>
              <a:rPr lang="en-US" sz="16000" spc="-672" dirty="0">
                <a:solidFill>
                  <a:srgbClr val="9F2A22"/>
                </a:solidFill>
                <a:latin typeface="Lazydog"/>
                <a:ea typeface="Lazydog"/>
                <a:cs typeface="Lazydog"/>
                <a:sym typeface="Lazydog"/>
              </a:rPr>
              <a:t>a</a:t>
            </a:r>
            <a:r>
              <a:rPr lang="en-US" sz="16000" spc="-672" dirty="0">
                <a:solidFill>
                  <a:srgbClr val="F1A988"/>
                </a:solidFill>
                <a:latin typeface="Lazydog"/>
                <a:ea typeface="Lazydog"/>
                <a:cs typeface="Lazydog"/>
                <a:sym typeface="Lazydog"/>
              </a:rPr>
              <a:t>n</a:t>
            </a:r>
            <a:r>
              <a:rPr lang="en-US" sz="16000" spc="-672" dirty="0">
                <a:solidFill>
                  <a:srgbClr val="BC5E28"/>
                </a:solidFill>
                <a:latin typeface="Lazydog"/>
                <a:ea typeface="Lazydog"/>
                <a:cs typeface="Lazydog"/>
                <a:sym typeface="Lazydog"/>
              </a:rPr>
              <a:t>k</a:t>
            </a:r>
            <a:r>
              <a:rPr lang="en-US" sz="16000" spc="-672" dirty="0">
                <a:solidFill>
                  <a:srgbClr val="F1A988"/>
                </a:solidFill>
                <a:latin typeface="Lazydog"/>
                <a:ea typeface="Lazydog"/>
                <a:cs typeface="Lazydog"/>
                <a:sym typeface="Lazydog"/>
              </a:rPr>
              <a:t> </a:t>
            </a:r>
            <a:r>
              <a:rPr lang="en-US" sz="16000" spc="-672" dirty="0">
                <a:solidFill>
                  <a:srgbClr val="175C71"/>
                </a:solidFill>
                <a:latin typeface="Lazydog"/>
                <a:ea typeface="Lazydog"/>
                <a:cs typeface="Lazydog"/>
                <a:sym typeface="Lazydog"/>
              </a:rPr>
              <a:t>y</a:t>
            </a:r>
            <a:r>
              <a:rPr lang="en-US" sz="16000" spc="-672" dirty="0">
                <a:solidFill>
                  <a:srgbClr val="2FBCB7"/>
                </a:solidFill>
                <a:latin typeface="Lazydog"/>
                <a:ea typeface="Lazydog"/>
                <a:cs typeface="Lazydog"/>
                <a:sym typeface="Lazydog"/>
              </a:rPr>
              <a:t>o</a:t>
            </a:r>
            <a:r>
              <a:rPr lang="en-US" sz="16000" spc="-672" dirty="0">
                <a:solidFill>
                  <a:srgbClr val="4E893F"/>
                </a:solidFill>
                <a:latin typeface="Lazydog"/>
                <a:ea typeface="Lazydog"/>
                <a:cs typeface="Lazydog"/>
                <a:sym typeface="Lazydog"/>
              </a:rPr>
              <a:t>u</a:t>
            </a:r>
          </a:p>
        </p:txBody>
      </p:sp>
      <p:sp>
        <p:nvSpPr>
          <p:cNvPr id="24" name="Freeform 24"/>
          <p:cNvSpPr/>
          <p:nvPr/>
        </p:nvSpPr>
        <p:spPr>
          <a:xfrm rot="922608">
            <a:off x="4617859" y="329585"/>
            <a:ext cx="479131" cy="479131"/>
          </a:xfrm>
          <a:custGeom>
            <a:avLst/>
            <a:gdLst/>
            <a:ahLst/>
            <a:cxnLst/>
            <a:rect l="l" t="t" r="r" b="b"/>
            <a:pathLst>
              <a:path w="479131" h="479131">
                <a:moveTo>
                  <a:pt x="0" y="0"/>
                </a:moveTo>
                <a:lnTo>
                  <a:pt x="479131" y="0"/>
                </a:lnTo>
                <a:lnTo>
                  <a:pt x="479131" y="479132"/>
                </a:lnTo>
                <a:lnTo>
                  <a:pt x="0" y="479132"/>
                </a:lnTo>
                <a:lnTo>
                  <a:pt x="0" y="0"/>
                </a:lnTo>
                <a:close/>
              </a:path>
            </a:pathLst>
          </a:custGeom>
          <a:blipFill>
            <a:blip r:embed="rId43">
              <a:extLst>
                <a:ext uri="{96DAC541-7B7A-43D3-8B79-37D633B846F1}">
                  <asvg:svgBlip xmlns:asvg="http://schemas.microsoft.com/office/drawing/2016/SVG/main" r:embed="rId44"/>
                </a:ext>
              </a:extLst>
            </a:blip>
            <a:stretch>
              <a:fillRect/>
            </a:stretch>
          </a:blipFill>
          <a:ln cap="sq">
            <a:noFill/>
            <a:prstDash val="solid"/>
            <a:miter/>
          </a:ln>
        </p:spPr>
      </p:sp>
      <p:sp>
        <p:nvSpPr>
          <p:cNvPr id="25" name="Freeform 25"/>
          <p:cNvSpPr/>
          <p:nvPr/>
        </p:nvSpPr>
        <p:spPr>
          <a:xfrm rot="-737627">
            <a:off x="15530631" y="2567847"/>
            <a:ext cx="487589" cy="487589"/>
          </a:xfrm>
          <a:custGeom>
            <a:avLst/>
            <a:gdLst/>
            <a:ahLst/>
            <a:cxnLst/>
            <a:rect l="l" t="t" r="r" b="b"/>
            <a:pathLst>
              <a:path w="487589" h="487589">
                <a:moveTo>
                  <a:pt x="0" y="0"/>
                </a:moveTo>
                <a:lnTo>
                  <a:pt x="487588" y="0"/>
                </a:lnTo>
                <a:lnTo>
                  <a:pt x="487588" y="487588"/>
                </a:lnTo>
                <a:lnTo>
                  <a:pt x="0" y="487588"/>
                </a:lnTo>
                <a:lnTo>
                  <a:pt x="0" y="0"/>
                </a:lnTo>
                <a:close/>
              </a:path>
            </a:pathLst>
          </a:custGeom>
          <a:blipFill>
            <a:blip r:embed="rId45">
              <a:extLst>
                <a:ext uri="{96DAC541-7B7A-43D3-8B79-37D633B846F1}">
                  <asvg:svgBlip xmlns:asvg="http://schemas.microsoft.com/office/drawing/2016/SVG/main" r:embed="rId46"/>
                </a:ext>
              </a:extLst>
            </a:blip>
            <a:stretch>
              <a:fillRect/>
            </a:stretch>
          </a:blipFill>
          <a:ln cap="sq">
            <a:noFill/>
            <a:prstDash val="solid"/>
            <a:miter/>
          </a:ln>
        </p:spPr>
      </p:sp>
      <p:sp>
        <p:nvSpPr>
          <p:cNvPr id="26" name="Freeform 26"/>
          <p:cNvSpPr/>
          <p:nvPr/>
        </p:nvSpPr>
        <p:spPr>
          <a:xfrm rot="-911023">
            <a:off x="8658231" y="9416933"/>
            <a:ext cx="436253" cy="436253"/>
          </a:xfrm>
          <a:custGeom>
            <a:avLst/>
            <a:gdLst/>
            <a:ahLst/>
            <a:cxnLst/>
            <a:rect l="l" t="t" r="r" b="b"/>
            <a:pathLst>
              <a:path w="436253" h="436253">
                <a:moveTo>
                  <a:pt x="0" y="0"/>
                </a:moveTo>
                <a:lnTo>
                  <a:pt x="436253" y="0"/>
                </a:lnTo>
                <a:lnTo>
                  <a:pt x="436253" y="436253"/>
                </a:lnTo>
                <a:lnTo>
                  <a:pt x="0" y="436253"/>
                </a:lnTo>
                <a:lnTo>
                  <a:pt x="0" y="0"/>
                </a:lnTo>
                <a:close/>
              </a:path>
            </a:pathLst>
          </a:custGeom>
          <a:blipFill>
            <a:blip r:embed="rId47">
              <a:extLst>
                <a:ext uri="{96DAC541-7B7A-43D3-8B79-37D633B846F1}">
                  <asvg:svgBlip xmlns:asvg="http://schemas.microsoft.com/office/drawing/2016/SVG/main" r:embed="rId48"/>
                </a:ext>
              </a:extLst>
            </a:blip>
            <a:stretch>
              <a:fillRect/>
            </a:stretch>
          </a:blipFill>
          <a:ln cap="sq">
            <a:noFill/>
            <a:prstDash val="solid"/>
            <a:miter/>
          </a:ln>
        </p:spPr>
      </p:sp>
      <p:sp>
        <p:nvSpPr>
          <p:cNvPr id="27" name="Freeform 27"/>
          <p:cNvSpPr/>
          <p:nvPr/>
        </p:nvSpPr>
        <p:spPr>
          <a:xfrm>
            <a:off x="11403647" y="1964685"/>
            <a:ext cx="184354" cy="184354"/>
          </a:xfrm>
          <a:custGeom>
            <a:avLst/>
            <a:gdLst/>
            <a:ahLst/>
            <a:cxnLst/>
            <a:rect l="l" t="t" r="r" b="b"/>
            <a:pathLst>
              <a:path w="184354" h="184354">
                <a:moveTo>
                  <a:pt x="0" y="0"/>
                </a:moveTo>
                <a:lnTo>
                  <a:pt x="184354" y="0"/>
                </a:lnTo>
                <a:lnTo>
                  <a:pt x="184354" y="184354"/>
                </a:lnTo>
                <a:lnTo>
                  <a:pt x="0" y="184354"/>
                </a:lnTo>
                <a:lnTo>
                  <a:pt x="0" y="0"/>
                </a:lnTo>
                <a:close/>
              </a:path>
            </a:pathLst>
          </a:custGeom>
          <a:blipFill>
            <a:blip r:embed="rId49">
              <a:extLst>
                <a:ext uri="{96DAC541-7B7A-43D3-8B79-37D633B846F1}">
                  <asvg:svgBlip xmlns:asvg="http://schemas.microsoft.com/office/drawing/2016/SVG/main" r:embed="rId50"/>
                </a:ext>
              </a:extLst>
            </a:blip>
            <a:stretch>
              <a:fillRect/>
            </a:stretch>
          </a:blipFill>
          <a:ln cap="sq">
            <a:noFill/>
            <a:prstDash val="solid"/>
            <a:miter/>
          </a:ln>
        </p:spPr>
      </p:sp>
      <p:sp>
        <p:nvSpPr>
          <p:cNvPr id="28" name="Freeform 28"/>
          <p:cNvSpPr/>
          <p:nvPr/>
        </p:nvSpPr>
        <p:spPr>
          <a:xfrm>
            <a:off x="17655677" y="5001306"/>
            <a:ext cx="184354" cy="184354"/>
          </a:xfrm>
          <a:custGeom>
            <a:avLst/>
            <a:gdLst/>
            <a:ahLst/>
            <a:cxnLst/>
            <a:rect l="l" t="t" r="r" b="b"/>
            <a:pathLst>
              <a:path w="184354" h="184354">
                <a:moveTo>
                  <a:pt x="0" y="0"/>
                </a:moveTo>
                <a:lnTo>
                  <a:pt x="184354" y="0"/>
                </a:lnTo>
                <a:lnTo>
                  <a:pt x="184354" y="184354"/>
                </a:lnTo>
                <a:lnTo>
                  <a:pt x="0" y="184354"/>
                </a:lnTo>
                <a:lnTo>
                  <a:pt x="0" y="0"/>
                </a:lnTo>
                <a:close/>
              </a:path>
            </a:pathLst>
          </a:custGeom>
          <a:blipFill>
            <a:blip r:embed="rId51">
              <a:extLst>
                <a:ext uri="{96DAC541-7B7A-43D3-8B79-37D633B846F1}">
                  <asvg:svgBlip xmlns:asvg="http://schemas.microsoft.com/office/drawing/2016/SVG/main" r:embed="rId52"/>
                </a:ext>
              </a:extLst>
            </a:blip>
            <a:stretch>
              <a:fillRect/>
            </a:stretch>
          </a:blipFill>
          <a:ln cap="sq">
            <a:noFill/>
            <a:prstDash val="solid"/>
            <a:miter/>
          </a:ln>
        </p:spPr>
      </p:sp>
      <p:sp>
        <p:nvSpPr>
          <p:cNvPr id="29" name="Freeform 29"/>
          <p:cNvSpPr/>
          <p:nvPr/>
        </p:nvSpPr>
        <p:spPr>
          <a:xfrm>
            <a:off x="1877558" y="2603159"/>
            <a:ext cx="184354" cy="184354"/>
          </a:xfrm>
          <a:custGeom>
            <a:avLst/>
            <a:gdLst/>
            <a:ahLst/>
            <a:cxnLst/>
            <a:rect l="l" t="t" r="r" b="b"/>
            <a:pathLst>
              <a:path w="184354" h="184354">
                <a:moveTo>
                  <a:pt x="0" y="0"/>
                </a:moveTo>
                <a:lnTo>
                  <a:pt x="184353" y="0"/>
                </a:lnTo>
                <a:lnTo>
                  <a:pt x="184353" y="184354"/>
                </a:lnTo>
                <a:lnTo>
                  <a:pt x="0" y="184354"/>
                </a:lnTo>
                <a:lnTo>
                  <a:pt x="0" y="0"/>
                </a:lnTo>
                <a:close/>
              </a:path>
            </a:pathLst>
          </a:custGeom>
          <a:blipFill>
            <a:blip r:embed="rId53">
              <a:extLst>
                <a:ext uri="{96DAC541-7B7A-43D3-8B79-37D633B846F1}">
                  <asvg:svgBlip xmlns:asvg="http://schemas.microsoft.com/office/drawing/2016/SVG/main" r:embed="rId54"/>
                </a:ext>
              </a:extLst>
            </a:blip>
            <a:stretch>
              <a:fillRect/>
            </a:stretch>
          </a:blipFill>
          <a:ln cap="sq">
            <a:noFill/>
            <a:prstDash val="solid"/>
            <a:miter/>
          </a:ln>
        </p:spPr>
      </p:sp>
      <p:sp>
        <p:nvSpPr>
          <p:cNvPr id="30" name="Freeform 30"/>
          <p:cNvSpPr/>
          <p:nvPr/>
        </p:nvSpPr>
        <p:spPr>
          <a:xfrm>
            <a:off x="4211364" y="9258300"/>
            <a:ext cx="184354" cy="184354"/>
          </a:xfrm>
          <a:custGeom>
            <a:avLst/>
            <a:gdLst/>
            <a:ahLst/>
            <a:cxnLst/>
            <a:rect l="l" t="t" r="r" b="b"/>
            <a:pathLst>
              <a:path w="184354" h="184354">
                <a:moveTo>
                  <a:pt x="0" y="0"/>
                </a:moveTo>
                <a:lnTo>
                  <a:pt x="184354" y="0"/>
                </a:lnTo>
                <a:lnTo>
                  <a:pt x="184354" y="184354"/>
                </a:lnTo>
                <a:lnTo>
                  <a:pt x="0" y="184354"/>
                </a:lnTo>
                <a:lnTo>
                  <a:pt x="0" y="0"/>
                </a:lnTo>
                <a:close/>
              </a:path>
            </a:pathLst>
          </a:custGeom>
          <a:blipFill>
            <a:blip r:embed="rId55">
              <a:extLst>
                <a:ext uri="{96DAC541-7B7A-43D3-8B79-37D633B846F1}">
                  <asvg:svgBlip xmlns:asvg="http://schemas.microsoft.com/office/drawing/2016/SVG/main" r:embed="rId56"/>
                </a:ext>
              </a:extLst>
            </a:blip>
            <a:stretch>
              <a:fillRect/>
            </a:stretch>
          </a:blipFill>
          <a:ln cap="sq">
            <a:noFill/>
            <a:prstDash val="solid"/>
            <a:miter/>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6009</TotalTime>
  <Words>2088</Words>
  <Application>Microsoft Office PowerPoint</Application>
  <PresentationFormat>自訂</PresentationFormat>
  <Paragraphs>243</Paragraphs>
  <Slides>34</Slides>
  <Notes>26</Notes>
  <HiddenSlides>1</HiddenSlides>
  <MMClips>0</MMClips>
  <ScaleCrop>false</ScaleCrop>
  <HeadingPairs>
    <vt:vector size="6" baseType="variant">
      <vt:variant>
        <vt:lpstr>使用字型</vt:lpstr>
      </vt:variant>
      <vt:variant>
        <vt:i4>13</vt:i4>
      </vt:variant>
      <vt:variant>
        <vt:lpstr>佈景主題</vt:lpstr>
      </vt:variant>
      <vt:variant>
        <vt:i4>1</vt:i4>
      </vt:variant>
      <vt:variant>
        <vt:lpstr>投影片標題</vt:lpstr>
      </vt:variant>
      <vt:variant>
        <vt:i4>34</vt:i4>
      </vt:variant>
    </vt:vector>
  </HeadingPairs>
  <TitlesOfParts>
    <vt:vector size="48" baseType="lpstr">
      <vt:lpstr>Consolas</vt:lpstr>
      <vt:lpstr>Arial</vt:lpstr>
      <vt:lpstr>Noto Sans SC Medium</vt:lpstr>
      <vt:lpstr>source-serif-pro</vt:lpstr>
      <vt:lpstr>Chiron GoRound TC ExtraBold</vt:lpstr>
      <vt:lpstr>Lazydog</vt:lpstr>
      <vt:lpstr>Cambria Math</vt:lpstr>
      <vt:lpstr>sohne</vt:lpstr>
      <vt:lpstr>Noto Sans HK DemiLight</vt:lpstr>
      <vt:lpstr>Wingdings</vt:lpstr>
      <vt:lpstr>微軟正黑體</vt:lpstr>
      <vt:lpstr>Calibri</vt:lpstr>
      <vt:lpstr>Zen Maru Gothic Black</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Orange Blue and Red Playful Monsters Team Presentation</dc:title>
  <cp:lastModifiedBy>易 李</cp:lastModifiedBy>
  <cp:revision>87</cp:revision>
  <dcterms:created xsi:type="dcterms:W3CDTF">2006-08-16T00:00:00Z</dcterms:created>
  <dcterms:modified xsi:type="dcterms:W3CDTF">2026-09-29T00:36:28Z</dcterms:modified>
  <dc:identifier>DAGxjVAmauM</dc:identifier>
</cp:coreProperties>
</file>