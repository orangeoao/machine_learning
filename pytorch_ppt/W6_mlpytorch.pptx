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87" r:id="rId3"/>
    <p:sldId id="331" r:id="rId4"/>
    <p:sldId id="332" r:id="rId5"/>
    <p:sldId id="333" r:id="rId6"/>
    <p:sldId id="334" r:id="rId7"/>
    <p:sldId id="347" r:id="rId8"/>
    <p:sldId id="354" r:id="rId9"/>
    <p:sldId id="259" r:id="rId10"/>
    <p:sldId id="260" r:id="rId11"/>
    <p:sldId id="356" r:id="rId12"/>
    <p:sldId id="344" r:id="rId13"/>
    <p:sldId id="357" r:id="rId14"/>
    <p:sldId id="359" r:id="rId15"/>
    <p:sldId id="358" r:id="rId16"/>
    <p:sldId id="360" r:id="rId17"/>
    <p:sldId id="361" r:id="rId18"/>
    <p:sldId id="362" r:id="rId19"/>
    <p:sldId id="363" r:id="rId20"/>
    <p:sldId id="265" r:id="rId21"/>
    <p:sldId id="321" r:id="rId22"/>
    <p:sldId id="266" r:id="rId2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2619"/>
    <a:srgbClr val="653C27"/>
    <a:srgbClr val="DAC8B8"/>
    <a:srgbClr val="BB997A"/>
    <a:srgbClr val="764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81481" autoAdjust="0"/>
  </p:normalViewPr>
  <p:slideViewPr>
    <p:cSldViewPr>
      <p:cViewPr varScale="1">
        <p:scale>
          <a:sx n="53" d="100"/>
          <a:sy n="53" d="100"/>
        </p:scale>
        <p:origin x="82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559B991-DBF1-4E72-B03D-823BF3E2EE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2593D00-3E7C-4555-9722-F039F601FF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1B814-AF56-4DAE-A494-5D2A81E44C0E}" type="datetimeFigureOut">
              <a:rPr lang="zh-TW" altLang="en-US" smtClean="0"/>
              <a:t>2026/10/11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2C4009C-D87F-4E1A-8FDE-1A05AE2394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91CB63E-1402-4235-9C30-9C4C89AFE0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A1B46-1A94-49F5-9AE0-A77109AC5C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7788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9927A-4040-4E20-A2DD-039C368E818C}" type="datetimeFigureOut">
              <a:rPr lang="zh-TW" altLang="en-US" smtClean="0"/>
              <a:t>2026/10/11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28ABA-ADB6-4EAB-B1EB-F6097E576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87772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3039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990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155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26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68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5438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4404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594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5463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598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7601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2880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536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08F7-8241-40EE-B4C3-86DEDC8ECC8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9426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F76E4-88E7-4E29-848F-3DC0C23EEAC2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9BC37-A8BB-4A67-B3E9-8C38A4F2D1E9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65758-2F46-42F2-9E62-500094E9B65C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82925-137F-4C0C-BF19-BEBC56A3B804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34316-D9BB-4A69-90FA-CE204FC3164B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1C666-67D9-4DAC-B74C-F0F17087CEF7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5B8E-CD9E-419E-AE6C-E798C5FDE5BF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53C27"/>
                </a:solidFill>
                <a:latin typeface="Berlin Sans FB Demi" panose="020E0802020502020306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F612-600C-4A76-B652-A6CF1056F6C0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D8D75-9104-46E3-B120-4225867BE904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FA6B-6519-4A30-B9BA-3572F9E4B933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FB8DB-90D1-489F-AEA6-294418903B4A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28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7C0DD1E-A06D-41D4-BF55-F7BCD5F1E424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8888" b="-38888"/>
            </a:stretch>
          </a:blipFill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BDE8C-86EF-418F-826F-D050E8080AF7}" type="datetime1">
              <a:rPr lang="en-US" altLang="zh-TW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255171" y="992187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54400" y="9921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653C27"/>
                </a:solidFill>
                <a:latin typeface="Berlin Sans FB Demi" panose="020E0802020502020306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8" Type="http://schemas.openxmlformats.org/officeDocument/2006/relationships/image" Target="../media/image7.sv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bin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bin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bin"/><Relationship Id="rId3" Type="http://schemas.openxmlformats.org/officeDocument/2006/relationships/image" Target="../media/image59.bin"/><Relationship Id="rId7" Type="http://schemas.openxmlformats.org/officeDocument/2006/relationships/image" Target="../media/image6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bin"/><Relationship Id="rId5" Type="http://schemas.openxmlformats.org/officeDocument/2006/relationships/image" Target="../media/image61.bin"/><Relationship Id="rId4" Type="http://schemas.openxmlformats.org/officeDocument/2006/relationships/image" Target="../media/image60.bin"/><Relationship Id="rId9" Type="http://schemas.openxmlformats.org/officeDocument/2006/relationships/image" Target="../media/image6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8.bin"/><Relationship Id="rId4" Type="http://schemas.openxmlformats.org/officeDocument/2006/relationships/image" Target="../media/image67.bin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9.bin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8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88.png"/><Relationship Id="rId5" Type="http://schemas.microsoft.com/office/2007/relationships/hdphoto" Target="../media/hdphoto1.wdp"/><Relationship Id="rId10" Type="http://schemas.openxmlformats.org/officeDocument/2006/relationships/image" Target="../media/image87.png"/><Relationship Id="rId4" Type="http://schemas.openxmlformats.org/officeDocument/2006/relationships/image" Target="../media/image56.png"/><Relationship Id="rId9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8" Type="http://schemas.openxmlformats.org/officeDocument/2006/relationships/image" Target="../media/image7.sv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8" Type="http://schemas.openxmlformats.org/officeDocument/2006/relationships/image" Target="../media/image7.sv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778" y="7436839"/>
            <a:ext cx="2004759" cy="214100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0537" y="7494055"/>
            <a:ext cx="1518167" cy="214100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4429" y="7599840"/>
            <a:ext cx="3027128" cy="214100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782" y="5010150"/>
            <a:ext cx="1732268" cy="2141005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8924" y="2869145"/>
            <a:ext cx="1701126" cy="2141005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7851" y="380522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6274" y="380522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2460" y="380522"/>
            <a:ext cx="2264524" cy="2141005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32234" y="380522"/>
            <a:ext cx="2571076" cy="2141005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02175" y="380522"/>
            <a:ext cx="1444205" cy="2141005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88001" y="380522"/>
            <a:ext cx="1467562" cy="2141005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31787" y="380522"/>
            <a:ext cx="1876299" cy="2141005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88437" y="380522"/>
            <a:ext cx="2393400" cy="2141005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22420" y="2750127"/>
            <a:ext cx="2047579" cy="2141005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622420" y="5295835"/>
            <a:ext cx="2125434" cy="2141005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27484" y="7599840"/>
            <a:ext cx="1782873" cy="214100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91040" y="7599840"/>
            <a:ext cx="2188760" cy="214100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21106" y="7599840"/>
            <a:ext cx="2141005" cy="214100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52698" y="7669745"/>
            <a:ext cx="2413018" cy="2141005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65716" y="7599840"/>
            <a:ext cx="1638842" cy="214100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1877558" y="2603159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C6248F2-D217-4DF5-95FF-5D5709EC7E54}"/>
              </a:ext>
            </a:extLst>
          </p:cNvPr>
          <p:cNvSpPr txBox="1"/>
          <p:nvPr/>
        </p:nvSpPr>
        <p:spPr>
          <a:xfrm>
            <a:off x="2905656" y="2886970"/>
            <a:ext cx="124766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0000" dirty="0">
                <a:solidFill>
                  <a:srgbClr val="F1A988"/>
                </a:solidFill>
                <a:latin typeface="Zen Maru Gothic Black" pitchFamily="2" charset="-120"/>
                <a:ea typeface="Zen Maru Gothic Black" pitchFamily="2" charset="-120"/>
              </a:rPr>
              <a:t>機</a:t>
            </a:r>
            <a:r>
              <a:rPr lang="zh-TW" altLang="en-US" sz="10000" dirty="0">
                <a:solidFill>
                  <a:srgbClr val="2FBCB7"/>
                </a:solidFill>
                <a:latin typeface="Zen Maru Gothic Black" pitchFamily="2" charset="-120"/>
                <a:ea typeface="Zen Maru Gothic Black" pitchFamily="2" charset="-120"/>
              </a:rPr>
              <a:t>器</a:t>
            </a:r>
            <a:r>
              <a:rPr lang="zh-TW" altLang="en-US" sz="10000" dirty="0">
                <a:solidFill>
                  <a:srgbClr val="3BADE3"/>
                </a:solidFill>
                <a:latin typeface="Zen Maru Gothic Black" pitchFamily="2" charset="-120"/>
                <a:ea typeface="Zen Maru Gothic Black" pitchFamily="2" charset="-120"/>
              </a:rPr>
              <a:t>學</a:t>
            </a:r>
            <a:r>
              <a:rPr lang="zh-TW" altLang="en-US" sz="10000" dirty="0">
                <a:solidFill>
                  <a:srgbClr val="94BC3D"/>
                </a:solidFill>
                <a:latin typeface="Zen Maru Gothic Black" pitchFamily="2" charset="-120"/>
                <a:ea typeface="Zen Maru Gothic Black" pitchFamily="2" charset="-120"/>
              </a:rPr>
              <a:t>習</a:t>
            </a:r>
            <a:r>
              <a:rPr lang="zh-TW" altLang="en-US" sz="10000" dirty="0">
                <a:solidFill>
                  <a:srgbClr val="9F2A22"/>
                </a:solidFill>
                <a:latin typeface="Zen Maru Gothic Black" pitchFamily="2" charset="-120"/>
                <a:ea typeface="Zen Maru Gothic Black" pitchFamily="2" charset="-120"/>
              </a:rPr>
              <a:t>與</a:t>
            </a:r>
            <a:r>
              <a:rPr lang="en-US" altLang="zh-TW" sz="10000" dirty="0">
                <a:solidFill>
                  <a:srgbClr val="CF8A29"/>
                </a:solidFill>
                <a:latin typeface="Lazydog"/>
              </a:rPr>
              <a:t>P</a:t>
            </a:r>
            <a:r>
              <a:rPr lang="en-US" altLang="zh-TW" sz="10000" dirty="0">
                <a:solidFill>
                  <a:srgbClr val="8D95B5"/>
                </a:solidFill>
                <a:latin typeface="Lazydog"/>
              </a:rPr>
              <a:t>y</a:t>
            </a:r>
            <a:r>
              <a:rPr lang="en-US" altLang="zh-TW" sz="10000" dirty="0">
                <a:solidFill>
                  <a:srgbClr val="5B1C14"/>
                </a:solidFill>
                <a:latin typeface="Lazydog"/>
              </a:rPr>
              <a:t>T</a:t>
            </a:r>
            <a:r>
              <a:rPr lang="en-US" altLang="zh-TW" sz="10000" dirty="0">
                <a:solidFill>
                  <a:srgbClr val="FBB116"/>
                </a:solidFill>
                <a:latin typeface="Lazydog"/>
              </a:rPr>
              <a:t>o</a:t>
            </a:r>
            <a:r>
              <a:rPr lang="en-US" altLang="zh-TW" sz="10000" dirty="0">
                <a:solidFill>
                  <a:srgbClr val="E25026"/>
                </a:solidFill>
                <a:latin typeface="Lazydog"/>
              </a:rPr>
              <a:t>r</a:t>
            </a:r>
            <a:r>
              <a:rPr lang="en-US" altLang="zh-TW" sz="10000" dirty="0">
                <a:solidFill>
                  <a:srgbClr val="BA254F"/>
                </a:solidFill>
                <a:latin typeface="Lazydog"/>
              </a:rPr>
              <a:t>c</a:t>
            </a:r>
            <a:r>
              <a:rPr lang="en-US" altLang="zh-TW" sz="10000" dirty="0">
                <a:solidFill>
                  <a:srgbClr val="4E893F"/>
                </a:solidFill>
                <a:latin typeface="Lazydog"/>
              </a:rPr>
              <a:t>h</a:t>
            </a:r>
            <a:endParaRPr lang="zh-TW" altLang="en-US" sz="10000" dirty="0">
              <a:solidFill>
                <a:srgbClr val="4E893F"/>
              </a:solidFill>
              <a:latin typeface="Lazydog"/>
            </a:endParaRPr>
          </a:p>
        </p:txBody>
      </p:sp>
      <p:sp>
        <p:nvSpPr>
          <p:cNvPr id="32" name="投影片編號版面配置區 31">
            <a:extLst>
              <a:ext uri="{FF2B5EF4-FFF2-40B4-BE49-F238E27FC236}">
                <a16:creationId xmlns:a16="http://schemas.microsoft.com/office/drawing/2014/main" id="{3AB8B742-58E9-4092-A35A-A08AB10F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84CEAF7D-6C08-44D7-AFB7-A3FBF44E5AAC}"/>
              </a:ext>
            </a:extLst>
          </p:cNvPr>
          <p:cNvSpPr txBox="1"/>
          <p:nvPr/>
        </p:nvSpPr>
        <p:spPr>
          <a:xfrm>
            <a:off x="4131052" y="5001306"/>
            <a:ext cx="10025896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0"/>
            <a:r>
              <a:rPr lang="zh-TW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授課老師</a:t>
            </a:r>
            <a:r>
              <a:rPr lang="zh-CN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謝易錚</a:t>
            </a:r>
            <a:r>
              <a:rPr lang="zh-CN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(yzshieh@mail.ntust.edu.tw)</a:t>
            </a:r>
          </a:p>
          <a:p>
            <a:pPr algn="just" rtl="0"/>
            <a:endParaRPr lang="en-US" altLang="zh-CN" sz="32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 rtl="0"/>
            <a:r>
              <a:rPr lang="zh-TW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助         教</a:t>
            </a:r>
            <a:r>
              <a:rPr lang="zh-CN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zh-TW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李易 </a:t>
            </a:r>
            <a:r>
              <a:rPr lang="en-US" altLang="zh-CN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D11507002@mail.ntust.edu.tw)</a:t>
            </a:r>
          </a:p>
          <a:p>
            <a:pPr algn="just"/>
            <a:r>
              <a:rPr lang="zh-TW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    柳予謀 </a:t>
            </a:r>
            <a:r>
              <a:rPr lang="en-US" altLang="zh-CN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D11507005@mail.ntust.edu.tw</a:t>
            </a:r>
            <a:r>
              <a:rPr lang="en-US" altLang="zh-CN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altLang="en-US" sz="32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113874" y="1106664"/>
            <a:ext cx="6916251" cy="1083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課程大綱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783CD25-3D47-4753-B965-45088A27DAB1}"/>
              </a:ext>
            </a:extLst>
          </p:cNvPr>
          <p:cNvSpPr txBox="1"/>
          <p:nvPr/>
        </p:nvSpPr>
        <p:spPr>
          <a:xfrm>
            <a:off x="2227749" y="2603405"/>
            <a:ext cx="6916250" cy="1386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RNN</a:t>
            </a:r>
            <a:r>
              <a:rPr lang="zh-TW" altLang="en-US" sz="3200" b="1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介紹</a:t>
            </a:r>
            <a:endParaRPr lang="en-US" altLang="zh-TW" sz="3200" b="1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LSTM </a:t>
            </a:r>
            <a:r>
              <a:rPr lang="zh-TW" altLang="en-US" sz="3200" b="1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介紹</a:t>
            </a:r>
            <a:endParaRPr lang="en-US" altLang="zh-TW" sz="3200" b="1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A3034D92-FD93-4846-93A4-6D31596C2599}"/>
              </a:ext>
            </a:extLst>
          </p:cNvPr>
          <p:cNvSpPr>
            <a:spLocks noChangeAspect="1"/>
          </p:cNvSpPr>
          <p:nvPr/>
        </p:nvSpPr>
        <p:spPr>
          <a:xfrm>
            <a:off x="9143999" y="1648417"/>
            <a:ext cx="8394302" cy="6990163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420932-B983-4340-A615-7C9A5CC90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3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RNN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1390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b="1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循環神經網路（Recurrent</a:t>
            </a:r>
            <a:r>
              <a:rPr lang="en-US" altLang="zh-TW" sz="3200" b="1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Neural </a:t>
            </a:r>
            <a:r>
              <a:rPr lang="en-US" altLang="zh-TW" sz="3200" b="1" dirty="0" err="1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Network，RNN</a:t>
            </a:r>
            <a:r>
              <a:rPr lang="en-US" altLang="zh-TW" sz="3200" b="1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200" b="1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A63CC038-5DB4-410D-A04B-6A58387471AC}"/>
              </a:ext>
            </a:extLst>
          </p:cNvPr>
          <p:cNvSpPr>
            <a:spLocks noChangeAspect="1"/>
          </p:cNvSpPr>
          <p:nvPr/>
        </p:nvSpPr>
        <p:spPr>
          <a:xfrm rot="5249200">
            <a:off x="-1247414" y="224311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3E8220E-75CA-4561-A9EF-D7649C5EEE47}"/>
              </a:ext>
            </a:extLst>
          </p:cNvPr>
          <p:cNvSpPr/>
          <p:nvPr/>
        </p:nvSpPr>
        <p:spPr>
          <a:xfrm>
            <a:off x="3194806" y="4130062"/>
            <a:ext cx="4982133" cy="38944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b="1" dirty="0" err="1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序列處理專家</a:t>
            </a:r>
            <a:endParaRPr lang="en-US" sz="3200" b="1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專門處理有時間順序的資料</a:t>
            </a:r>
            <a:endParaRPr lang="en-US" sz="2400" b="1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3200" b="1" dirty="0" err="1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具有記憶能力</a:t>
            </a:r>
            <a:endParaRPr lang="en-US" altLang="zh-TW" sz="3200" b="1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透過隱藏狀態記住過去的資訊</a:t>
            </a:r>
            <a:endParaRPr lang="en-US" altLang="zh-TW" sz="2400" b="1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3200" b="1" dirty="0" err="1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循環連接結構</a:t>
            </a:r>
            <a:endParaRPr lang="en-US" altLang="zh-TW" sz="3200" b="1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輸出會回到自己形成循環</a:t>
            </a:r>
            <a:endParaRPr lang="en-US" altLang="zh-TW" sz="2400" b="1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0626574-5510-4A43-A426-B9E686BB548B}"/>
              </a:ext>
            </a:extLst>
          </p:cNvPr>
          <p:cNvSpPr/>
          <p:nvPr/>
        </p:nvSpPr>
        <p:spPr>
          <a:xfrm>
            <a:off x="2691835" y="5203742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D6ED2BE-783F-495A-9D27-9F7608D17B02}"/>
              </a:ext>
            </a:extLst>
          </p:cNvPr>
          <p:cNvSpPr/>
          <p:nvPr/>
        </p:nvSpPr>
        <p:spPr>
          <a:xfrm>
            <a:off x="2691835" y="660167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BCD60952-5278-4D6A-9DED-5A4C8EF128BE}"/>
              </a:ext>
            </a:extLst>
          </p:cNvPr>
          <p:cNvSpPr/>
          <p:nvPr/>
        </p:nvSpPr>
        <p:spPr>
          <a:xfrm>
            <a:off x="2691835" y="8024526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4D992A-024E-40A1-B822-502A949A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86BF7D1F-1363-4E06-8C07-5C7B9B08EE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5519" y="3223326"/>
            <a:ext cx="7271643" cy="619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50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為什麼需要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RNN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3052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傳統神經網路的限制</a:t>
            </a:r>
            <a:endParaRPr lang="en-US" altLang="zh-TW" sz="32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傳統神經網路（如全連接網路）只能</a:t>
            </a:r>
            <a:r>
              <a:rPr lang="en-US" altLang="zh-TW" sz="24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單獨處理每個輸入</a:t>
            </a: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，前一個輸入和後一個輸入完全沒有關係</a:t>
            </a:r>
            <a:r>
              <a:rPr lang="en-US" altLang="zh-TW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7429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但在現實世界中，很多資料都有</a:t>
            </a:r>
            <a:r>
              <a:rPr lang="en-US" altLang="zh-TW" sz="24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時間順序或上下文關係</a:t>
            </a: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，需要考慮之前的資訊才能做出正確判斷</a:t>
            </a:r>
            <a:r>
              <a:rPr lang="en-US" altLang="zh-TW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457200" lvl="2">
              <a:lnSpc>
                <a:spcPct val="150000"/>
              </a:lnSpc>
            </a:pPr>
            <a:r>
              <a:rPr lang="en-US" altLang="zh-TW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RNN </a:t>
            </a: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的應用場景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A63CC038-5DB4-410D-A04B-6A58387471AC}"/>
              </a:ext>
            </a:extLst>
          </p:cNvPr>
          <p:cNvSpPr>
            <a:spLocks noChangeAspect="1"/>
          </p:cNvSpPr>
          <p:nvPr/>
        </p:nvSpPr>
        <p:spPr>
          <a:xfrm rot="5249200">
            <a:off x="-1247414" y="224311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B701E2C3-D0F1-42CC-94BE-FAE739A2E349}"/>
              </a:ext>
            </a:extLst>
          </p:cNvPr>
          <p:cNvSpPr/>
          <p:nvPr/>
        </p:nvSpPr>
        <p:spPr>
          <a:xfrm>
            <a:off x="2447774" y="4816915"/>
            <a:ext cx="45719" cy="109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4E97B4C4-A58C-4417-A57E-6AEA8063EAF7}"/>
              </a:ext>
            </a:extLst>
          </p:cNvPr>
          <p:cNvSpPr/>
          <p:nvPr/>
        </p:nvSpPr>
        <p:spPr>
          <a:xfrm>
            <a:off x="2943931" y="5824989"/>
            <a:ext cx="6505817" cy="178180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7B317153-DA37-42C2-A922-9349851447D7}"/>
              </a:ext>
            </a:extLst>
          </p:cNvPr>
          <p:cNvSpPr/>
          <p:nvPr/>
        </p:nvSpPr>
        <p:spPr>
          <a:xfrm>
            <a:off x="2943932" y="5824989"/>
            <a:ext cx="47488" cy="1781801"/>
          </a:xfrm>
          <a:prstGeom prst="rect">
            <a:avLst/>
          </a:prstGeom>
          <a:solidFill>
            <a:srgbClr val="3F2619"/>
          </a:solidFill>
          <a:ln/>
        </p:spPr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913048CE-EC50-4BBD-B7CF-44EB48016621}"/>
              </a:ext>
            </a:extLst>
          </p:cNvPr>
          <p:cNvSpPr/>
          <p:nvPr/>
        </p:nvSpPr>
        <p:spPr>
          <a:xfrm>
            <a:off x="3160210" y="5915525"/>
            <a:ext cx="3109826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自然語言處理 </a:t>
            </a: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8259B00F-4B87-4A05-9845-6FF64F6BB4E9}"/>
              </a:ext>
            </a:extLst>
          </p:cNvPr>
          <p:cNvSpPr/>
          <p:nvPr/>
        </p:nvSpPr>
        <p:spPr>
          <a:xfrm>
            <a:off x="3717431" y="6444624"/>
            <a:ext cx="5394354" cy="11079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理解句子時需要考慮前後文關係。例如</a:t>
            </a: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：「我 吃 蘋果」中，「吃」是動詞會影響「蘋果」的詞性判斷。 </a:t>
            </a:r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5C2E6E4E-C662-482F-A14F-1C604F74413B}"/>
              </a:ext>
            </a:extLst>
          </p:cNvPr>
          <p:cNvSpPr/>
          <p:nvPr/>
        </p:nvSpPr>
        <p:spPr>
          <a:xfrm>
            <a:off x="9750581" y="5824989"/>
            <a:ext cx="6505817" cy="178180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59016D44-4E0E-4EC6-9EF4-BECBA5E57793}"/>
              </a:ext>
            </a:extLst>
          </p:cNvPr>
          <p:cNvSpPr/>
          <p:nvPr/>
        </p:nvSpPr>
        <p:spPr>
          <a:xfrm>
            <a:off x="9750582" y="5824989"/>
            <a:ext cx="47488" cy="1781801"/>
          </a:xfrm>
          <a:prstGeom prst="rect">
            <a:avLst/>
          </a:prstGeom>
          <a:solidFill>
            <a:srgbClr val="3F2619"/>
          </a:solidFill>
          <a:ln/>
        </p:spPr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6F93A2CD-3D9F-4A26-9D69-06937D6D41B1}"/>
              </a:ext>
            </a:extLst>
          </p:cNvPr>
          <p:cNvSpPr/>
          <p:nvPr/>
        </p:nvSpPr>
        <p:spPr>
          <a:xfrm>
            <a:off x="9953074" y="5906976"/>
            <a:ext cx="2868821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語音辨識</a:t>
            </a:r>
            <a:r>
              <a:rPr 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ED97F2EF-8932-4819-928F-290B1DD45759}"/>
              </a:ext>
            </a:extLst>
          </p:cNvPr>
          <p:cNvSpPr/>
          <p:nvPr/>
        </p:nvSpPr>
        <p:spPr>
          <a:xfrm>
            <a:off x="10501869" y="6573927"/>
            <a:ext cx="5291032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聲音訊號是連續的序列，需要理解前後音節的關係才能正確辨識語音內容</a:t>
            </a: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B29AB3AF-75D9-4217-95C2-C8D8095AD002}"/>
              </a:ext>
            </a:extLst>
          </p:cNvPr>
          <p:cNvSpPr/>
          <p:nvPr/>
        </p:nvSpPr>
        <p:spPr>
          <a:xfrm>
            <a:off x="2942982" y="7781298"/>
            <a:ext cx="6505817" cy="178180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983339FA-A0CD-431F-A88B-C2E9F82CDB41}"/>
              </a:ext>
            </a:extLst>
          </p:cNvPr>
          <p:cNvSpPr/>
          <p:nvPr/>
        </p:nvSpPr>
        <p:spPr>
          <a:xfrm>
            <a:off x="2942983" y="7781298"/>
            <a:ext cx="47488" cy="1781801"/>
          </a:xfrm>
          <a:prstGeom prst="rect">
            <a:avLst/>
          </a:prstGeom>
          <a:solidFill>
            <a:srgbClr val="3F2619"/>
          </a:solidFill>
          <a:ln/>
        </p:spPr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B492921B-7B93-4AD5-8E37-5F4E43DCA832}"/>
              </a:ext>
            </a:extLst>
          </p:cNvPr>
          <p:cNvSpPr/>
          <p:nvPr/>
        </p:nvSpPr>
        <p:spPr>
          <a:xfrm>
            <a:off x="3160210" y="7904197"/>
            <a:ext cx="3109826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時間序列預測 </a:t>
            </a:r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6A25C298-E2D0-4423-B4AB-8F470719ACE4}"/>
              </a:ext>
            </a:extLst>
          </p:cNvPr>
          <p:cNvSpPr/>
          <p:nvPr/>
        </p:nvSpPr>
        <p:spPr>
          <a:xfrm>
            <a:off x="3702274" y="8571148"/>
            <a:ext cx="5424668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股價、天氣等預測需要考慮歷史趨勢，今天的值會受到過去幾天的影響</a:t>
            </a: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45264ABE-E15D-49C3-9E8C-3F9277A933E7}"/>
              </a:ext>
            </a:extLst>
          </p:cNvPr>
          <p:cNvSpPr/>
          <p:nvPr/>
        </p:nvSpPr>
        <p:spPr>
          <a:xfrm>
            <a:off x="9750581" y="7781298"/>
            <a:ext cx="6505817" cy="178180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168DB72B-91CC-4B74-99CA-AFFF55410E1F}"/>
              </a:ext>
            </a:extLst>
          </p:cNvPr>
          <p:cNvSpPr/>
          <p:nvPr/>
        </p:nvSpPr>
        <p:spPr>
          <a:xfrm>
            <a:off x="9750582" y="7781298"/>
            <a:ext cx="47488" cy="1781801"/>
          </a:xfrm>
          <a:prstGeom prst="rect">
            <a:avLst/>
          </a:prstGeom>
          <a:solidFill>
            <a:srgbClr val="3F2619"/>
          </a:solidFill>
          <a:ln/>
        </p:spPr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70299006-7BC6-4B6E-BF88-9CE941D29B77}"/>
              </a:ext>
            </a:extLst>
          </p:cNvPr>
          <p:cNvSpPr/>
          <p:nvPr/>
        </p:nvSpPr>
        <p:spPr>
          <a:xfrm>
            <a:off x="9953074" y="7826464"/>
            <a:ext cx="2289088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影片分析 </a:t>
            </a:r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E394249B-FED0-4499-86F0-F8AA35FC16B1}"/>
              </a:ext>
            </a:extLst>
          </p:cNvPr>
          <p:cNvSpPr/>
          <p:nvPr/>
        </p:nvSpPr>
        <p:spPr>
          <a:xfrm>
            <a:off x="10515601" y="8493415"/>
            <a:ext cx="5291033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需要分析連續的frame，理解動作的時間變化和連續性</a:t>
            </a: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0E2361-2253-4EAD-95A7-1D5C089E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b="1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pPr/>
              <a:t>4</a:t>
            </a:fld>
            <a:endParaRPr lang="en-US" b="1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RNN</a:t>
            </a: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的架構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7271643" cy="651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RNN </a:t>
            </a: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展開的時間序列結構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A63CC038-5DB4-410D-A04B-6A58387471AC}"/>
              </a:ext>
            </a:extLst>
          </p:cNvPr>
          <p:cNvSpPr>
            <a:spLocks noChangeAspect="1"/>
          </p:cNvSpPr>
          <p:nvPr/>
        </p:nvSpPr>
        <p:spPr>
          <a:xfrm rot="5249200">
            <a:off x="-1247414" y="224311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A4ACFBE1-9C41-43C2-BE49-67F8CDC097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7748" y="3551086"/>
            <a:ext cx="7271643" cy="6194856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AE1A1DEF-8FF4-492E-8349-2E5D76A13DC8}"/>
              </a:ext>
            </a:extLst>
          </p:cNvPr>
          <p:cNvSpPr/>
          <p:nvPr/>
        </p:nvSpPr>
        <p:spPr>
          <a:xfrm>
            <a:off x="10318300" y="2476715"/>
            <a:ext cx="65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32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58183B3C-92B1-456C-8F34-E95CE2737AA7}"/>
              </a:ext>
            </a:extLst>
          </p:cNvPr>
          <p:cNvSpPr/>
          <p:nvPr/>
        </p:nvSpPr>
        <p:spPr>
          <a:xfrm>
            <a:off x="10635420" y="4878283"/>
            <a:ext cx="65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746082B-1B97-42A3-8232-E6FDCD650587}"/>
              </a:ext>
            </a:extLst>
          </p:cNvPr>
          <p:cNvSpPr/>
          <p:nvPr/>
        </p:nvSpPr>
        <p:spPr>
          <a:xfrm>
            <a:off x="10228951" y="5783107"/>
            <a:ext cx="65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32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8486DFA-6324-482B-A3C8-01E73CE2F501}"/>
              </a:ext>
            </a:extLst>
          </p:cNvPr>
          <p:cNvSpPr/>
          <p:nvPr/>
        </p:nvSpPr>
        <p:spPr>
          <a:xfrm>
            <a:off x="10228951" y="6077369"/>
            <a:ext cx="65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0FDB154-57B3-4E96-A70E-BF63AE679846}"/>
              </a:ext>
            </a:extLst>
          </p:cNvPr>
          <p:cNvSpPr/>
          <p:nvPr/>
        </p:nvSpPr>
        <p:spPr>
          <a:xfrm>
            <a:off x="10228951" y="6318888"/>
            <a:ext cx="65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32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F888B53-18E0-4A93-8DEA-28BAE9263ADA}"/>
              </a:ext>
            </a:extLst>
          </p:cNvPr>
          <p:cNvSpPr/>
          <p:nvPr/>
        </p:nvSpPr>
        <p:spPr>
          <a:xfrm>
            <a:off x="10228951" y="6613150"/>
            <a:ext cx="65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A75EA9E8-06E7-440D-BCCF-C4A0FAE836DA}"/>
              </a:ext>
            </a:extLst>
          </p:cNvPr>
          <p:cNvSpPr/>
          <p:nvPr/>
        </p:nvSpPr>
        <p:spPr>
          <a:xfrm>
            <a:off x="10228951" y="6854669"/>
            <a:ext cx="65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32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28508C0-BCF7-4F5D-BF8C-28E0EEB23AD3}"/>
              </a:ext>
            </a:extLst>
          </p:cNvPr>
          <p:cNvSpPr/>
          <p:nvPr/>
        </p:nvSpPr>
        <p:spPr>
          <a:xfrm>
            <a:off x="10064645" y="7260464"/>
            <a:ext cx="65" cy="83099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54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56084A2E-C03D-4B90-AAA7-84D83755E5E6}"/>
              </a:ext>
            </a:extLst>
          </p:cNvPr>
          <p:cNvSpPr/>
          <p:nvPr/>
        </p:nvSpPr>
        <p:spPr>
          <a:xfrm>
            <a:off x="10629964" y="6548987"/>
            <a:ext cx="6551813" cy="927741"/>
          </a:xfrm>
          <a:prstGeom prst="rect">
            <a:avLst/>
          </a:prstGeom>
          <a:solidFill>
            <a:srgbClr val="DAC8B8"/>
          </a:solidFill>
          <a:ln/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288B8116-E84A-451E-A0E4-D8288569A5B2}"/>
              </a:ext>
            </a:extLst>
          </p:cNvPr>
          <p:cNvSpPr/>
          <p:nvPr/>
        </p:nvSpPr>
        <p:spPr>
          <a:xfrm>
            <a:off x="10912630" y="6738567"/>
            <a:ext cx="413575" cy="6155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h</a:t>
            </a: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0FF2BAE3-F54B-4715-AD7F-52C54283FC10}"/>
              </a:ext>
            </a:extLst>
          </p:cNvPr>
          <p:cNvSpPr/>
          <p:nvPr/>
        </p:nvSpPr>
        <p:spPr>
          <a:xfrm>
            <a:off x="11389349" y="6959403"/>
            <a:ext cx="12022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9709796E-02B1-406A-95C4-90DAFB1727E5}"/>
              </a:ext>
            </a:extLst>
          </p:cNvPr>
          <p:cNvSpPr/>
          <p:nvPr/>
        </p:nvSpPr>
        <p:spPr>
          <a:xfrm>
            <a:off x="11759917" y="6753747"/>
            <a:ext cx="2157642" cy="6155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f(U × x</a:t>
            </a: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578979C3-1129-4B5C-AE2F-2337115C415C}"/>
              </a:ext>
            </a:extLst>
          </p:cNvPr>
          <p:cNvSpPr/>
          <p:nvPr/>
        </p:nvSpPr>
        <p:spPr>
          <a:xfrm>
            <a:off x="14049704" y="6988422"/>
            <a:ext cx="12022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414BF3FF-E65F-4294-9BC9-B8447B1D574F}"/>
              </a:ext>
            </a:extLst>
          </p:cNvPr>
          <p:cNvSpPr/>
          <p:nvPr/>
        </p:nvSpPr>
        <p:spPr>
          <a:xfrm>
            <a:off x="12756946" y="6746241"/>
            <a:ext cx="497050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+ W × h</a:t>
            </a: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94DB28C5-D9C0-4B72-97B9-EF69309AE33A}"/>
              </a:ext>
            </a:extLst>
          </p:cNvPr>
          <p:cNvSpPr/>
          <p:nvPr/>
        </p:nvSpPr>
        <p:spPr>
          <a:xfrm>
            <a:off x="16301113" y="6998613"/>
            <a:ext cx="419987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82487C8D-7BAF-47E1-8377-668DE0325353}"/>
              </a:ext>
            </a:extLst>
          </p:cNvPr>
          <p:cNvSpPr/>
          <p:nvPr/>
        </p:nvSpPr>
        <p:spPr>
          <a:xfrm>
            <a:off x="16804244" y="6737975"/>
            <a:ext cx="310984" cy="6155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FCE5AC4F-4D9A-44D0-AB6F-71864E6F9F7F}"/>
              </a:ext>
            </a:extLst>
          </p:cNvPr>
          <p:cNvSpPr/>
          <p:nvPr/>
        </p:nvSpPr>
        <p:spPr>
          <a:xfrm>
            <a:off x="11551875" y="7638578"/>
            <a:ext cx="200376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686BA6BD-FDA6-4718-8988-27B8A3BEACED}"/>
              </a:ext>
            </a:extLst>
          </p:cNvPr>
          <p:cNvSpPr/>
          <p:nvPr/>
        </p:nvSpPr>
        <p:spPr>
          <a:xfrm>
            <a:off x="11823328" y="7796911"/>
            <a:ext cx="16696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1A859C65-3965-4FCD-B3E2-5C15774B4BB1}"/>
              </a:ext>
            </a:extLst>
          </p:cNvPr>
          <p:cNvSpPr/>
          <p:nvPr/>
        </p:nvSpPr>
        <p:spPr>
          <a:xfrm>
            <a:off x="12245828" y="7762212"/>
            <a:ext cx="430887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：當前時刻的隱藏狀態（記憶）</a:t>
            </a: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256C711A-44DC-41E7-A637-86C24995FB16}"/>
              </a:ext>
            </a:extLst>
          </p:cNvPr>
          <p:cNvSpPr/>
          <p:nvPr/>
        </p:nvSpPr>
        <p:spPr>
          <a:xfrm>
            <a:off x="11567905" y="8224201"/>
            <a:ext cx="179536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48633DA2-1B02-496B-A145-D68709B5D58A}"/>
              </a:ext>
            </a:extLst>
          </p:cNvPr>
          <p:cNvSpPr/>
          <p:nvPr/>
        </p:nvSpPr>
        <p:spPr>
          <a:xfrm>
            <a:off x="11823458" y="8359944"/>
            <a:ext cx="8496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CC450C21-0EBD-4166-BB0F-FC73677B9EF6}"/>
              </a:ext>
            </a:extLst>
          </p:cNvPr>
          <p:cNvSpPr/>
          <p:nvPr/>
        </p:nvSpPr>
        <p:spPr>
          <a:xfrm>
            <a:off x="12245828" y="8325246"/>
            <a:ext cx="246221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：當前時刻的輸入</a:t>
            </a: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551674AE-FC20-4C5D-B674-D1E967DA3439}"/>
              </a:ext>
            </a:extLst>
          </p:cNvPr>
          <p:cNvSpPr/>
          <p:nvPr/>
        </p:nvSpPr>
        <p:spPr>
          <a:xfrm>
            <a:off x="11552387" y="8850092"/>
            <a:ext cx="200376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F6F22085-582B-4898-AB7D-99A4B8447501}"/>
              </a:ext>
            </a:extLst>
          </p:cNvPr>
          <p:cNvSpPr/>
          <p:nvPr/>
        </p:nvSpPr>
        <p:spPr>
          <a:xfrm>
            <a:off x="11823328" y="8985229"/>
            <a:ext cx="29815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38DCF91F-20C2-4C06-B6A7-649A2D79BE80}"/>
              </a:ext>
            </a:extLst>
          </p:cNvPr>
          <p:cNvSpPr/>
          <p:nvPr/>
        </p:nvSpPr>
        <p:spPr>
          <a:xfrm>
            <a:off x="12247014" y="8888974"/>
            <a:ext cx="3077766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：上一時刻的隱藏狀態</a:t>
            </a:r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F5184A3F-2115-4D10-B13B-F1EDE1AF1064}"/>
              </a:ext>
            </a:extLst>
          </p:cNvPr>
          <p:cNvSpPr/>
          <p:nvPr/>
        </p:nvSpPr>
        <p:spPr>
          <a:xfrm>
            <a:off x="11567905" y="9390453"/>
            <a:ext cx="120226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C9F81BEC-D715-48BE-B84D-04F059A0F80E}"/>
              </a:ext>
            </a:extLst>
          </p:cNvPr>
          <p:cNvSpPr/>
          <p:nvPr/>
        </p:nvSpPr>
        <p:spPr>
          <a:xfrm>
            <a:off x="12245828" y="9452008"/>
            <a:ext cx="4462760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：激活函數（如 tanh 或 ReLU） </a:t>
            </a:r>
          </a:p>
        </p:txBody>
      </p:sp>
      <p:sp>
        <p:nvSpPr>
          <p:cNvPr id="38" name="TextBox 30">
            <a:extLst>
              <a:ext uri="{FF2B5EF4-FFF2-40B4-BE49-F238E27FC236}">
                <a16:creationId xmlns:a16="http://schemas.microsoft.com/office/drawing/2014/main" id="{3BF71C84-7F13-47C9-ADC8-58F6583F0297}"/>
              </a:ext>
            </a:extLst>
          </p:cNvPr>
          <p:cNvSpPr txBox="1"/>
          <p:nvPr/>
        </p:nvSpPr>
        <p:spPr>
          <a:xfrm>
            <a:off x="10150075" y="2147751"/>
            <a:ext cx="7271643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三個關鍵權重矩陣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742950" lvl="2" indent="-285750">
              <a:buFont typeface="Wingdings" panose="05000000000000000000" pitchFamily="2" charset="2"/>
              <a:buChar char="l"/>
            </a:pP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U - </a:t>
            </a: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輸入權重</a:t>
            </a: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200150" lvl="3" indent="-285750">
              <a:buFont typeface="Wingdings" panose="05000000000000000000" pitchFamily="2" charset="2"/>
              <a:buChar char="l"/>
            </a:pP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控制當前輸入如何影響隱藏狀態</a:t>
            </a:r>
            <a:r>
              <a:rPr lang="en-US" altLang="zh-TW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742950" lvl="2" indent="-285750">
              <a:buFont typeface="Wingdings" panose="05000000000000000000" pitchFamily="2" charset="2"/>
              <a:buChar char="l"/>
            </a:pP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W - </a:t>
            </a: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記憶權重</a:t>
            </a: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1200150" lvl="3" indent="-285750">
              <a:buFont typeface="Wingdings" panose="05000000000000000000" pitchFamily="2" charset="2"/>
              <a:buChar char="l"/>
            </a:pP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控制過去的記憶如何傳遞到現在</a:t>
            </a:r>
            <a:r>
              <a:rPr lang="en-US" altLang="zh-TW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742950" lvl="2" indent="-285750">
              <a:buFont typeface="Wingdings" panose="05000000000000000000" pitchFamily="2" charset="2"/>
              <a:buChar char="l"/>
            </a:pP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V - </a:t>
            </a: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輸出權重</a:t>
            </a: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1200150" lvl="3" indent="-285750">
              <a:buFont typeface="Wingdings" panose="05000000000000000000" pitchFamily="2" charset="2"/>
              <a:buChar char="l"/>
            </a:pP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控制隱藏狀態如何轉換為輸出</a:t>
            </a:r>
            <a:endParaRPr lang="en-US" altLang="zh-TW" sz="20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200150" lvl="3" indent="-285750">
              <a:buFont typeface="Wingdings" panose="05000000000000000000" pitchFamily="2" charset="2"/>
              <a:buChar char="l"/>
            </a:pPr>
            <a:endParaRPr lang="en-US" altLang="zh-TW" sz="20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核心公式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sz="32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F91BCA-EE37-4223-B8DD-F889F00A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b="1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pPr/>
              <a:t>5</a:t>
            </a:fld>
            <a:endParaRPr lang="en-US" b="1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912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ADD589D-3C5F-4BEC-8C00-B7AC338699AB}"/>
              </a:ext>
            </a:extLst>
          </p:cNvPr>
          <p:cNvSpPr/>
          <p:nvPr/>
        </p:nvSpPr>
        <p:spPr>
          <a:xfrm>
            <a:off x="2203686" y="856142"/>
            <a:ext cx="8609729" cy="11079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7200" dirty="0" err="1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實際例子：詞性標注</a:t>
            </a: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 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3606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假設我們要標注「我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吃 </a:t>
            </a: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蘋果」這個句子的詞性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2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當</a:t>
            </a:r>
            <a:r>
              <a:rPr lang="zh-TW" alt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RNN</a:t>
            </a:r>
            <a:r>
              <a:rPr lang="zh-TW" alt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處理到「蘋果」時,它會記得前面的「吃」是動詞</a:t>
            </a:r>
            <a:endParaRPr lang="en-US" altLang="zh-TW" sz="32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因此判斷「蘋果」更可能是名詞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因為動詞後面通常接名詞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核心公式</a:t>
            </a:r>
            <a:r>
              <a:rPr lang="en-US" altLang="zh-TW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A63CC038-5DB4-410D-A04B-6A58387471AC}"/>
              </a:ext>
            </a:extLst>
          </p:cNvPr>
          <p:cNvSpPr>
            <a:spLocks noChangeAspect="1"/>
          </p:cNvSpPr>
          <p:nvPr/>
        </p:nvSpPr>
        <p:spPr>
          <a:xfrm rot="5249200">
            <a:off x="-1247414" y="224311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AEE572D-0458-4478-AA05-DF7A841FD94C}"/>
              </a:ext>
            </a:extLst>
          </p:cNvPr>
          <p:cNvSpPr/>
          <p:nvPr/>
        </p:nvSpPr>
        <p:spPr>
          <a:xfrm>
            <a:off x="5410200" y="4535314"/>
            <a:ext cx="65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942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A5C47C7-F63A-49C1-B126-1060BAD4CCDE}"/>
              </a:ext>
            </a:extLst>
          </p:cNvPr>
          <p:cNvSpPr/>
          <p:nvPr/>
        </p:nvSpPr>
        <p:spPr>
          <a:xfrm>
            <a:off x="6438900" y="4535314"/>
            <a:ext cx="65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942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68F975F0-2761-46C5-B7EC-F13C08490B1E}"/>
              </a:ext>
            </a:extLst>
          </p:cNvPr>
          <p:cNvSpPr/>
          <p:nvPr/>
        </p:nvSpPr>
        <p:spPr>
          <a:xfrm>
            <a:off x="7010400" y="4535314"/>
            <a:ext cx="65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942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21CC73C-BBF6-4FC4-8120-F26B0F5A5214}"/>
              </a:ext>
            </a:extLst>
          </p:cNvPr>
          <p:cNvSpPr/>
          <p:nvPr/>
        </p:nvSpPr>
        <p:spPr>
          <a:xfrm>
            <a:off x="5841904" y="3161701"/>
            <a:ext cx="771885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8A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我</a:t>
            </a:r>
            <a:endParaRPr lang="en-US" sz="3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FD9D8DC-C715-49E3-AF5E-B3C9DEB0DD8B}"/>
              </a:ext>
            </a:extLst>
          </p:cNvPr>
          <p:cNvSpPr/>
          <p:nvPr/>
        </p:nvSpPr>
        <p:spPr>
          <a:xfrm>
            <a:off x="5880497" y="3687577"/>
            <a:ext cx="69469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名詞</a:t>
            </a:r>
            <a:endParaRPr lang="en-US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0973D172-AC21-46DD-A6D5-190FD6977E1F}"/>
              </a:ext>
            </a:extLst>
          </p:cNvPr>
          <p:cNvSpPr/>
          <p:nvPr/>
        </p:nvSpPr>
        <p:spPr>
          <a:xfrm>
            <a:off x="8566045" y="3161701"/>
            <a:ext cx="771885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8A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吃</a:t>
            </a:r>
            <a:endParaRPr lang="en-US" sz="3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59B4568-E3E8-40E8-B79C-09E4C75E73DE}"/>
              </a:ext>
            </a:extLst>
          </p:cNvPr>
          <p:cNvSpPr/>
          <p:nvPr/>
        </p:nvSpPr>
        <p:spPr>
          <a:xfrm>
            <a:off x="8604638" y="3677539"/>
            <a:ext cx="69469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動詞</a:t>
            </a:r>
            <a:endParaRPr lang="en-US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D58D395-070A-4734-A27F-AF197B01B09F}"/>
              </a:ext>
            </a:extLst>
          </p:cNvPr>
          <p:cNvSpPr/>
          <p:nvPr/>
        </p:nvSpPr>
        <p:spPr>
          <a:xfrm>
            <a:off x="11033721" y="3161701"/>
            <a:ext cx="1543768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8A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蘋果</a:t>
            </a:r>
            <a:endParaRPr lang="en-US" sz="3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CF710ADC-CBD1-4695-9C55-FE926F7459FA}"/>
              </a:ext>
            </a:extLst>
          </p:cNvPr>
          <p:cNvSpPr/>
          <p:nvPr/>
        </p:nvSpPr>
        <p:spPr>
          <a:xfrm>
            <a:off x="11458256" y="3692601"/>
            <a:ext cx="69469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名詞</a:t>
            </a:r>
            <a:endParaRPr lang="en-US" sz="16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75B4D4F4-0D48-40E6-8629-8E21A29AB13B}"/>
              </a:ext>
            </a:extLst>
          </p:cNvPr>
          <p:cNvSpPr/>
          <p:nvPr/>
        </p:nvSpPr>
        <p:spPr>
          <a:xfrm>
            <a:off x="5410200" y="5355895"/>
            <a:ext cx="65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889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847A1164-6386-4DC6-8B71-AAA0500C7914}"/>
              </a:ext>
            </a:extLst>
          </p:cNvPr>
          <p:cNvSpPr/>
          <p:nvPr/>
        </p:nvSpPr>
        <p:spPr>
          <a:xfrm>
            <a:off x="7031831" y="5355895"/>
            <a:ext cx="65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889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6ECF0EE8-30B2-4CEE-B11B-8921FE7955C4}"/>
              </a:ext>
            </a:extLst>
          </p:cNvPr>
          <p:cNvSpPr/>
          <p:nvPr/>
        </p:nvSpPr>
        <p:spPr>
          <a:xfrm>
            <a:off x="8367713" y="5355895"/>
            <a:ext cx="65" cy="1368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889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339CA19E-7249-4582-A920-8001BE873C6D}"/>
              </a:ext>
            </a:extLst>
          </p:cNvPr>
          <p:cNvSpPr/>
          <p:nvPr/>
        </p:nvSpPr>
        <p:spPr>
          <a:xfrm>
            <a:off x="2609854" y="6025839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1B68C422-EDA0-4208-BE50-91C69D06AC51}"/>
              </a:ext>
            </a:extLst>
          </p:cNvPr>
          <p:cNvSpPr/>
          <p:nvPr/>
        </p:nvSpPr>
        <p:spPr>
          <a:xfrm>
            <a:off x="2609854" y="6166459"/>
            <a:ext cx="9720262" cy="1740504"/>
          </a:xfrm>
          <a:prstGeom prst="rect">
            <a:avLst/>
          </a:prstGeom>
          <a:solidFill>
            <a:srgbClr val="DAC8B8"/>
          </a:solidFill>
          <a:ln/>
        </p:spPr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39F33D62-F6CE-4377-9514-DC352D620D84}"/>
              </a:ext>
            </a:extLst>
          </p:cNvPr>
          <p:cNvSpPr/>
          <p:nvPr/>
        </p:nvSpPr>
        <p:spPr>
          <a:xfrm>
            <a:off x="3391406" y="6318732"/>
            <a:ext cx="455253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h</a:t>
            </a: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0BCA0FE0-2828-425B-8DDA-BAC327EFC258}"/>
              </a:ext>
            </a:extLst>
          </p:cNvPr>
          <p:cNvSpPr/>
          <p:nvPr/>
        </p:nvSpPr>
        <p:spPr>
          <a:xfrm>
            <a:off x="3880076" y="6664191"/>
            <a:ext cx="10259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0CD25B92-1199-4C25-9C0C-B44827997423}"/>
              </a:ext>
            </a:extLst>
          </p:cNvPr>
          <p:cNvSpPr/>
          <p:nvPr/>
        </p:nvSpPr>
        <p:spPr>
          <a:xfrm>
            <a:off x="4227100" y="6287734"/>
            <a:ext cx="2372444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f(U × x</a:t>
            </a: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08D944B7-0D95-43A2-B164-BAE808FB2FA2}"/>
              </a:ext>
            </a:extLst>
          </p:cNvPr>
          <p:cNvSpPr/>
          <p:nvPr/>
        </p:nvSpPr>
        <p:spPr>
          <a:xfrm>
            <a:off x="6817296" y="6615766"/>
            <a:ext cx="10259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CA771E40-D176-48A2-A6A5-CC9FED345911}"/>
              </a:ext>
            </a:extLst>
          </p:cNvPr>
          <p:cNvSpPr/>
          <p:nvPr/>
        </p:nvSpPr>
        <p:spPr>
          <a:xfrm>
            <a:off x="6920917" y="6330716"/>
            <a:ext cx="2186496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+ W × h</a:t>
            </a: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651BEBFC-1A42-4753-87E7-03D143269A37}"/>
              </a:ext>
            </a:extLst>
          </p:cNvPr>
          <p:cNvSpPr/>
          <p:nvPr/>
        </p:nvSpPr>
        <p:spPr>
          <a:xfrm>
            <a:off x="9238320" y="6638493"/>
            <a:ext cx="35907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AB39E379-E528-48D1-9191-C4CAFE716539}"/>
              </a:ext>
            </a:extLst>
          </p:cNvPr>
          <p:cNvSpPr/>
          <p:nvPr/>
        </p:nvSpPr>
        <p:spPr>
          <a:xfrm>
            <a:off x="9710917" y="6307990"/>
            <a:ext cx="341440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CCC21C39-B6AA-48AD-B29F-DB94D2C44E1E}"/>
              </a:ext>
            </a:extLst>
          </p:cNvPr>
          <p:cNvSpPr/>
          <p:nvPr/>
        </p:nvSpPr>
        <p:spPr>
          <a:xfrm>
            <a:off x="3387343" y="7063431"/>
            <a:ext cx="423193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o</a:t>
            </a:r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9D039E0A-7511-4A4A-AF17-F8394F7C717D}"/>
              </a:ext>
            </a:extLst>
          </p:cNvPr>
          <p:cNvSpPr/>
          <p:nvPr/>
        </p:nvSpPr>
        <p:spPr>
          <a:xfrm>
            <a:off x="3922279" y="7361702"/>
            <a:ext cx="10259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07421CAC-F7AF-40D7-BC71-DA13922D3086}"/>
              </a:ext>
            </a:extLst>
          </p:cNvPr>
          <p:cNvSpPr/>
          <p:nvPr/>
        </p:nvSpPr>
        <p:spPr>
          <a:xfrm>
            <a:off x="4236003" y="7136921"/>
            <a:ext cx="2499082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g(V × h</a:t>
            </a: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0947DEFE-7C00-4269-8E8B-CC4F89BDC4F3}"/>
              </a:ext>
            </a:extLst>
          </p:cNvPr>
          <p:cNvSpPr/>
          <p:nvPr/>
        </p:nvSpPr>
        <p:spPr>
          <a:xfrm>
            <a:off x="6909125" y="7451976"/>
            <a:ext cx="10259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8" name="Text 27">
            <a:extLst>
              <a:ext uri="{FF2B5EF4-FFF2-40B4-BE49-F238E27FC236}">
                <a16:creationId xmlns:a16="http://schemas.microsoft.com/office/drawing/2014/main" id="{366D2936-4A68-43C0-BECE-854BC6132141}"/>
              </a:ext>
            </a:extLst>
          </p:cNvPr>
          <p:cNvSpPr/>
          <p:nvPr/>
        </p:nvSpPr>
        <p:spPr>
          <a:xfrm>
            <a:off x="7103645" y="7136921"/>
            <a:ext cx="341440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AA580E42-BB78-46D8-B46D-3DAB2F100A49}"/>
              </a:ext>
            </a:extLst>
          </p:cNvPr>
          <p:cNvSpPr/>
          <p:nvPr/>
        </p:nvSpPr>
        <p:spPr>
          <a:xfrm>
            <a:off x="2836395" y="8360436"/>
            <a:ext cx="179536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42DF3C47-68B5-40E7-90F4-E02F54A4022D}"/>
              </a:ext>
            </a:extLst>
          </p:cNvPr>
          <p:cNvSpPr/>
          <p:nvPr/>
        </p:nvSpPr>
        <p:spPr>
          <a:xfrm>
            <a:off x="3037750" y="8497662"/>
            <a:ext cx="10259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997E3A31-245E-41B8-9F61-6685D43B8BBF}"/>
              </a:ext>
            </a:extLst>
          </p:cNvPr>
          <p:cNvSpPr/>
          <p:nvPr/>
        </p:nvSpPr>
        <p:spPr>
          <a:xfrm>
            <a:off x="3402184" y="8436107"/>
            <a:ext cx="2723502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當前時刻的輸入</a:t>
            </a:r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9892332A-F36E-4F0B-B140-EF0F6AD5E3BC}"/>
              </a:ext>
            </a:extLst>
          </p:cNvPr>
          <p:cNvSpPr/>
          <p:nvPr/>
        </p:nvSpPr>
        <p:spPr>
          <a:xfrm>
            <a:off x="7161857" y="8377652"/>
            <a:ext cx="200376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ED3BD941-65A5-4612-B2D2-1E58C45566F6}"/>
              </a:ext>
            </a:extLst>
          </p:cNvPr>
          <p:cNvSpPr/>
          <p:nvPr/>
        </p:nvSpPr>
        <p:spPr>
          <a:xfrm>
            <a:off x="7420228" y="8484283"/>
            <a:ext cx="35907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20ECA54C-A085-452F-A098-A57B0E5323DB}"/>
              </a:ext>
            </a:extLst>
          </p:cNvPr>
          <p:cNvSpPr/>
          <p:nvPr/>
        </p:nvSpPr>
        <p:spPr>
          <a:xfrm>
            <a:off x="7957124" y="8397168"/>
            <a:ext cx="4372992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上一時刻的隱藏狀態(記憶)</a:t>
            </a:r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2B725575-B119-4ED2-8276-9BD15E25E617}"/>
              </a:ext>
            </a:extLst>
          </p:cNvPr>
          <p:cNvSpPr/>
          <p:nvPr/>
        </p:nvSpPr>
        <p:spPr>
          <a:xfrm>
            <a:off x="2827274" y="8821506"/>
            <a:ext cx="200376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46" name="Text 35">
            <a:extLst>
              <a:ext uri="{FF2B5EF4-FFF2-40B4-BE49-F238E27FC236}">
                <a16:creationId xmlns:a16="http://schemas.microsoft.com/office/drawing/2014/main" id="{9BAA21A6-72F4-4D6A-B0B0-D99C074883C4}"/>
              </a:ext>
            </a:extLst>
          </p:cNvPr>
          <p:cNvSpPr/>
          <p:nvPr/>
        </p:nvSpPr>
        <p:spPr>
          <a:xfrm>
            <a:off x="3039345" y="8965797"/>
            <a:ext cx="10259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37DB23B1-C16D-4D4B-BDF9-61F63A90F4B5}"/>
              </a:ext>
            </a:extLst>
          </p:cNvPr>
          <p:cNvSpPr/>
          <p:nvPr/>
        </p:nvSpPr>
        <p:spPr>
          <a:xfrm>
            <a:off x="3406175" y="8898525"/>
            <a:ext cx="3411190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當前時刻的隱藏狀態</a:t>
            </a:r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1381BFF7-9400-4534-B655-656D00233D4A}"/>
              </a:ext>
            </a:extLst>
          </p:cNvPr>
          <p:cNvSpPr/>
          <p:nvPr/>
        </p:nvSpPr>
        <p:spPr>
          <a:xfrm>
            <a:off x="7163286" y="8792690"/>
            <a:ext cx="179536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19411DAC-985A-47E6-B164-E1AED1A47892}"/>
              </a:ext>
            </a:extLst>
          </p:cNvPr>
          <p:cNvSpPr/>
          <p:nvPr/>
        </p:nvSpPr>
        <p:spPr>
          <a:xfrm>
            <a:off x="7405960" y="8904737"/>
            <a:ext cx="10259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41ECC164-C8E3-49DF-95DB-A804EF5C7876}"/>
              </a:ext>
            </a:extLst>
          </p:cNvPr>
          <p:cNvSpPr/>
          <p:nvPr/>
        </p:nvSpPr>
        <p:spPr>
          <a:xfrm>
            <a:off x="7957124" y="8896926"/>
            <a:ext cx="2723502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當前時刻的輸出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9671D3-9117-4DB3-ADD5-482A0CF8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b="1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pPr/>
              <a:t>6</a:t>
            </a:fld>
            <a:endParaRPr lang="en-US" b="1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39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39266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altLang="zh-TW" sz="7200" dirty="0" err="1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RNN的限制與改進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 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6EE25D80-740E-48C2-AC07-730356A79277}"/>
              </a:ext>
            </a:extLst>
          </p:cNvPr>
          <p:cNvSpPr txBox="1"/>
          <p:nvPr/>
        </p:nvSpPr>
        <p:spPr>
          <a:xfrm>
            <a:off x="2227748" y="2294444"/>
            <a:ext cx="15450652" cy="5904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主要限制</a:t>
            </a:r>
            <a:r>
              <a:rPr lang="en-US" altLang="zh-TW" sz="3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梯度消失</a:t>
            </a: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當序列很長時,梯度在反向傳播過程中會變得</a:t>
            </a:r>
            <a:r>
              <a:rPr lang="en-US" altLang="zh-TW" sz="24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極小</a:t>
            </a: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,導致模型無法學習長期依賴關係</a:t>
            </a:r>
            <a:r>
              <a:rPr lang="en-US" altLang="zh-TW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就像訊息傳遞太遠會逐漸消失</a:t>
            </a:r>
            <a:r>
              <a:rPr lang="en-US" altLang="zh-TW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梯度</a:t>
            </a: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爆炸</a:t>
            </a: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梯度值變得</a:t>
            </a:r>
            <a:r>
              <a:rPr lang="en-US" altLang="zh-TW" sz="24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極大</a:t>
            </a: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,導致模型參數更新過度,訓練不穩定</a:t>
            </a:r>
            <a:r>
              <a:rPr lang="en-US" altLang="zh-TW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4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就像訊息被過度放大而失真</a:t>
            </a:r>
            <a:r>
              <a:rPr lang="en-US" altLang="zh-TW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改進方案</a:t>
            </a:r>
            <a:r>
              <a:rPr lang="en-US" altLang="zh-TW" sz="3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10800000">
            <a:off x="-533400" y="-986432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007631"/>
            <a:ext cx="65" cy="10156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66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640358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704A0A14-E9B7-4CBE-AA4D-583A0AF839FB}"/>
              </a:ext>
            </a:extLst>
          </p:cNvPr>
          <p:cNvSpPr/>
          <p:nvPr/>
        </p:nvSpPr>
        <p:spPr>
          <a:xfrm>
            <a:off x="1102345" y="7440282"/>
            <a:ext cx="8001000" cy="2307564"/>
          </a:xfrm>
          <a:prstGeom prst="rect">
            <a:avLst/>
          </a:prstGeom>
          <a:solidFill>
            <a:srgbClr val="DAC8B8"/>
          </a:solidFill>
          <a:ln/>
        </p:spPr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B200FE9F-A0AF-4D42-93AB-60AA82E33C05}"/>
              </a:ext>
            </a:extLst>
          </p:cNvPr>
          <p:cNvSpPr/>
          <p:nvPr/>
        </p:nvSpPr>
        <p:spPr>
          <a:xfrm>
            <a:off x="1306452" y="7638664"/>
            <a:ext cx="6115457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LSTM (Long Short-Term Memory) </a:t>
            </a: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C0F5D7BE-2D21-46D8-B2B8-D235E9E08187}"/>
              </a:ext>
            </a:extLst>
          </p:cNvPr>
          <p:cNvSpPr/>
          <p:nvPr/>
        </p:nvSpPr>
        <p:spPr>
          <a:xfrm>
            <a:off x="1306452" y="8128967"/>
            <a:ext cx="7630654" cy="1335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長短期記憶網路,透過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門控機制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輸入門、遺忘門、輸出門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來控制資訊的流動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能夠有效記住長期依賴關係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  <a:p>
            <a:pPr>
              <a:lnSpc>
                <a:spcPct val="150000"/>
              </a:lnSpc>
            </a:pP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優勢：能處理</a:t>
            </a:r>
            <a:r>
              <a:rPr lang="zh-TW" altLang="en-US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更長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時間步的長序列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是目前最常用的RNN變體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7D8EBE56-616F-45FB-829E-2823B5178D80}"/>
              </a:ext>
            </a:extLst>
          </p:cNvPr>
          <p:cNvSpPr/>
          <p:nvPr/>
        </p:nvSpPr>
        <p:spPr>
          <a:xfrm>
            <a:off x="9720877" y="7440283"/>
            <a:ext cx="8001000" cy="2307564"/>
          </a:xfrm>
          <a:prstGeom prst="rect">
            <a:avLst/>
          </a:prstGeom>
          <a:solidFill>
            <a:srgbClr val="DAC8B8"/>
          </a:solidFill>
          <a:ln/>
        </p:spPr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BEB87D68-44C3-4876-A72D-DD686E5E748B}"/>
              </a:ext>
            </a:extLst>
          </p:cNvPr>
          <p:cNvSpPr/>
          <p:nvPr/>
        </p:nvSpPr>
        <p:spPr>
          <a:xfrm>
            <a:off x="9941430" y="7638663"/>
            <a:ext cx="5134354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GRU (Gated Recurrent Unit) </a:t>
            </a:r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4D06B9BB-17DD-4DB0-B3CF-7D093CA8FFAC}"/>
              </a:ext>
            </a:extLst>
          </p:cNvPr>
          <p:cNvSpPr/>
          <p:nvPr/>
        </p:nvSpPr>
        <p:spPr>
          <a:xfrm>
            <a:off x="9941430" y="8109725"/>
            <a:ext cx="7453876" cy="13358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門控循環單元,是LSTM的簡化版本</a:t>
            </a:r>
            <a:r>
              <a:rPr lang="en-US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只使用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兩個門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重置門、更新門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),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參數更少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訓練更快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  <a:p>
            <a:pPr>
              <a:lnSpc>
                <a:spcPct val="150000"/>
              </a:lnSpc>
            </a:pP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優勢：效果接近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LSTM 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但計算效率更高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dirty="0" err="1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適合資源受限的場景</a:t>
            </a:r>
            <a:r>
              <a:rPr lang="en-US" altLang="zh-TW" sz="2000" b="1" dirty="0">
                <a:solidFill>
                  <a:srgbClr val="653C27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4A12EC-7D43-49D3-8B75-5E1E3AF9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b="1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pPr/>
              <a:t>7</a:t>
            </a:fld>
            <a:endParaRPr lang="en-US" b="1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355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1"/>
          <p:cNvSpPr txBox="1"/>
          <p:nvPr/>
        </p:nvSpPr>
        <p:spPr>
          <a:xfrm>
            <a:off x="1676400" y="751685"/>
            <a:ext cx="139266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en-US" altLang="zh-TW" sz="7200" dirty="0" err="1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什麼是LSTM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 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6EE25D80-740E-48C2-AC07-730356A79277}"/>
              </a:ext>
            </a:extLst>
          </p:cNvPr>
          <p:cNvSpPr txBox="1"/>
          <p:nvPr/>
        </p:nvSpPr>
        <p:spPr>
          <a:xfrm>
            <a:off x="1846813" y="2183307"/>
            <a:ext cx="15374387" cy="7410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LSTM = Long Short-Term </a:t>
            </a:r>
            <a:r>
              <a:rPr lang="en-US" altLang="zh-TW" sz="36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Memory，長短期記憶網路</a:t>
            </a:r>
            <a:r>
              <a:rPr lang="en-US" altLang="zh-TW" sz="3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LSTM </a:t>
            </a: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就像一個有筆記本的大腦</a:t>
            </a:r>
            <a:r>
              <a:rPr lang="zh-TW" alt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它不僅能記住最近的事情，還能選擇性地記住很久以前的重要資訊，並且知道什麼時候該忘記不重要的事情</a:t>
            </a:r>
            <a:r>
              <a:rPr lang="en-US" altLang="zh-TW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優點</a:t>
            </a:r>
            <a:endParaRPr lang="en-US" altLang="zh-TW" sz="36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長期記憶能力</a:t>
            </a: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能記住</a:t>
            </a:r>
            <a:r>
              <a:rPr lang="zh-TW" alt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更長</a:t>
            </a: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時間步之前的資訊</a:t>
            </a: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選擇性記憶</a:t>
            </a: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透過門控機制決定記住或遺忘</a:t>
            </a: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梯度穩定</a:t>
            </a:r>
            <a:endParaRPr lang="en-US" altLang="zh-TW" sz="28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有效解決RNN的梯度消失問題</a:t>
            </a:r>
            <a:endParaRPr lang="en-US" altLang="zh-TW" sz="2800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2282447">
            <a:off x="-673939" y="8435643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007631"/>
            <a:ext cx="65" cy="10156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66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640358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4A12EC-7D43-49D3-8B75-5E1E3AF9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026" name="Picture 2" descr="The Ultimate Guide to Building Your Own LSTM Models">
            <a:extLst>
              <a:ext uri="{FF2B5EF4-FFF2-40B4-BE49-F238E27FC236}">
                <a16:creationId xmlns:a16="http://schemas.microsoft.com/office/drawing/2014/main" id="{AF255149-ED73-41D1-A803-0C2A4C311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525" y="4689085"/>
            <a:ext cx="9896475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88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3001" y="403266"/>
            <a:ext cx="9351919" cy="11079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4050" b="1" dirty="0">
                <a:solidFill>
                  <a:srgbClr val="3F26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7200" dirty="0" err="1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LSTM的結構</a:t>
            </a: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 - </a:t>
            </a:r>
            <a:r>
              <a:rPr lang="en-US" sz="7200" dirty="0" err="1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記憶元</a:t>
            </a: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 </a:t>
            </a: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1" y="1771650"/>
            <a:ext cx="385762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3063" y="1747853"/>
            <a:ext cx="536525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記憶元 (Cell State) - LSTM的核心 </a:t>
            </a:r>
          </a:p>
        </p:txBody>
      </p:sp>
      <p:sp>
        <p:nvSpPr>
          <p:cNvPr id="6" name="Text 2"/>
          <p:cNvSpPr/>
          <p:nvPr/>
        </p:nvSpPr>
        <p:spPr>
          <a:xfrm>
            <a:off x="1143000" y="2450009"/>
            <a:ext cx="330699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記憶元（Cell State，符號為 </a:t>
            </a:r>
          </a:p>
        </p:txBody>
      </p:sp>
      <p:sp>
        <p:nvSpPr>
          <p:cNvPr id="7" name="Text 3"/>
          <p:cNvSpPr/>
          <p:nvPr/>
        </p:nvSpPr>
        <p:spPr>
          <a:xfrm>
            <a:off x="4386820" y="2450009"/>
            <a:ext cx="18594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8" name="Text 4"/>
          <p:cNvSpPr/>
          <p:nvPr/>
        </p:nvSpPr>
        <p:spPr>
          <a:xfrm>
            <a:off x="4572558" y="2550438"/>
            <a:ext cx="68930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" name="Text 5"/>
          <p:cNvSpPr/>
          <p:nvPr/>
        </p:nvSpPr>
        <p:spPr>
          <a:xfrm>
            <a:off x="4636796" y="2450009"/>
            <a:ext cx="483145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en-US" sz="2000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是LSTM最重要的組成部分，它就像一條</a:t>
            </a:r>
            <a:endParaRPr lang="en-US" sz="2000" b="1" dirty="0">
              <a:solidFill>
                <a:srgbClr val="3F2619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437509" y="2450009"/>
            <a:ext cx="153888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資訊高速公路</a:t>
            </a:r>
          </a:p>
        </p:txBody>
      </p:sp>
      <p:sp>
        <p:nvSpPr>
          <p:cNvPr id="11" name="Text 7"/>
          <p:cNvSpPr/>
          <p:nvPr/>
        </p:nvSpPr>
        <p:spPr>
          <a:xfrm>
            <a:off x="10980558" y="2450009"/>
            <a:ext cx="25648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或</a:t>
            </a:r>
          </a:p>
        </p:txBody>
      </p:sp>
      <p:sp>
        <p:nvSpPr>
          <p:cNvPr id="12" name="Text 8"/>
          <p:cNvSpPr/>
          <p:nvPr/>
        </p:nvSpPr>
        <p:spPr>
          <a:xfrm>
            <a:off x="11237733" y="2450009"/>
            <a:ext cx="76944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傳送帶</a:t>
            </a:r>
          </a:p>
        </p:txBody>
      </p:sp>
      <p:sp>
        <p:nvSpPr>
          <p:cNvPr id="13" name="Text 9"/>
          <p:cNvSpPr/>
          <p:nvPr/>
        </p:nvSpPr>
        <p:spPr>
          <a:xfrm>
            <a:off x="12009258" y="2450009"/>
            <a:ext cx="487312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，貫穿整個序列，讓資訊可以不經改變地流</a:t>
            </a:r>
          </a:p>
        </p:txBody>
      </p:sp>
      <p:sp>
        <p:nvSpPr>
          <p:cNvPr id="14" name="Text 10"/>
          <p:cNvSpPr/>
          <p:nvPr/>
        </p:nvSpPr>
        <p:spPr>
          <a:xfrm>
            <a:off x="1208214" y="2869021"/>
            <a:ext cx="2109552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過很長的時間步。 </a:t>
            </a:r>
          </a:p>
        </p:txBody>
      </p:sp>
      <p:sp>
        <p:nvSpPr>
          <p:cNvPr id="15" name="Text 11"/>
          <p:cNvSpPr/>
          <p:nvPr/>
        </p:nvSpPr>
        <p:spPr>
          <a:xfrm>
            <a:off x="1143001" y="3623541"/>
            <a:ext cx="2648161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記憶元的三大特性</a:t>
            </a:r>
            <a:r>
              <a:rPr lang="en-US" sz="28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278" y="3545086"/>
            <a:ext cx="675084" cy="6000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49369" y="4299824"/>
            <a:ext cx="2006961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資訊高速公路 </a:t>
            </a:r>
          </a:p>
        </p:txBody>
      </p:sp>
      <p:sp>
        <p:nvSpPr>
          <p:cNvPr id="18" name="Text 13"/>
          <p:cNvSpPr/>
          <p:nvPr/>
        </p:nvSpPr>
        <p:spPr>
          <a:xfrm>
            <a:off x="3222834" y="4817478"/>
            <a:ext cx="386003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資訊可以快速流過整個序列,不會衰減 </a:t>
            </a: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1064" y="3545086"/>
            <a:ext cx="600076" cy="6000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751540" y="4299824"/>
            <a:ext cx="169918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選擇性更新 </a:t>
            </a:r>
          </a:p>
        </p:txBody>
      </p:sp>
      <p:sp>
        <p:nvSpPr>
          <p:cNvPr id="21" name="Text 15"/>
          <p:cNvSpPr/>
          <p:nvPr/>
        </p:nvSpPr>
        <p:spPr>
          <a:xfrm>
            <a:off x="8472344" y="4817478"/>
            <a:ext cx="425757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透過門控機制決定要加入或移除哪些資訊 </a:t>
            </a: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9402" y="3545086"/>
            <a:ext cx="600076" cy="6000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353734" y="4299824"/>
            <a:ext cx="1391408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梯度保護 </a:t>
            </a:r>
          </a:p>
        </p:txBody>
      </p:sp>
      <p:sp>
        <p:nvSpPr>
          <p:cNvPr id="24" name="Text 17"/>
          <p:cNvSpPr/>
          <p:nvPr/>
        </p:nvSpPr>
        <p:spPr>
          <a:xfrm>
            <a:off x="14119424" y="4817478"/>
            <a:ext cx="386003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避免梯度消失,讓模型能學習長期依賴 </a:t>
            </a:r>
          </a:p>
        </p:txBody>
      </p:sp>
      <p:sp>
        <p:nvSpPr>
          <p:cNvPr id="25" name="Text 18"/>
          <p:cNvSpPr/>
          <p:nvPr/>
        </p:nvSpPr>
        <p:spPr>
          <a:xfrm>
            <a:off x="1121067" y="5517353"/>
            <a:ext cx="2625719" cy="3810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47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記憶元的更新公式</a:t>
            </a:r>
            <a:r>
              <a:rPr lang="en-US" sz="247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Shape 19"/>
          <p:cNvSpPr/>
          <p:nvPr/>
        </p:nvSpPr>
        <p:spPr>
          <a:xfrm>
            <a:off x="1121066" y="6115048"/>
            <a:ext cx="16002000" cy="94297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0"/>
          <p:cNvSpPr/>
          <p:nvPr/>
        </p:nvSpPr>
        <p:spPr>
          <a:xfrm>
            <a:off x="7495988" y="6401393"/>
            <a:ext cx="309380" cy="3810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7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</a:t>
            </a:r>
          </a:p>
        </p:txBody>
      </p:sp>
      <p:sp>
        <p:nvSpPr>
          <p:cNvPr id="28" name="Text 21"/>
          <p:cNvSpPr/>
          <p:nvPr/>
        </p:nvSpPr>
        <p:spPr>
          <a:xfrm>
            <a:off x="7766591" y="6544827"/>
            <a:ext cx="73738" cy="265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72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9" name="Text 22"/>
          <p:cNvSpPr/>
          <p:nvPr/>
        </p:nvSpPr>
        <p:spPr>
          <a:xfrm>
            <a:off x="7850546" y="6401393"/>
            <a:ext cx="447238" cy="3810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7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f</a:t>
            </a:r>
          </a:p>
        </p:txBody>
      </p:sp>
      <p:sp>
        <p:nvSpPr>
          <p:cNvPr id="30" name="Text 23"/>
          <p:cNvSpPr/>
          <p:nvPr/>
        </p:nvSpPr>
        <p:spPr>
          <a:xfrm>
            <a:off x="8308009" y="6544827"/>
            <a:ext cx="73738" cy="265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72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1" name="Text 24"/>
          <p:cNvSpPr/>
          <p:nvPr/>
        </p:nvSpPr>
        <p:spPr>
          <a:xfrm>
            <a:off x="8388673" y="6401393"/>
            <a:ext cx="706925" cy="3810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7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⊙ C</a:t>
            </a:r>
          </a:p>
        </p:txBody>
      </p:sp>
      <p:sp>
        <p:nvSpPr>
          <p:cNvPr id="32" name="Text 25"/>
          <p:cNvSpPr/>
          <p:nvPr/>
        </p:nvSpPr>
        <p:spPr>
          <a:xfrm>
            <a:off x="9115166" y="6544827"/>
            <a:ext cx="258083" cy="265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72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33" name="Text 26"/>
          <p:cNvSpPr/>
          <p:nvPr/>
        </p:nvSpPr>
        <p:spPr>
          <a:xfrm>
            <a:off x="9396275" y="6401393"/>
            <a:ext cx="429605" cy="3810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7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+ i</a:t>
            </a:r>
          </a:p>
        </p:txBody>
      </p:sp>
      <p:sp>
        <p:nvSpPr>
          <p:cNvPr id="34" name="Text 27"/>
          <p:cNvSpPr/>
          <p:nvPr/>
        </p:nvSpPr>
        <p:spPr>
          <a:xfrm>
            <a:off x="9836269" y="6544827"/>
            <a:ext cx="73738" cy="265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72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5" name="Text 28"/>
          <p:cNvSpPr/>
          <p:nvPr/>
        </p:nvSpPr>
        <p:spPr>
          <a:xfrm>
            <a:off x="9916936" y="6401393"/>
            <a:ext cx="706924" cy="3810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247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⊙ C̃</a:t>
            </a:r>
          </a:p>
        </p:txBody>
      </p:sp>
      <p:sp>
        <p:nvSpPr>
          <p:cNvPr id="36" name="Text 29"/>
          <p:cNvSpPr/>
          <p:nvPr/>
        </p:nvSpPr>
        <p:spPr>
          <a:xfrm>
            <a:off x="10630787" y="6544827"/>
            <a:ext cx="73738" cy="265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726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7" name="Shape 30"/>
          <p:cNvSpPr/>
          <p:nvPr/>
        </p:nvSpPr>
        <p:spPr>
          <a:xfrm>
            <a:off x="1121067" y="7229475"/>
            <a:ext cx="7829550" cy="1225154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8242" y="7493792"/>
            <a:ext cx="257176" cy="25717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749716" y="7479207"/>
            <a:ext cx="143629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遺忘部分：f</a:t>
            </a:r>
          </a:p>
        </p:txBody>
      </p:sp>
      <p:sp>
        <p:nvSpPr>
          <p:cNvPr id="40" name="Text 32"/>
          <p:cNvSpPr/>
          <p:nvPr/>
        </p:nvSpPr>
        <p:spPr>
          <a:xfrm>
            <a:off x="3192698" y="7579636"/>
            <a:ext cx="68930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1" name="Text 33"/>
          <p:cNvSpPr/>
          <p:nvPr/>
        </p:nvSpPr>
        <p:spPr>
          <a:xfrm>
            <a:off x="3256937" y="7479207"/>
            <a:ext cx="57066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⊙ C</a:t>
            </a:r>
          </a:p>
        </p:txBody>
      </p:sp>
      <p:sp>
        <p:nvSpPr>
          <p:cNvPr id="42" name="Text 34"/>
          <p:cNvSpPr/>
          <p:nvPr/>
        </p:nvSpPr>
        <p:spPr>
          <a:xfrm>
            <a:off x="3842778" y="7579636"/>
            <a:ext cx="240450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43" name="Text 35"/>
          <p:cNvSpPr/>
          <p:nvPr/>
        </p:nvSpPr>
        <p:spPr>
          <a:xfrm>
            <a:off x="1378243" y="7944654"/>
            <a:ext cx="89768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遺忘門(f</a:t>
            </a:r>
          </a:p>
        </p:txBody>
      </p:sp>
      <p:sp>
        <p:nvSpPr>
          <p:cNvPr id="44" name="Text 36"/>
          <p:cNvSpPr/>
          <p:nvPr/>
        </p:nvSpPr>
        <p:spPr>
          <a:xfrm>
            <a:off x="2203678" y="8041510"/>
            <a:ext cx="5931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5" name="Text 37"/>
          <p:cNvSpPr/>
          <p:nvPr/>
        </p:nvSpPr>
        <p:spPr>
          <a:xfrm>
            <a:off x="2251342" y="7944654"/>
            <a:ext cx="261289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)決定要保留多少舊記憶(C</a:t>
            </a:r>
          </a:p>
        </p:txBody>
      </p:sp>
      <p:sp>
        <p:nvSpPr>
          <p:cNvPr id="46" name="Text 38"/>
          <p:cNvSpPr/>
          <p:nvPr/>
        </p:nvSpPr>
        <p:spPr>
          <a:xfrm>
            <a:off x="4854680" y="8041510"/>
            <a:ext cx="20839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47" name="Text 39"/>
          <p:cNvSpPr/>
          <p:nvPr/>
        </p:nvSpPr>
        <p:spPr>
          <a:xfrm>
            <a:off x="5054760" y="7944654"/>
            <a:ext cx="13465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48" name="Shape 40"/>
          <p:cNvSpPr/>
          <p:nvPr/>
        </p:nvSpPr>
        <p:spPr>
          <a:xfrm>
            <a:off x="9293517" y="7229475"/>
            <a:ext cx="7829550" cy="1225154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0692" y="7493792"/>
            <a:ext cx="257176" cy="25717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9922166" y="7479207"/>
            <a:ext cx="141865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新增部分：i</a:t>
            </a:r>
          </a:p>
        </p:txBody>
      </p:sp>
      <p:sp>
        <p:nvSpPr>
          <p:cNvPr id="51" name="Text 42"/>
          <p:cNvSpPr/>
          <p:nvPr/>
        </p:nvSpPr>
        <p:spPr>
          <a:xfrm>
            <a:off x="11350972" y="7579636"/>
            <a:ext cx="68930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2" name="Text 43"/>
          <p:cNvSpPr/>
          <p:nvPr/>
        </p:nvSpPr>
        <p:spPr>
          <a:xfrm>
            <a:off x="11415211" y="7479207"/>
            <a:ext cx="57066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⊙ C̃</a:t>
            </a:r>
          </a:p>
        </p:txBody>
      </p:sp>
      <p:sp>
        <p:nvSpPr>
          <p:cNvPr id="53" name="Text 44"/>
          <p:cNvSpPr/>
          <p:nvPr/>
        </p:nvSpPr>
        <p:spPr>
          <a:xfrm>
            <a:off x="12001054" y="7579636"/>
            <a:ext cx="68930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4" name="Text 45"/>
          <p:cNvSpPr/>
          <p:nvPr/>
        </p:nvSpPr>
        <p:spPr>
          <a:xfrm>
            <a:off x="9550692" y="7944654"/>
            <a:ext cx="886461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輸入門(i</a:t>
            </a:r>
          </a:p>
        </p:txBody>
      </p:sp>
      <p:sp>
        <p:nvSpPr>
          <p:cNvPr id="55" name="Text 46"/>
          <p:cNvSpPr/>
          <p:nvPr/>
        </p:nvSpPr>
        <p:spPr>
          <a:xfrm>
            <a:off x="10363404" y="8041510"/>
            <a:ext cx="5931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6" name="Text 47"/>
          <p:cNvSpPr/>
          <p:nvPr/>
        </p:nvSpPr>
        <p:spPr>
          <a:xfrm>
            <a:off x="10411067" y="7944654"/>
            <a:ext cx="2616101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)決定要加入多少新資訊(C̃</a:t>
            </a:r>
          </a:p>
        </p:txBody>
      </p:sp>
      <p:sp>
        <p:nvSpPr>
          <p:cNvPr id="57" name="Text 48"/>
          <p:cNvSpPr/>
          <p:nvPr/>
        </p:nvSpPr>
        <p:spPr>
          <a:xfrm>
            <a:off x="13014406" y="8041510"/>
            <a:ext cx="59312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8" name="Text 49"/>
          <p:cNvSpPr/>
          <p:nvPr/>
        </p:nvSpPr>
        <p:spPr>
          <a:xfrm>
            <a:off x="13062068" y="7944654"/>
            <a:ext cx="13465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59" name="Shape 50"/>
          <p:cNvSpPr/>
          <p:nvPr/>
        </p:nvSpPr>
        <p:spPr>
          <a:xfrm>
            <a:off x="1121066" y="8740377"/>
            <a:ext cx="16002000" cy="130513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9667" y="9033270"/>
            <a:ext cx="192882" cy="257176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656848" y="9018685"/>
            <a:ext cx="139781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0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生活化比喻 </a:t>
            </a:r>
          </a:p>
        </p:txBody>
      </p:sp>
      <p:sp>
        <p:nvSpPr>
          <p:cNvPr id="62" name="Text 52"/>
          <p:cNvSpPr/>
          <p:nvPr/>
        </p:nvSpPr>
        <p:spPr>
          <a:xfrm>
            <a:off x="1349667" y="9494848"/>
            <a:ext cx="166712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記憶元就像一本</a:t>
            </a:r>
          </a:p>
        </p:txBody>
      </p:sp>
      <p:sp>
        <p:nvSpPr>
          <p:cNvPr id="63" name="Text 53"/>
          <p:cNvSpPr/>
          <p:nvPr/>
        </p:nvSpPr>
        <p:spPr>
          <a:xfrm>
            <a:off x="3041303" y="9494848"/>
            <a:ext cx="692497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筆記本</a:t>
            </a:r>
          </a:p>
        </p:txBody>
      </p:sp>
      <p:sp>
        <p:nvSpPr>
          <p:cNvPr id="64" name="Text 54"/>
          <p:cNvSpPr/>
          <p:nvPr/>
        </p:nvSpPr>
        <p:spPr>
          <a:xfrm>
            <a:off x="3635666" y="9494848"/>
            <a:ext cx="1287532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en-US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遺忘門決定要用橡皮擦擦掉哪些內容,輸入門決定要寫入哪些新內容。這樣筆記本就能保持最重要的資訊,丟棄不重要的內容</a:t>
            </a:r>
            <a:r>
              <a:rPr lang="en-US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。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3001" y="546142"/>
            <a:ext cx="9351919" cy="11079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4050" b="1" dirty="0">
                <a:solidFill>
                  <a:srgbClr val="3F26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LSTM的結構 - </a:t>
            </a:r>
            <a:r>
              <a:rPr lang="en-US" sz="7200" dirty="0" err="1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三個門</a:t>
            </a: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 </a:t>
            </a:r>
          </a:p>
        </p:txBody>
      </p:sp>
      <p:sp>
        <p:nvSpPr>
          <p:cNvPr id="4" name="Text 1"/>
          <p:cNvSpPr/>
          <p:nvPr/>
        </p:nvSpPr>
        <p:spPr>
          <a:xfrm>
            <a:off x="1143000" y="2014224"/>
            <a:ext cx="1231106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LSTM透過</a:t>
            </a:r>
          </a:p>
        </p:txBody>
      </p:sp>
      <p:sp>
        <p:nvSpPr>
          <p:cNvPr id="5" name="Text 2"/>
          <p:cNvSpPr/>
          <p:nvPr/>
        </p:nvSpPr>
        <p:spPr>
          <a:xfrm>
            <a:off x="2296717" y="2014224"/>
            <a:ext cx="1452321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三個門控機制</a:t>
            </a:r>
          </a:p>
        </p:txBody>
      </p:sp>
      <p:sp>
        <p:nvSpPr>
          <p:cNvPr id="6" name="Text 3"/>
          <p:cNvSpPr/>
          <p:nvPr/>
        </p:nvSpPr>
        <p:spPr>
          <a:xfrm>
            <a:off x="3839766" y="2014224"/>
            <a:ext cx="9736640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來精確控制資訊的流動，每個門都有特定的功能，就像守門員一樣決定哪些資訊可以通過。 </a:t>
            </a:r>
          </a:p>
        </p:txBody>
      </p:sp>
      <p:sp>
        <p:nvSpPr>
          <p:cNvPr id="7" name="Shape 4"/>
          <p:cNvSpPr/>
          <p:nvPr/>
        </p:nvSpPr>
        <p:spPr>
          <a:xfrm>
            <a:off x="1143000" y="2550263"/>
            <a:ext cx="16002000" cy="2206638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053896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57400" y="2997953"/>
            <a:ext cx="307776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遺忘門 Forget Gate </a:t>
            </a:r>
          </a:p>
        </p:txBody>
      </p:sp>
      <p:sp>
        <p:nvSpPr>
          <p:cNvPr id="10" name="Text 6"/>
          <p:cNvSpPr/>
          <p:nvPr/>
        </p:nvSpPr>
        <p:spPr>
          <a:xfrm>
            <a:off x="1600200" y="3650170"/>
            <a:ext cx="1074012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生活比喻：</a:t>
            </a:r>
          </a:p>
        </p:txBody>
      </p:sp>
      <p:sp>
        <p:nvSpPr>
          <p:cNvPr id="11" name="Text 7"/>
          <p:cNvSpPr/>
          <p:nvPr/>
        </p:nvSpPr>
        <p:spPr>
          <a:xfrm>
            <a:off x="2743201" y="3650170"/>
            <a:ext cx="644407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橡皮擦</a:t>
            </a:r>
          </a:p>
        </p:txBody>
      </p:sp>
      <p:sp>
        <p:nvSpPr>
          <p:cNvPr id="12" name="Text 8"/>
          <p:cNvSpPr/>
          <p:nvPr/>
        </p:nvSpPr>
        <p:spPr>
          <a:xfrm>
            <a:off x="1600201" y="4030184"/>
            <a:ext cx="3962623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決定要從記憶中擦掉哪些不重要的舊資訊 </a:t>
            </a:r>
          </a:p>
        </p:txBody>
      </p:sp>
      <p:sp>
        <p:nvSpPr>
          <p:cNvPr id="13" name="Text 9"/>
          <p:cNvSpPr/>
          <p:nvPr/>
        </p:nvSpPr>
        <p:spPr>
          <a:xfrm>
            <a:off x="6781762" y="3349656"/>
            <a:ext cx="14106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f</a:t>
            </a:r>
          </a:p>
        </p:txBody>
      </p:sp>
      <p:sp>
        <p:nvSpPr>
          <p:cNvPr id="14" name="Text 10"/>
          <p:cNvSpPr/>
          <p:nvPr/>
        </p:nvSpPr>
        <p:spPr>
          <a:xfrm>
            <a:off x="6937043" y="3462776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5" name="Text 11"/>
          <p:cNvSpPr/>
          <p:nvPr/>
        </p:nvSpPr>
        <p:spPr>
          <a:xfrm>
            <a:off x="6960357" y="3349656"/>
            <a:ext cx="713337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σ(W</a:t>
            </a:r>
          </a:p>
        </p:txBody>
      </p:sp>
      <p:sp>
        <p:nvSpPr>
          <p:cNvPr id="16" name="Text 12"/>
          <p:cNvSpPr/>
          <p:nvPr/>
        </p:nvSpPr>
        <p:spPr>
          <a:xfrm>
            <a:off x="7732830" y="3462776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7" name="Text 13"/>
          <p:cNvSpPr/>
          <p:nvPr/>
        </p:nvSpPr>
        <p:spPr>
          <a:xfrm>
            <a:off x="7804269" y="3349656"/>
            <a:ext cx="41838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· [h</a:t>
            </a:r>
          </a:p>
        </p:txBody>
      </p:sp>
      <p:sp>
        <p:nvSpPr>
          <p:cNvPr id="18" name="Text 14"/>
          <p:cNvSpPr/>
          <p:nvPr/>
        </p:nvSpPr>
        <p:spPr>
          <a:xfrm>
            <a:off x="8436490" y="3462776"/>
            <a:ext cx="211596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19" name="Text 15"/>
          <p:cNvSpPr/>
          <p:nvPr/>
        </p:nvSpPr>
        <p:spPr>
          <a:xfrm>
            <a:off x="8697236" y="3349656"/>
            <a:ext cx="250068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x</a:t>
            </a:r>
          </a:p>
        </p:txBody>
      </p:sp>
      <p:sp>
        <p:nvSpPr>
          <p:cNvPr id="20" name="Text 16"/>
          <p:cNvSpPr/>
          <p:nvPr/>
        </p:nvSpPr>
        <p:spPr>
          <a:xfrm>
            <a:off x="8979414" y="3462776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1" name="Text 17"/>
          <p:cNvSpPr/>
          <p:nvPr/>
        </p:nvSpPr>
        <p:spPr>
          <a:xfrm>
            <a:off x="9061568" y="3349656"/>
            <a:ext cx="474489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] + b</a:t>
            </a:r>
          </a:p>
        </p:txBody>
      </p:sp>
      <p:sp>
        <p:nvSpPr>
          <p:cNvPr id="22" name="Text 18"/>
          <p:cNvSpPr/>
          <p:nvPr/>
        </p:nvSpPr>
        <p:spPr>
          <a:xfrm>
            <a:off x="9586634" y="3462776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3" name="Text 19"/>
          <p:cNvSpPr/>
          <p:nvPr/>
        </p:nvSpPr>
        <p:spPr>
          <a:xfrm>
            <a:off x="9658070" y="3349656"/>
            <a:ext cx="14587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4" name="Text 20"/>
          <p:cNvSpPr/>
          <p:nvPr/>
        </p:nvSpPr>
        <p:spPr>
          <a:xfrm>
            <a:off x="6781762" y="3912397"/>
            <a:ext cx="3484928" cy="2253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6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輸出範圍: 0-1 (0=完全遺忘, 1=完全保留) </a:t>
            </a:r>
          </a:p>
        </p:txBody>
      </p:sp>
      <p:sp>
        <p:nvSpPr>
          <p:cNvPr id="25" name="Text 21"/>
          <p:cNvSpPr/>
          <p:nvPr/>
        </p:nvSpPr>
        <p:spPr>
          <a:xfrm>
            <a:off x="11963383" y="3113274"/>
            <a:ext cx="644407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作用：</a:t>
            </a:r>
          </a:p>
        </p:txBody>
      </p:sp>
      <p:sp>
        <p:nvSpPr>
          <p:cNvPr id="26" name="Text 22"/>
          <p:cNvSpPr/>
          <p:nvPr/>
        </p:nvSpPr>
        <p:spPr>
          <a:xfrm>
            <a:off x="11963382" y="3516170"/>
            <a:ext cx="4419480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控制要從Cell State中丟棄多少資訊，避免記憶</a:t>
            </a:r>
          </a:p>
        </p:txBody>
      </p:sp>
      <p:sp>
        <p:nvSpPr>
          <p:cNvPr id="27" name="Text 23"/>
          <p:cNvSpPr/>
          <p:nvPr/>
        </p:nvSpPr>
        <p:spPr>
          <a:xfrm>
            <a:off x="11963383" y="3919066"/>
            <a:ext cx="1766509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體被無用資訊佔滿 </a:t>
            </a:r>
          </a:p>
        </p:txBody>
      </p:sp>
      <p:sp>
        <p:nvSpPr>
          <p:cNvPr id="28" name="Shape 24"/>
          <p:cNvSpPr/>
          <p:nvPr/>
        </p:nvSpPr>
        <p:spPr>
          <a:xfrm>
            <a:off x="1143000" y="5042650"/>
            <a:ext cx="16002000" cy="2425304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655616"/>
            <a:ext cx="342900" cy="3429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057401" y="5599673"/>
            <a:ext cx="2923877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輸入門 Input Gate </a:t>
            </a:r>
          </a:p>
        </p:txBody>
      </p:sp>
      <p:sp>
        <p:nvSpPr>
          <p:cNvPr id="31" name="Text 26"/>
          <p:cNvSpPr/>
          <p:nvPr/>
        </p:nvSpPr>
        <p:spPr>
          <a:xfrm>
            <a:off x="1600200" y="6251892"/>
            <a:ext cx="1074012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生活比喻：</a:t>
            </a:r>
          </a:p>
        </p:txBody>
      </p:sp>
      <p:sp>
        <p:nvSpPr>
          <p:cNvPr id="32" name="Text 27"/>
          <p:cNvSpPr/>
          <p:nvPr/>
        </p:nvSpPr>
        <p:spPr>
          <a:xfrm>
            <a:off x="2743200" y="6251892"/>
            <a:ext cx="214802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筆</a:t>
            </a:r>
          </a:p>
        </p:txBody>
      </p:sp>
      <p:sp>
        <p:nvSpPr>
          <p:cNvPr id="33" name="Text 28"/>
          <p:cNvSpPr/>
          <p:nvPr/>
        </p:nvSpPr>
        <p:spPr>
          <a:xfrm>
            <a:off x="1600200" y="6631906"/>
            <a:ext cx="2898229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674" b="1" dirty="0" err="1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決定要把哪些新資訊</a:t>
            </a:r>
            <a:r>
              <a:rPr lang="zh-TW" alt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記錄下來</a:t>
            </a:r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Text 29"/>
          <p:cNvSpPr/>
          <p:nvPr/>
        </p:nvSpPr>
        <p:spPr>
          <a:xfrm>
            <a:off x="6781762" y="5660270"/>
            <a:ext cx="128240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i</a:t>
            </a:r>
          </a:p>
        </p:txBody>
      </p:sp>
      <p:sp>
        <p:nvSpPr>
          <p:cNvPr id="35" name="Text 30"/>
          <p:cNvSpPr/>
          <p:nvPr/>
        </p:nvSpPr>
        <p:spPr>
          <a:xfrm>
            <a:off x="6933182" y="5786325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6" name="Text 31"/>
          <p:cNvSpPr/>
          <p:nvPr/>
        </p:nvSpPr>
        <p:spPr>
          <a:xfrm>
            <a:off x="6942499" y="5660270"/>
            <a:ext cx="713337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σ(W</a:t>
            </a:r>
          </a:p>
        </p:txBody>
      </p:sp>
      <p:sp>
        <p:nvSpPr>
          <p:cNvPr id="37" name="Text 32"/>
          <p:cNvSpPr/>
          <p:nvPr/>
        </p:nvSpPr>
        <p:spPr>
          <a:xfrm>
            <a:off x="7714970" y="5773388"/>
            <a:ext cx="4969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38" name="Text 33"/>
          <p:cNvSpPr/>
          <p:nvPr/>
        </p:nvSpPr>
        <p:spPr>
          <a:xfrm>
            <a:off x="7772121" y="5660270"/>
            <a:ext cx="41838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· [h</a:t>
            </a:r>
          </a:p>
        </p:txBody>
      </p:sp>
      <p:sp>
        <p:nvSpPr>
          <p:cNvPr id="39" name="Text 34"/>
          <p:cNvSpPr/>
          <p:nvPr/>
        </p:nvSpPr>
        <p:spPr>
          <a:xfrm>
            <a:off x="8404342" y="5773388"/>
            <a:ext cx="211596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40" name="Text 35"/>
          <p:cNvSpPr/>
          <p:nvPr/>
        </p:nvSpPr>
        <p:spPr>
          <a:xfrm>
            <a:off x="8665090" y="5660270"/>
            <a:ext cx="250068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x</a:t>
            </a:r>
          </a:p>
        </p:txBody>
      </p:sp>
      <p:sp>
        <p:nvSpPr>
          <p:cNvPr id="41" name="Text 36"/>
          <p:cNvSpPr/>
          <p:nvPr/>
        </p:nvSpPr>
        <p:spPr>
          <a:xfrm>
            <a:off x="8947268" y="5773388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2" name="Text 37"/>
          <p:cNvSpPr/>
          <p:nvPr/>
        </p:nvSpPr>
        <p:spPr>
          <a:xfrm>
            <a:off x="9029420" y="5660270"/>
            <a:ext cx="474489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] + b</a:t>
            </a:r>
          </a:p>
        </p:txBody>
      </p:sp>
      <p:sp>
        <p:nvSpPr>
          <p:cNvPr id="43" name="Text 38"/>
          <p:cNvSpPr/>
          <p:nvPr/>
        </p:nvSpPr>
        <p:spPr>
          <a:xfrm>
            <a:off x="9554486" y="5773388"/>
            <a:ext cx="4969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44" name="Text 39"/>
          <p:cNvSpPr/>
          <p:nvPr/>
        </p:nvSpPr>
        <p:spPr>
          <a:xfrm>
            <a:off x="9611636" y="5660270"/>
            <a:ext cx="14587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45" name="Text 40"/>
          <p:cNvSpPr/>
          <p:nvPr/>
        </p:nvSpPr>
        <p:spPr>
          <a:xfrm>
            <a:off x="6723597" y="6176034"/>
            <a:ext cx="235642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C̃</a:t>
            </a:r>
          </a:p>
        </p:txBody>
      </p:sp>
      <p:sp>
        <p:nvSpPr>
          <p:cNvPr id="46" name="Text 41"/>
          <p:cNvSpPr/>
          <p:nvPr/>
        </p:nvSpPr>
        <p:spPr>
          <a:xfrm>
            <a:off x="6967500" y="6344888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47" name="Text 42"/>
          <p:cNvSpPr/>
          <p:nvPr/>
        </p:nvSpPr>
        <p:spPr>
          <a:xfrm>
            <a:off x="7049654" y="6231770"/>
            <a:ext cx="1051570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tanh(W</a:t>
            </a:r>
          </a:p>
        </p:txBody>
      </p:sp>
      <p:sp>
        <p:nvSpPr>
          <p:cNvPr id="48" name="Text 43"/>
          <p:cNvSpPr/>
          <p:nvPr/>
        </p:nvSpPr>
        <p:spPr>
          <a:xfrm>
            <a:off x="8228372" y="6344888"/>
            <a:ext cx="131446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49" name="Text 44"/>
          <p:cNvSpPr/>
          <p:nvPr/>
        </p:nvSpPr>
        <p:spPr>
          <a:xfrm>
            <a:off x="8353389" y="6231770"/>
            <a:ext cx="41838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· [h</a:t>
            </a:r>
          </a:p>
        </p:txBody>
      </p:sp>
      <p:sp>
        <p:nvSpPr>
          <p:cNvPr id="50" name="Text 45"/>
          <p:cNvSpPr/>
          <p:nvPr/>
        </p:nvSpPr>
        <p:spPr>
          <a:xfrm>
            <a:off x="8985610" y="6344888"/>
            <a:ext cx="211596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51" name="Text 46"/>
          <p:cNvSpPr/>
          <p:nvPr/>
        </p:nvSpPr>
        <p:spPr>
          <a:xfrm>
            <a:off x="9246356" y="6231770"/>
            <a:ext cx="250068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x</a:t>
            </a:r>
          </a:p>
        </p:txBody>
      </p:sp>
      <p:sp>
        <p:nvSpPr>
          <p:cNvPr id="52" name="Text 47"/>
          <p:cNvSpPr/>
          <p:nvPr/>
        </p:nvSpPr>
        <p:spPr>
          <a:xfrm>
            <a:off x="9528534" y="6344888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3" name="Text 48"/>
          <p:cNvSpPr/>
          <p:nvPr/>
        </p:nvSpPr>
        <p:spPr>
          <a:xfrm>
            <a:off x="9610688" y="6231770"/>
            <a:ext cx="474489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] + b</a:t>
            </a:r>
          </a:p>
        </p:txBody>
      </p:sp>
      <p:sp>
        <p:nvSpPr>
          <p:cNvPr id="54" name="Text 49"/>
          <p:cNvSpPr/>
          <p:nvPr/>
        </p:nvSpPr>
        <p:spPr>
          <a:xfrm>
            <a:off x="10135754" y="6344888"/>
            <a:ext cx="131446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55" name="Text 50"/>
          <p:cNvSpPr/>
          <p:nvPr/>
        </p:nvSpPr>
        <p:spPr>
          <a:xfrm>
            <a:off x="10260770" y="6231770"/>
            <a:ext cx="14587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56" name="Text 51"/>
          <p:cNvSpPr/>
          <p:nvPr/>
        </p:nvSpPr>
        <p:spPr>
          <a:xfrm>
            <a:off x="6723597" y="6778421"/>
            <a:ext cx="99386" cy="2253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6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i</a:t>
            </a:r>
          </a:p>
        </p:txBody>
      </p:sp>
      <p:sp>
        <p:nvSpPr>
          <p:cNvPr id="57" name="Text 52"/>
          <p:cNvSpPr/>
          <p:nvPr/>
        </p:nvSpPr>
        <p:spPr>
          <a:xfrm>
            <a:off x="6835340" y="6879841"/>
            <a:ext cx="46488" cy="16895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98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58" name="Text 53"/>
          <p:cNvSpPr/>
          <p:nvPr/>
        </p:nvSpPr>
        <p:spPr>
          <a:xfrm>
            <a:off x="6892491" y="6792725"/>
            <a:ext cx="1463542" cy="2253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6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決定寫入多少, C̃</a:t>
            </a:r>
          </a:p>
        </p:txBody>
      </p:sp>
      <p:sp>
        <p:nvSpPr>
          <p:cNvPr id="59" name="Text 54"/>
          <p:cNvSpPr/>
          <p:nvPr/>
        </p:nvSpPr>
        <p:spPr>
          <a:xfrm>
            <a:off x="8444304" y="6879841"/>
            <a:ext cx="46488" cy="16895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98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0" name="Text 55"/>
          <p:cNvSpPr/>
          <p:nvPr/>
        </p:nvSpPr>
        <p:spPr>
          <a:xfrm>
            <a:off x="8501455" y="6792725"/>
            <a:ext cx="905697" cy="2253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6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候選資訊 </a:t>
            </a:r>
          </a:p>
        </p:txBody>
      </p:sp>
      <p:sp>
        <p:nvSpPr>
          <p:cNvPr id="61" name="Text 56"/>
          <p:cNvSpPr/>
          <p:nvPr/>
        </p:nvSpPr>
        <p:spPr>
          <a:xfrm>
            <a:off x="11963383" y="5714994"/>
            <a:ext cx="644407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作用：</a:t>
            </a:r>
          </a:p>
        </p:txBody>
      </p:sp>
      <p:sp>
        <p:nvSpPr>
          <p:cNvPr id="62" name="Text 57"/>
          <p:cNvSpPr/>
          <p:nvPr/>
        </p:nvSpPr>
        <p:spPr>
          <a:xfrm>
            <a:off x="11963382" y="6117890"/>
            <a:ext cx="4419480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控制要將多少新資訊加入Cell State，選擇性地</a:t>
            </a:r>
          </a:p>
        </p:txBody>
      </p:sp>
      <p:sp>
        <p:nvSpPr>
          <p:cNvPr id="63" name="Text 58"/>
          <p:cNvSpPr/>
          <p:nvPr/>
        </p:nvSpPr>
        <p:spPr>
          <a:xfrm>
            <a:off x="11963382" y="6520786"/>
            <a:ext cx="907300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更新記憶 </a:t>
            </a:r>
          </a:p>
        </p:txBody>
      </p:sp>
      <p:sp>
        <p:nvSpPr>
          <p:cNvPr id="64" name="Shape 59"/>
          <p:cNvSpPr/>
          <p:nvPr/>
        </p:nvSpPr>
        <p:spPr>
          <a:xfrm>
            <a:off x="1143000" y="7753702"/>
            <a:ext cx="16002000" cy="2425304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6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8366670"/>
            <a:ext cx="342900" cy="342900"/>
          </a:xfrm>
          <a:prstGeom prst="rect">
            <a:avLst/>
          </a:prstGeom>
        </p:spPr>
      </p:pic>
      <p:sp>
        <p:nvSpPr>
          <p:cNvPr id="66" name="Text 60"/>
          <p:cNvSpPr/>
          <p:nvPr/>
        </p:nvSpPr>
        <p:spPr>
          <a:xfrm>
            <a:off x="2057400" y="8310727"/>
            <a:ext cx="3173946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27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輸出門 Output Gate </a:t>
            </a:r>
          </a:p>
        </p:txBody>
      </p:sp>
      <p:sp>
        <p:nvSpPr>
          <p:cNvPr id="67" name="Text 61"/>
          <p:cNvSpPr/>
          <p:nvPr/>
        </p:nvSpPr>
        <p:spPr>
          <a:xfrm>
            <a:off x="1600200" y="8962944"/>
            <a:ext cx="1074012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生活比喻：</a:t>
            </a:r>
          </a:p>
        </p:txBody>
      </p:sp>
      <p:sp>
        <p:nvSpPr>
          <p:cNvPr id="68" name="Text 62"/>
          <p:cNvSpPr/>
          <p:nvPr/>
        </p:nvSpPr>
        <p:spPr>
          <a:xfrm>
            <a:off x="2743201" y="8962944"/>
            <a:ext cx="429605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嘴巴</a:t>
            </a:r>
          </a:p>
        </p:txBody>
      </p:sp>
      <p:sp>
        <p:nvSpPr>
          <p:cNvPr id="69" name="Text 63"/>
          <p:cNvSpPr/>
          <p:nvPr/>
        </p:nvSpPr>
        <p:spPr>
          <a:xfrm>
            <a:off x="1600201" y="9342958"/>
            <a:ext cx="3677289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決定要說出(輸出)筆記本中的哪些內容 </a:t>
            </a:r>
          </a:p>
        </p:txBody>
      </p:sp>
      <p:sp>
        <p:nvSpPr>
          <p:cNvPr id="70" name="Text 64"/>
          <p:cNvSpPr/>
          <p:nvPr/>
        </p:nvSpPr>
        <p:spPr>
          <a:xfrm>
            <a:off x="6781762" y="8371322"/>
            <a:ext cx="181140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o</a:t>
            </a:r>
          </a:p>
        </p:txBody>
      </p:sp>
      <p:sp>
        <p:nvSpPr>
          <p:cNvPr id="71" name="Text 65"/>
          <p:cNvSpPr/>
          <p:nvPr/>
        </p:nvSpPr>
        <p:spPr>
          <a:xfrm>
            <a:off x="6942498" y="8484442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72" name="Text 66"/>
          <p:cNvSpPr/>
          <p:nvPr/>
        </p:nvSpPr>
        <p:spPr>
          <a:xfrm>
            <a:off x="7024651" y="8371322"/>
            <a:ext cx="713337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σ(W</a:t>
            </a:r>
          </a:p>
        </p:txBody>
      </p:sp>
      <p:sp>
        <p:nvSpPr>
          <p:cNvPr id="73" name="Text 67"/>
          <p:cNvSpPr/>
          <p:nvPr/>
        </p:nvSpPr>
        <p:spPr>
          <a:xfrm>
            <a:off x="7797124" y="8484442"/>
            <a:ext cx="89768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74" name="Text 68"/>
          <p:cNvSpPr/>
          <p:nvPr/>
        </p:nvSpPr>
        <p:spPr>
          <a:xfrm>
            <a:off x="7918569" y="8371322"/>
            <a:ext cx="41838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· [h</a:t>
            </a:r>
          </a:p>
        </p:txBody>
      </p:sp>
      <p:sp>
        <p:nvSpPr>
          <p:cNvPr id="75" name="Text 69"/>
          <p:cNvSpPr/>
          <p:nvPr/>
        </p:nvSpPr>
        <p:spPr>
          <a:xfrm>
            <a:off x="8550790" y="8484442"/>
            <a:ext cx="211596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t-1</a:t>
            </a:r>
          </a:p>
        </p:txBody>
      </p:sp>
      <p:sp>
        <p:nvSpPr>
          <p:cNvPr id="76" name="Text 70"/>
          <p:cNvSpPr/>
          <p:nvPr/>
        </p:nvSpPr>
        <p:spPr>
          <a:xfrm>
            <a:off x="8811536" y="8371322"/>
            <a:ext cx="250068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x</a:t>
            </a:r>
          </a:p>
        </p:txBody>
      </p:sp>
      <p:sp>
        <p:nvSpPr>
          <p:cNvPr id="77" name="Text 71"/>
          <p:cNvSpPr/>
          <p:nvPr/>
        </p:nvSpPr>
        <p:spPr>
          <a:xfrm>
            <a:off x="9093714" y="8484442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78" name="Text 72"/>
          <p:cNvSpPr/>
          <p:nvPr/>
        </p:nvSpPr>
        <p:spPr>
          <a:xfrm>
            <a:off x="9175868" y="8371322"/>
            <a:ext cx="474489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] + b</a:t>
            </a:r>
          </a:p>
        </p:txBody>
      </p:sp>
      <p:sp>
        <p:nvSpPr>
          <p:cNvPr id="79" name="Text 73"/>
          <p:cNvSpPr/>
          <p:nvPr/>
        </p:nvSpPr>
        <p:spPr>
          <a:xfrm>
            <a:off x="9700934" y="8484442"/>
            <a:ext cx="89768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80" name="Text 74"/>
          <p:cNvSpPr/>
          <p:nvPr/>
        </p:nvSpPr>
        <p:spPr>
          <a:xfrm>
            <a:off x="9822378" y="8371322"/>
            <a:ext cx="14587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81" name="Text 75"/>
          <p:cNvSpPr/>
          <p:nvPr/>
        </p:nvSpPr>
        <p:spPr>
          <a:xfrm>
            <a:off x="6781762" y="8942822"/>
            <a:ext cx="195566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h</a:t>
            </a:r>
          </a:p>
        </p:txBody>
      </p:sp>
      <p:sp>
        <p:nvSpPr>
          <p:cNvPr id="82" name="Text 76"/>
          <p:cNvSpPr/>
          <p:nvPr/>
        </p:nvSpPr>
        <p:spPr>
          <a:xfrm>
            <a:off x="6946070" y="9055942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83" name="Text 77"/>
          <p:cNvSpPr/>
          <p:nvPr/>
        </p:nvSpPr>
        <p:spPr>
          <a:xfrm>
            <a:off x="7028222" y="8942822"/>
            <a:ext cx="379912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= o</a:t>
            </a:r>
          </a:p>
        </p:txBody>
      </p:sp>
      <p:sp>
        <p:nvSpPr>
          <p:cNvPr id="84" name="Text 78"/>
          <p:cNvSpPr/>
          <p:nvPr/>
        </p:nvSpPr>
        <p:spPr>
          <a:xfrm>
            <a:off x="7453276" y="9055942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85" name="Text 79"/>
          <p:cNvSpPr/>
          <p:nvPr/>
        </p:nvSpPr>
        <p:spPr>
          <a:xfrm>
            <a:off x="7535428" y="8942822"/>
            <a:ext cx="1088439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⊙ tanh(C</a:t>
            </a:r>
          </a:p>
        </p:txBody>
      </p:sp>
      <p:sp>
        <p:nvSpPr>
          <p:cNvPr id="86" name="Text 80"/>
          <p:cNvSpPr/>
          <p:nvPr/>
        </p:nvSpPr>
        <p:spPr>
          <a:xfrm>
            <a:off x="8753438" y="9055942"/>
            <a:ext cx="60914" cy="2173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12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87" name="Text 81"/>
          <p:cNvSpPr/>
          <p:nvPr/>
        </p:nvSpPr>
        <p:spPr>
          <a:xfrm>
            <a:off x="8835590" y="8942822"/>
            <a:ext cx="145874" cy="2899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88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88" name="Text 82"/>
          <p:cNvSpPr/>
          <p:nvPr/>
        </p:nvSpPr>
        <p:spPr>
          <a:xfrm>
            <a:off x="6741600" y="9474446"/>
            <a:ext cx="150682" cy="2253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6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h</a:t>
            </a:r>
          </a:p>
        </p:txBody>
      </p:sp>
      <p:sp>
        <p:nvSpPr>
          <p:cNvPr id="89" name="Text 83"/>
          <p:cNvSpPr/>
          <p:nvPr/>
        </p:nvSpPr>
        <p:spPr>
          <a:xfrm>
            <a:off x="6903206" y="9590895"/>
            <a:ext cx="46488" cy="16895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98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0" name="Text 84"/>
          <p:cNvSpPr/>
          <p:nvPr/>
        </p:nvSpPr>
        <p:spPr>
          <a:xfrm>
            <a:off x="6960356" y="9503777"/>
            <a:ext cx="1952458" cy="2253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46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: 最終的隱藏狀態(輸出) </a:t>
            </a:r>
          </a:p>
        </p:txBody>
      </p:sp>
      <p:sp>
        <p:nvSpPr>
          <p:cNvPr id="91" name="Text 85"/>
          <p:cNvSpPr/>
          <p:nvPr/>
        </p:nvSpPr>
        <p:spPr>
          <a:xfrm>
            <a:off x="11963383" y="8426046"/>
            <a:ext cx="644407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作用：</a:t>
            </a:r>
          </a:p>
        </p:txBody>
      </p:sp>
      <p:sp>
        <p:nvSpPr>
          <p:cNvPr id="92" name="Text 86"/>
          <p:cNvSpPr/>
          <p:nvPr/>
        </p:nvSpPr>
        <p:spPr>
          <a:xfrm>
            <a:off x="11963382" y="8828944"/>
            <a:ext cx="4419480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控制要輸出Cell State的哪些部分，決定當前時</a:t>
            </a:r>
          </a:p>
        </p:txBody>
      </p:sp>
      <p:sp>
        <p:nvSpPr>
          <p:cNvPr id="93" name="Text 87"/>
          <p:cNvSpPr/>
          <p:nvPr/>
        </p:nvSpPr>
        <p:spPr>
          <a:xfrm>
            <a:off x="11963382" y="9231840"/>
            <a:ext cx="1336904" cy="2576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674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刻的隱藏狀態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43001" y="546142"/>
            <a:ext cx="8494313" cy="11079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4050" b="1" dirty="0">
                <a:solidFill>
                  <a:srgbClr val="3F26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LSTM vs RNN </a:t>
            </a:r>
            <a:r>
              <a:rPr lang="en-US" sz="7200" dirty="0" err="1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比較</a:t>
            </a:r>
            <a:r>
              <a:rPr 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 </a:t>
            </a:r>
          </a:p>
        </p:txBody>
      </p:sp>
      <p:sp>
        <p:nvSpPr>
          <p:cNvPr id="5" name="Shape 2"/>
          <p:cNvSpPr/>
          <p:nvPr/>
        </p:nvSpPr>
        <p:spPr>
          <a:xfrm>
            <a:off x="1143000" y="1735655"/>
            <a:ext cx="4000500" cy="88582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1657656"/>
            <a:ext cx="4000500" cy="1041824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比較項目</a:t>
            </a:r>
          </a:p>
        </p:txBody>
      </p:sp>
      <p:sp>
        <p:nvSpPr>
          <p:cNvPr id="7" name="Shape 4"/>
          <p:cNvSpPr/>
          <p:nvPr/>
        </p:nvSpPr>
        <p:spPr>
          <a:xfrm>
            <a:off x="5143501" y="1735655"/>
            <a:ext cx="6000750" cy="88582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1" y="1657656"/>
            <a:ext cx="6000750" cy="1041824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RNN (循環神經網路)</a:t>
            </a:r>
          </a:p>
        </p:txBody>
      </p:sp>
      <p:sp>
        <p:nvSpPr>
          <p:cNvPr id="9" name="Shape 6"/>
          <p:cNvSpPr/>
          <p:nvPr/>
        </p:nvSpPr>
        <p:spPr>
          <a:xfrm>
            <a:off x="11144251" y="1735655"/>
            <a:ext cx="6000750" cy="88582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11144251" y="1657656"/>
            <a:ext cx="6000750" cy="1041824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LSTM (長短期記憶網路)</a:t>
            </a:r>
          </a:p>
        </p:txBody>
      </p:sp>
      <p:sp>
        <p:nvSpPr>
          <p:cNvPr id="11" name="Shape 8"/>
          <p:cNvSpPr/>
          <p:nvPr/>
        </p:nvSpPr>
        <p:spPr>
          <a:xfrm>
            <a:off x="1143000" y="2621481"/>
            <a:ext cx="4000500" cy="83007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1143000" y="3437262"/>
            <a:ext cx="40005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2577160"/>
            <a:ext cx="400050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記憶能力</a:t>
            </a:r>
          </a:p>
        </p:txBody>
      </p:sp>
      <p:sp>
        <p:nvSpPr>
          <p:cNvPr id="14" name="Text 11"/>
          <p:cNvSpPr/>
          <p:nvPr/>
        </p:nvSpPr>
        <p:spPr>
          <a:xfrm>
            <a:off x="5143501" y="2577160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短期記憶 (20-30個時間步)</a:t>
            </a:r>
          </a:p>
        </p:txBody>
      </p:sp>
      <p:sp>
        <p:nvSpPr>
          <p:cNvPr id="15" name="Text 12"/>
          <p:cNvSpPr/>
          <p:nvPr/>
        </p:nvSpPr>
        <p:spPr>
          <a:xfrm>
            <a:off x="11144251" y="2577160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長期記憶 (100+個時間步)</a:t>
            </a:r>
          </a:p>
        </p:txBody>
      </p:sp>
      <p:sp>
        <p:nvSpPr>
          <p:cNvPr id="16" name="Shape 13"/>
          <p:cNvSpPr/>
          <p:nvPr/>
        </p:nvSpPr>
        <p:spPr>
          <a:xfrm>
            <a:off x="1143000" y="3451551"/>
            <a:ext cx="4000500" cy="83721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4274476"/>
            <a:ext cx="40005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3410802"/>
            <a:ext cx="400050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梯度問題</a:t>
            </a:r>
          </a:p>
        </p:txBody>
      </p:sp>
      <p:sp>
        <p:nvSpPr>
          <p:cNvPr id="19" name="Text 16"/>
          <p:cNvSpPr/>
          <p:nvPr/>
        </p:nvSpPr>
        <p:spPr>
          <a:xfrm>
            <a:off x="5143501" y="3410802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容易出現梯度消失/爆炸,訓練困難</a:t>
            </a:r>
          </a:p>
        </p:txBody>
      </p:sp>
      <p:sp>
        <p:nvSpPr>
          <p:cNvPr id="20" name="Text 17"/>
          <p:cNvSpPr/>
          <p:nvPr/>
        </p:nvSpPr>
        <p:spPr>
          <a:xfrm>
            <a:off x="11144251" y="3410802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透過門控機制有效緩解梯度問題</a:t>
            </a:r>
          </a:p>
        </p:txBody>
      </p:sp>
      <p:sp>
        <p:nvSpPr>
          <p:cNvPr id="21" name="Shape 18"/>
          <p:cNvSpPr/>
          <p:nvPr/>
        </p:nvSpPr>
        <p:spPr>
          <a:xfrm>
            <a:off x="1143000" y="4288765"/>
            <a:ext cx="4000500" cy="83721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1143000" y="5111690"/>
            <a:ext cx="40005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" y="4248016"/>
            <a:ext cx="400050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結構複雜度</a:t>
            </a:r>
          </a:p>
        </p:txBody>
      </p:sp>
      <p:sp>
        <p:nvSpPr>
          <p:cNvPr id="24" name="Text 21"/>
          <p:cNvSpPr/>
          <p:nvPr/>
        </p:nvSpPr>
        <p:spPr>
          <a:xfrm>
            <a:off x="5143501" y="4248016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結構簡單,只有一個隱藏狀態</a:t>
            </a:r>
          </a:p>
        </p:txBody>
      </p:sp>
      <p:sp>
        <p:nvSpPr>
          <p:cNvPr id="25" name="Text 22"/>
          <p:cNvSpPr/>
          <p:nvPr/>
        </p:nvSpPr>
        <p:spPr>
          <a:xfrm>
            <a:off x="11144251" y="4248016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結構複雜,有記憶元和三個門控機制</a:t>
            </a:r>
          </a:p>
        </p:txBody>
      </p:sp>
      <p:sp>
        <p:nvSpPr>
          <p:cNvPr id="26" name="Shape 23"/>
          <p:cNvSpPr/>
          <p:nvPr/>
        </p:nvSpPr>
        <p:spPr>
          <a:xfrm>
            <a:off x="1143000" y="5125979"/>
            <a:ext cx="4000500" cy="83721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4"/>
          <p:cNvSpPr/>
          <p:nvPr/>
        </p:nvSpPr>
        <p:spPr>
          <a:xfrm>
            <a:off x="1143000" y="5948904"/>
            <a:ext cx="40005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1143000" y="5085230"/>
            <a:ext cx="400050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參數數量</a:t>
            </a:r>
          </a:p>
        </p:txBody>
      </p:sp>
      <p:sp>
        <p:nvSpPr>
          <p:cNvPr id="29" name="Text 26"/>
          <p:cNvSpPr/>
          <p:nvPr/>
        </p:nvSpPr>
        <p:spPr>
          <a:xfrm>
            <a:off x="5143501" y="5085230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參數較少,模型輕量</a:t>
            </a:r>
          </a:p>
        </p:txBody>
      </p:sp>
      <p:sp>
        <p:nvSpPr>
          <p:cNvPr id="30" name="Text 27"/>
          <p:cNvSpPr/>
          <p:nvPr/>
        </p:nvSpPr>
        <p:spPr>
          <a:xfrm>
            <a:off x="11144251" y="5085230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參數較多 (約為RNN的4倍)</a:t>
            </a:r>
          </a:p>
        </p:txBody>
      </p:sp>
      <p:sp>
        <p:nvSpPr>
          <p:cNvPr id="31" name="Shape 28"/>
          <p:cNvSpPr/>
          <p:nvPr/>
        </p:nvSpPr>
        <p:spPr>
          <a:xfrm>
            <a:off x="1143000" y="5963193"/>
            <a:ext cx="4000500" cy="83721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29"/>
          <p:cNvSpPr/>
          <p:nvPr/>
        </p:nvSpPr>
        <p:spPr>
          <a:xfrm>
            <a:off x="1143000" y="6786118"/>
            <a:ext cx="40005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0"/>
          <p:cNvSpPr/>
          <p:nvPr/>
        </p:nvSpPr>
        <p:spPr>
          <a:xfrm>
            <a:off x="1143000" y="5922444"/>
            <a:ext cx="400050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訓練速度</a:t>
            </a:r>
          </a:p>
        </p:txBody>
      </p:sp>
      <p:sp>
        <p:nvSpPr>
          <p:cNvPr id="34" name="Text 31"/>
          <p:cNvSpPr/>
          <p:nvPr/>
        </p:nvSpPr>
        <p:spPr>
          <a:xfrm>
            <a:off x="5143501" y="5922444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訓練速度快</a:t>
            </a:r>
          </a:p>
        </p:txBody>
      </p:sp>
      <p:sp>
        <p:nvSpPr>
          <p:cNvPr id="35" name="Text 32"/>
          <p:cNvSpPr/>
          <p:nvPr/>
        </p:nvSpPr>
        <p:spPr>
          <a:xfrm>
            <a:off x="11144251" y="5922444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訓練速度較慢 (因參數多)</a:t>
            </a:r>
          </a:p>
        </p:txBody>
      </p:sp>
      <p:sp>
        <p:nvSpPr>
          <p:cNvPr id="36" name="Shape 33"/>
          <p:cNvSpPr/>
          <p:nvPr/>
        </p:nvSpPr>
        <p:spPr>
          <a:xfrm>
            <a:off x="1143000" y="6800407"/>
            <a:ext cx="4000500" cy="83007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4"/>
          <p:cNvSpPr/>
          <p:nvPr/>
        </p:nvSpPr>
        <p:spPr>
          <a:xfrm>
            <a:off x="1143000" y="6756086"/>
            <a:ext cx="400050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應用場景</a:t>
            </a:r>
          </a:p>
        </p:txBody>
      </p:sp>
      <p:sp>
        <p:nvSpPr>
          <p:cNvPr id="38" name="Text 35"/>
          <p:cNvSpPr/>
          <p:nvPr/>
        </p:nvSpPr>
        <p:spPr>
          <a:xfrm>
            <a:off x="5143501" y="6756086"/>
            <a:ext cx="6000750" cy="918713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簡單的短序列任務</a:t>
            </a:r>
          </a:p>
        </p:txBody>
      </p:sp>
      <p:sp>
        <p:nvSpPr>
          <p:cNvPr id="39" name="Text 36"/>
          <p:cNvSpPr/>
          <p:nvPr/>
        </p:nvSpPr>
        <p:spPr>
          <a:xfrm>
            <a:off x="11144251" y="6571420"/>
            <a:ext cx="6000750" cy="1288045"/>
          </a:xfrm>
          <a:prstGeom prst="rect">
            <a:avLst/>
          </a:prstGeom>
          <a:noFill/>
          <a:ln/>
        </p:spPr>
        <p:txBody>
          <a:bodyPr wrap="square" lIns="340106" tIns="272034" rIns="340106" bIns="272034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複雜的長序列任務 (NLP、語音辨識、時間序列預測)</a:t>
            </a:r>
          </a:p>
        </p:txBody>
      </p:sp>
      <p:sp>
        <p:nvSpPr>
          <p:cNvPr id="40" name="Shape 37"/>
          <p:cNvSpPr/>
          <p:nvPr/>
        </p:nvSpPr>
        <p:spPr>
          <a:xfrm>
            <a:off x="1143000" y="8087677"/>
            <a:ext cx="7772400" cy="1909502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1" y="8462723"/>
            <a:ext cx="285750" cy="28575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828801" y="8341519"/>
            <a:ext cx="3412794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選擇 RNN 的時機 </a:t>
            </a:r>
          </a:p>
        </p:txBody>
      </p:sp>
      <p:sp>
        <p:nvSpPr>
          <p:cNvPr id="43" name="Text 39"/>
          <p:cNvSpPr/>
          <p:nvPr/>
        </p:nvSpPr>
        <p:spPr>
          <a:xfrm>
            <a:off x="1428750" y="8953489"/>
            <a:ext cx="7200900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序列長度較短、計算資源有限、需要快速訓練、任務相對簡單時,可以選擇RNN。 </a:t>
            </a:r>
          </a:p>
        </p:txBody>
      </p:sp>
      <p:sp>
        <p:nvSpPr>
          <p:cNvPr id="44" name="Shape 40"/>
          <p:cNvSpPr/>
          <p:nvPr/>
        </p:nvSpPr>
        <p:spPr>
          <a:xfrm>
            <a:off x="9372600" y="8087677"/>
            <a:ext cx="7772400" cy="1909502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1" y="8462723"/>
            <a:ext cx="285750" cy="28575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10058400" y="8341519"/>
            <a:ext cx="3625993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32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選擇 LSTM 的時機 </a:t>
            </a:r>
          </a:p>
        </p:txBody>
      </p:sp>
      <p:sp>
        <p:nvSpPr>
          <p:cNvPr id="47" name="Text 42"/>
          <p:cNvSpPr/>
          <p:nvPr/>
        </p:nvSpPr>
        <p:spPr>
          <a:xfrm>
            <a:off x="9658350" y="8953489"/>
            <a:ext cx="7200900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400" b="1" dirty="0">
                <a:solidFill>
                  <a:srgbClr val="3F2619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需要處理長序列、任務複雜、需要學習長期依賴關係、對準確度要求高時,應該選擇LSTM。 </a:t>
            </a:r>
          </a:p>
        </p:txBody>
      </p:sp>
      <p:sp>
        <p:nvSpPr>
          <p:cNvPr id="48" name="Freeform 11">
            <a:extLst>
              <a:ext uri="{FF2B5EF4-FFF2-40B4-BE49-F238E27FC236}">
                <a16:creationId xmlns:a16="http://schemas.microsoft.com/office/drawing/2014/main" id="{DEEA7C0B-C4E8-4621-82E8-4343A53762D2}"/>
              </a:ext>
            </a:extLst>
          </p:cNvPr>
          <p:cNvSpPr>
            <a:spLocks noChangeAspect="1"/>
          </p:cNvSpPr>
          <p:nvPr/>
        </p:nvSpPr>
        <p:spPr>
          <a:xfrm rot="2282447">
            <a:off x="-830530" y="9169850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>
                <a:solidFill>
                  <a:srgbClr val="3F2619"/>
                </a:solidFill>
              </a:rPr>
              <a:t>.</a:t>
            </a:r>
          </a:p>
          <a:p>
            <a:endParaRPr lang="en-US" altLang="zh-TW" dirty="0">
              <a:solidFill>
                <a:srgbClr val="3F2619"/>
              </a:solidFill>
            </a:endParaRPr>
          </a:p>
          <a:p>
            <a:endParaRPr lang="en-US" altLang="zh-TW" dirty="0">
              <a:solidFill>
                <a:srgbClr val="3F2619"/>
              </a:solidFill>
            </a:endParaRPr>
          </a:p>
          <a:p>
            <a:endParaRPr lang="en-US" altLang="zh-TW" dirty="0">
              <a:solidFill>
                <a:srgbClr val="3F2619"/>
              </a:solidFill>
            </a:endParaRPr>
          </a:p>
          <a:p>
            <a:endParaRPr lang="en-US" altLang="zh-TW" dirty="0">
              <a:solidFill>
                <a:srgbClr val="3F2619"/>
              </a:solidFill>
            </a:endParaRPr>
          </a:p>
          <a:p>
            <a:endParaRPr lang="zh-TW" altLang="en-US" dirty="0">
              <a:solidFill>
                <a:srgbClr val="3F2619"/>
              </a:solidFill>
            </a:endParaRPr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49F40BB6-CEB9-46C6-B05E-326350CAE4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57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14600" y="516939"/>
            <a:ext cx="139266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課堂實作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(dataset.py)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10800000">
            <a:off x="-533400" y="-986432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176907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76346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A9C35740-9BBE-4925-8A64-31C56ECB1DBA}"/>
              </a:ext>
            </a:extLst>
          </p:cNvPr>
          <p:cNvSpPr/>
          <p:nvPr/>
        </p:nvSpPr>
        <p:spPr>
          <a:xfrm>
            <a:off x="5196274" y="329004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D2BC914C-314F-4992-8845-033954B1D895}"/>
              </a:ext>
            </a:extLst>
          </p:cNvPr>
          <p:cNvSpPr/>
          <p:nvPr/>
        </p:nvSpPr>
        <p:spPr>
          <a:xfrm>
            <a:off x="6924582" y="3192092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61BAEF4-E6F1-41FF-BC3C-3DDCD5ABFE56}"/>
              </a:ext>
            </a:extLst>
          </p:cNvPr>
          <p:cNvSpPr/>
          <p:nvPr/>
        </p:nvSpPr>
        <p:spPr>
          <a:xfrm>
            <a:off x="8496207" y="322287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0CF01D81-DB6B-45D2-8C0A-C8A220C4E14F}"/>
              </a:ext>
            </a:extLst>
          </p:cNvPr>
          <p:cNvSpPr/>
          <p:nvPr/>
        </p:nvSpPr>
        <p:spPr>
          <a:xfrm>
            <a:off x="6924582" y="362071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74D4C3C8-A65A-4560-BC88-76C2AFCD5DD7}"/>
              </a:ext>
            </a:extLst>
          </p:cNvPr>
          <p:cNvSpPr/>
          <p:nvPr/>
        </p:nvSpPr>
        <p:spPr>
          <a:xfrm>
            <a:off x="8496207" y="3651495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1B366A9E-0A01-4006-B75C-0C81A4C15E22}"/>
              </a:ext>
            </a:extLst>
          </p:cNvPr>
          <p:cNvSpPr/>
          <p:nvPr/>
        </p:nvSpPr>
        <p:spPr>
          <a:xfrm>
            <a:off x="7196045" y="4064643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3E1F2-CA38-42C9-A8BB-8B23B806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797B70E-A7F1-44A4-B566-0C2E34206B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54" y="2343545"/>
            <a:ext cx="7861553" cy="723010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4DD7D0F-22EF-4EFF-BE3C-FB2042896D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2415" y="1776789"/>
            <a:ext cx="8275073" cy="851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71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57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14600" y="516939"/>
            <a:ext cx="139266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課堂實作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(dataset.py)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10800000">
            <a:off x="-533400" y="-986432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176907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76346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A9C35740-9BBE-4925-8A64-31C56ECB1DBA}"/>
              </a:ext>
            </a:extLst>
          </p:cNvPr>
          <p:cNvSpPr/>
          <p:nvPr/>
        </p:nvSpPr>
        <p:spPr>
          <a:xfrm>
            <a:off x="5196274" y="329004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D2BC914C-314F-4992-8845-033954B1D895}"/>
              </a:ext>
            </a:extLst>
          </p:cNvPr>
          <p:cNvSpPr/>
          <p:nvPr/>
        </p:nvSpPr>
        <p:spPr>
          <a:xfrm>
            <a:off x="6924582" y="3192092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61BAEF4-E6F1-41FF-BC3C-3DDCD5ABFE56}"/>
              </a:ext>
            </a:extLst>
          </p:cNvPr>
          <p:cNvSpPr/>
          <p:nvPr/>
        </p:nvSpPr>
        <p:spPr>
          <a:xfrm>
            <a:off x="8496207" y="322287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0CF01D81-DB6B-45D2-8C0A-C8A220C4E14F}"/>
              </a:ext>
            </a:extLst>
          </p:cNvPr>
          <p:cNvSpPr/>
          <p:nvPr/>
        </p:nvSpPr>
        <p:spPr>
          <a:xfrm>
            <a:off x="6924582" y="362071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74D4C3C8-A65A-4560-BC88-76C2AFCD5DD7}"/>
              </a:ext>
            </a:extLst>
          </p:cNvPr>
          <p:cNvSpPr/>
          <p:nvPr/>
        </p:nvSpPr>
        <p:spPr>
          <a:xfrm>
            <a:off x="8496207" y="3651495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1B366A9E-0A01-4006-B75C-0C81A4C15E22}"/>
              </a:ext>
            </a:extLst>
          </p:cNvPr>
          <p:cNvSpPr/>
          <p:nvPr/>
        </p:nvSpPr>
        <p:spPr>
          <a:xfrm>
            <a:off x="7196045" y="4064643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3E1F2-CA38-42C9-A8BB-8B23B806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3FC4CA8-9171-4C79-9EDB-EF99E2D8C9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65" y="3254197"/>
            <a:ext cx="10942738" cy="52136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8080210-A798-4FA1-8662-4A7D2409B6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92383" y="7698"/>
            <a:ext cx="38614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69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57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10800000">
            <a:off x="-533400" y="-986432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176907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76346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A9C35740-9BBE-4925-8A64-31C56ECB1DBA}"/>
              </a:ext>
            </a:extLst>
          </p:cNvPr>
          <p:cNvSpPr/>
          <p:nvPr/>
        </p:nvSpPr>
        <p:spPr>
          <a:xfrm>
            <a:off x="5196274" y="329004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D2BC914C-314F-4992-8845-033954B1D895}"/>
              </a:ext>
            </a:extLst>
          </p:cNvPr>
          <p:cNvSpPr/>
          <p:nvPr/>
        </p:nvSpPr>
        <p:spPr>
          <a:xfrm>
            <a:off x="6924582" y="3192092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61BAEF4-E6F1-41FF-BC3C-3DDCD5ABFE56}"/>
              </a:ext>
            </a:extLst>
          </p:cNvPr>
          <p:cNvSpPr/>
          <p:nvPr/>
        </p:nvSpPr>
        <p:spPr>
          <a:xfrm>
            <a:off x="8496207" y="322287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0CF01D81-DB6B-45D2-8C0A-C8A220C4E14F}"/>
              </a:ext>
            </a:extLst>
          </p:cNvPr>
          <p:cNvSpPr/>
          <p:nvPr/>
        </p:nvSpPr>
        <p:spPr>
          <a:xfrm>
            <a:off x="6924582" y="362071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74D4C3C8-A65A-4560-BC88-76C2AFCD5DD7}"/>
              </a:ext>
            </a:extLst>
          </p:cNvPr>
          <p:cNvSpPr/>
          <p:nvPr/>
        </p:nvSpPr>
        <p:spPr>
          <a:xfrm>
            <a:off x="8496207" y="3651495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1B366A9E-0A01-4006-B75C-0C81A4C15E22}"/>
              </a:ext>
            </a:extLst>
          </p:cNvPr>
          <p:cNvSpPr/>
          <p:nvPr/>
        </p:nvSpPr>
        <p:spPr>
          <a:xfrm>
            <a:off x="7196045" y="4064643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3E1F2-CA38-42C9-A8BB-8B23B806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F04A1F2-6BB3-44BB-BA6F-15305EC9B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3706" y="-1"/>
            <a:ext cx="8860587" cy="316357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1BF21BC-2CE5-4C22-932A-693CF2E158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9393" y="3120456"/>
            <a:ext cx="10889213" cy="714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62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57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14600" y="516939"/>
            <a:ext cx="139266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課堂實作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(model.py)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10800000">
            <a:off x="-533400" y="-986432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176907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76346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A9C35740-9BBE-4925-8A64-31C56ECB1DBA}"/>
              </a:ext>
            </a:extLst>
          </p:cNvPr>
          <p:cNvSpPr/>
          <p:nvPr/>
        </p:nvSpPr>
        <p:spPr>
          <a:xfrm>
            <a:off x="5196274" y="329004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D2BC914C-314F-4992-8845-033954B1D895}"/>
              </a:ext>
            </a:extLst>
          </p:cNvPr>
          <p:cNvSpPr/>
          <p:nvPr/>
        </p:nvSpPr>
        <p:spPr>
          <a:xfrm>
            <a:off x="6924582" y="3192092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61BAEF4-E6F1-41FF-BC3C-3DDCD5ABFE56}"/>
              </a:ext>
            </a:extLst>
          </p:cNvPr>
          <p:cNvSpPr/>
          <p:nvPr/>
        </p:nvSpPr>
        <p:spPr>
          <a:xfrm>
            <a:off x="8496207" y="322287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0CF01D81-DB6B-45D2-8C0A-C8A220C4E14F}"/>
              </a:ext>
            </a:extLst>
          </p:cNvPr>
          <p:cNvSpPr/>
          <p:nvPr/>
        </p:nvSpPr>
        <p:spPr>
          <a:xfrm>
            <a:off x="6924582" y="362071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74D4C3C8-A65A-4560-BC88-76C2AFCD5DD7}"/>
              </a:ext>
            </a:extLst>
          </p:cNvPr>
          <p:cNvSpPr/>
          <p:nvPr/>
        </p:nvSpPr>
        <p:spPr>
          <a:xfrm>
            <a:off x="8496207" y="3651495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1B366A9E-0A01-4006-B75C-0C81A4C15E22}"/>
              </a:ext>
            </a:extLst>
          </p:cNvPr>
          <p:cNvSpPr/>
          <p:nvPr/>
        </p:nvSpPr>
        <p:spPr>
          <a:xfrm>
            <a:off x="7196045" y="4064643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3E1F2-CA38-42C9-A8BB-8B23B806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C7C7C0E-D76E-412E-A72B-FA34D8F3DD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5330" y="1657381"/>
            <a:ext cx="8460409" cy="862961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7A92980-F681-4C91-B2B7-6B9A844FD3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850" y="1657379"/>
            <a:ext cx="8601042" cy="862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60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57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14600" y="516939"/>
            <a:ext cx="139266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課堂實作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(train.py)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10800000">
            <a:off x="-533400" y="-986432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176907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76346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A9C35740-9BBE-4925-8A64-31C56ECB1DBA}"/>
              </a:ext>
            </a:extLst>
          </p:cNvPr>
          <p:cNvSpPr/>
          <p:nvPr/>
        </p:nvSpPr>
        <p:spPr>
          <a:xfrm>
            <a:off x="5196274" y="329004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D2BC914C-314F-4992-8845-033954B1D895}"/>
              </a:ext>
            </a:extLst>
          </p:cNvPr>
          <p:cNvSpPr/>
          <p:nvPr/>
        </p:nvSpPr>
        <p:spPr>
          <a:xfrm>
            <a:off x="6924582" y="3192092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61BAEF4-E6F1-41FF-BC3C-3DDCD5ABFE56}"/>
              </a:ext>
            </a:extLst>
          </p:cNvPr>
          <p:cNvSpPr/>
          <p:nvPr/>
        </p:nvSpPr>
        <p:spPr>
          <a:xfrm>
            <a:off x="8496207" y="322287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0CF01D81-DB6B-45D2-8C0A-C8A220C4E14F}"/>
              </a:ext>
            </a:extLst>
          </p:cNvPr>
          <p:cNvSpPr/>
          <p:nvPr/>
        </p:nvSpPr>
        <p:spPr>
          <a:xfrm>
            <a:off x="6924582" y="362071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74D4C3C8-A65A-4560-BC88-76C2AFCD5DD7}"/>
              </a:ext>
            </a:extLst>
          </p:cNvPr>
          <p:cNvSpPr/>
          <p:nvPr/>
        </p:nvSpPr>
        <p:spPr>
          <a:xfrm>
            <a:off x="8496207" y="3651495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1B366A9E-0A01-4006-B75C-0C81A4C15E22}"/>
              </a:ext>
            </a:extLst>
          </p:cNvPr>
          <p:cNvSpPr/>
          <p:nvPr/>
        </p:nvSpPr>
        <p:spPr>
          <a:xfrm>
            <a:off x="7196045" y="4064643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3E1F2-CA38-42C9-A8BB-8B23B806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7B32FCF-61C7-4013-9E90-9EF46BEEA1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258" y="1951996"/>
            <a:ext cx="9936679" cy="821529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C76CE92-5F83-420D-BA18-14881AB041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4118" y="3894174"/>
            <a:ext cx="8001927" cy="401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464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57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14600" y="516939"/>
            <a:ext cx="139266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課堂實作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(test.py)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10800000">
            <a:off x="-533400" y="-986432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176907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76346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A9C35740-9BBE-4925-8A64-31C56ECB1DBA}"/>
              </a:ext>
            </a:extLst>
          </p:cNvPr>
          <p:cNvSpPr/>
          <p:nvPr/>
        </p:nvSpPr>
        <p:spPr>
          <a:xfrm>
            <a:off x="5196274" y="329004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D2BC914C-314F-4992-8845-033954B1D895}"/>
              </a:ext>
            </a:extLst>
          </p:cNvPr>
          <p:cNvSpPr/>
          <p:nvPr/>
        </p:nvSpPr>
        <p:spPr>
          <a:xfrm>
            <a:off x="6924582" y="3192092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61BAEF4-E6F1-41FF-BC3C-3DDCD5ABFE56}"/>
              </a:ext>
            </a:extLst>
          </p:cNvPr>
          <p:cNvSpPr/>
          <p:nvPr/>
        </p:nvSpPr>
        <p:spPr>
          <a:xfrm>
            <a:off x="8496207" y="322287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0CF01D81-DB6B-45D2-8C0A-C8A220C4E14F}"/>
              </a:ext>
            </a:extLst>
          </p:cNvPr>
          <p:cNvSpPr/>
          <p:nvPr/>
        </p:nvSpPr>
        <p:spPr>
          <a:xfrm>
            <a:off x="6924582" y="362071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74D4C3C8-A65A-4560-BC88-76C2AFCD5DD7}"/>
              </a:ext>
            </a:extLst>
          </p:cNvPr>
          <p:cNvSpPr/>
          <p:nvPr/>
        </p:nvSpPr>
        <p:spPr>
          <a:xfrm>
            <a:off x="8496207" y="3651495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1B366A9E-0A01-4006-B75C-0C81A4C15E22}"/>
              </a:ext>
            </a:extLst>
          </p:cNvPr>
          <p:cNvSpPr/>
          <p:nvPr/>
        </p:nvSpPr>
        <p:spPr>
          <a:xfrm>
            <a:off x="7196045" y="4064643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3E1F2-CA38-42C9-A8BB-8B23B806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5B103C-443F-458F-8E7D-7D7F91DE20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925525"/>
            <a:ext cx="7574797" cy="833788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73A9E4D-D0BF-4400-BF31-5041843F99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8147" y="1961905"/>
            <a:ext cx="7919513" cy="826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6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57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14600" y="516939"/>
            <a:ext cx="139266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課堂實作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(main.py)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10800000">
            <a:off x="-533400" y="-986432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176907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76346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A9C35740-9BBE-4925-8A64-31C56ECB1DBA}"/>
              </a:ext>
            </a:extLst>
          </p:cNvPr>
          <p:cNvSpPr/>
          <p:nvPr/>
        </p:nvSpPr>
        <p:spPr>
          <a:xfrm>
            <a:off x="5196274" y="329004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D2BC914C-314F-4992-8845-033954B1D895}"/>
              </a:ext>
            </a:extLst>
          </p:cNvPr>
          <p:cNvSpPr/>
          <p:nvPr/>
        </p:nvSpPr>
        <p:spPr>
          <a:xfrm>
            <a:off x="6924582" y="3192092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61BAEF4-E6F1-41FF-BC3C-3DDCD5ABFE56}"/>
              </a:ext>
            </a:extLst>
          </p:cNvPr>
          <p:cNvSpPr/>
          <p:nvPr/>
        </p:nvSpPr>
        <p:spPr>
          <a:xfrm>
            <a:off x="8496207" y="322287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0CF01D81-DB6B-45D2-8C0A-C8A220C4E14F}"/>
              </a:ext>
            </a:extLst>
          </p:cNvPr>
          <p:cNvSpPr/>
          <p:nvPr/>
        </p:nvSpPr>
        <p:spPr>
          <a:xfrm>
            <a:off x="6924582" y="362071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74D4C3C8-A65A-4560-BC88-76C2AFCD5DD7}"/>
              </a:ext>
            </a:extLst>
          </p:cNvPr>
          <p:cNvSpPr/>
          <p:nvPr/>
        </p:nvSpPr>
        <p:spPr>
          <a:xfrm>
            <a:off x="8496207" y="3651495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1B366A9E-0A01-4006-B75C-0C81A4C15E22}"/>
              </a:ext>
            </a:extLst>
          </p:cNvPr>
          <p:cNvSpPr/>
          <p:nvPr/>
        </p:nvSpPr>
        <p:spPr>
          <a:xfrm>
            <a:off x="7196045" y="4064643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3E1F2-CA38-42C9-A8BB-8B23B806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B54CE4B-E6B4-4FCB-8E8B-63FDCA5223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11" y="1808645"/>
            <a:ext cx="8301937" cy="847835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E3C6C84-B648-4917-A593-1847780684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5037" y="3174011"/>
            <a:ext cx="9276162" cy="57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89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57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514600" y="516939"/>
            <a:ext cx="139266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課堂實作</a:t>
            </a:r>
            <a:endParaRPr 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FC340B43-1EF7-4FF9-96E3-8964BFAAD9B2}"/>
              </a:ext>
            </a:extLst>
          </p:cNvPr>
          <p:cNvSpPr>
            <a:spLocks noChangeAspect="1"/>
          </p:cNvSpPr>
          <p:nvPr/>
        </p:nvSpPr>
        <p:spPr>
          <a:xfrm rot="10800000">
            <a:off x="-533400" y="-986432"/>
            <a:ext cx="2907901" cy="2421488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CFBB8688-C0D4-42C7-ACC1-B9594096351A}"/>
              </a:ext>
            </a:extLst>
          </p:cNvPr>
          <p:cNvSpPr/>
          <p:nvPr/>
        </p:nvSpPr>
        <p:spPr>
          <a:xfrm>
            <a:off x="7153182" y="2176907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45004FED-B98B-4ECE-B808-498158E7B024}"/>
              </a:ext>
            </a:extLst>
          </p:cNvPr>
          <p:cNvSpPr/>
          <p:nvPr/>
        </p:nvSpPr>
        <p:spPr>
          <a:xfrm>
            <a:off x="6924582" y="276346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A9C35740-9BBE-4925-8A64-31C56ECB1DBA}"/>
              </a:ext>
            </a:extLst>
          </p:cNvPr>
          <p:cNvSpPr/>
          <p:nvPr/>
        </p:nvSpPr>
        <p:spPr>
          <a:xfrm>
            <a:off x="5196274" y="329004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D2BC914C-314F-4992-8845-033954B1D895}"/>
              </a:ext>
            </a:extLst>
          </p:cNvPr>
          <p:cNvSpPr/>
          <p:nvPr/>
        </p:nvSpPr>
        <p:spPr>
          <a:xfrm>
            <a:off x="6924582" y="3192092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261BAEF4-E6F1-41FF-BC3C-3DDCD5ABFE56}"/>
              </a:ext>
            </a:extLst>
          </p:cNvPr>
          <p:cNvSpPr/>
          <p:nvPr/>
        </p:nvSpPr>
        <p:spPr>
          <a:xfrm>
            <a:off x="8496207" y="3222870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0CF01D81-DB6B-45D2-8C0A-C8A220C4E14F}"/>
              </a:ext>
            </a:extLst>
          </p:cNvPr>
          <p:cNvSpPr/>
          <p:nvPr/>
        </p:nvSpPr>
        <p:spPr>
          <a:xfrm>
            <a:off x="6924582" y="3620717"/>
            <a:ext cx="65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800" dirty="0">
              <a:solidFill>
                <a:srgbClr val="3F2619"/>
              </a:solidFill>
            </a:endParaRP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74D4C3C8-A65A-4560-BC88-76C2AFCD5DD7}"/>
              </a:ext>
            </a:extLst>
          </p:cNvPr>
          <p:cNvSpPr/>
          <p:nvPr/>
        </p:nvSpPr>
        <p:spPr>
          <a:xfrm>
            <a:off x="8496207" y="3651495"/>
            <a:ext cx="6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2400" dirty="0">
              <a:solidFill>
                <a:srgbClr val="3F2619"/>
              </a:solidFill>
            </a:endParaRPr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1B366A9E-0A01-4006-B75C-0C81A4C15E22}"/>
              </a:ext>
            </a:extLst>
          </p:cNvPr>
          <p:cNvSpPr/>
          <p:nvPr/>
        </p:nvSpPr>
        <p:spPr>
          <a:xfrm>
            <a:off x="7196045" y="4064643"/>
            <a:ext cx="65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4400" dirty="0">
              <a:solidFill>
                <a:srgbClr val="3F2619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3E1F2-CA38-42C9-A8BB-8B23B806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805CFB-2451-4614-BE65-E67352DB0D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951995"/>
            <a:ext cx="5530874" cy="834640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C39C530-9A43-48DB-BD02-4D9C1310F9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6274" y="6306659"/>
            <a:ext cx="4639834" cy="207687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F8FAB5E-7C70-4EA0-9EEA-76ACFAB73F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78" y="745590"/>
            <a:ext cx="10972822" cy="365760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1B45B4B-290F-46CA-84A0-F155F47844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409" y="4521444"/>
            <a:ext cx="8648334" cy="576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41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778" y="7436839"/>
            <a:ext cx="2004759" cy="214100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0537" y="7494055"/>
            <a:ext cx="1518167" cy="214100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4429" y="7599840"/>
            <a:ext cx="3027128" cy="214100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782" y="5010150"/>
            <a:ext cx="1732268" cy="2141005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8924" y="2869145"/>
            <a:ext cx="1701126" cy="2141005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7851" y="380522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6274" y="380522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2460" y="380522"/>
            <a:ext cx="2264524" cy="2141005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32234" y="380522"/>
            <a:ext cx="2571076" cy="2141005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02175" y="380522"/>
            <a:ext cx="1444205" cy="2141005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88001" y="380522"/>
            <a:ext cx="1467562" cy="2141005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31787" y="380522"/>
            <a:ext cx="1876299" cy="2141005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88437" y="380522"/>
            <a:ext cx="2393400" cy="2141005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22420" y="2750127"/>
            <a:ext cx="2047579" cy="2141005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622420" y="5295835"/>
            <a:ext cx="2125434" cy="2141005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27484" y="7599840"/>
            <a:ext cx="1782873" cy="214100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91040" y="7599840"/>
            <a:ext cx="2188760" cy="214100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21106" y="7599840"/>
            <a:ext cx="2141005" cy="214100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52698" y="7669745"/>
            <a:ext cx="2413018" cy="2141005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65716" y="7599840"/>
            <a:ext cx="1638842" cy="214100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411885" y="3296841"/>
            <a:ext cx="11464230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D</a:t>
            </a:r>
            <a:r>
              <a:rPr lang="en-US" sz="12000" spc="-672" dirty="0">
                <a:solidFill>
                  <a:srgbClr val="5B1C14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8E2423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338168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2000" spc="-672" dirty="0">
                <a:solidFill>
                  <a:srgbClr val="2DBCB7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2000" spc="-672" dirty="0">
                <a:solidFill>
                  <a:srgbClr val="1D949A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029316"/>
                </a:solidFill>
                <a:latin typeface="Lazydog"/>
                <a:ea typeface="Lazydog"/>
                <a:cs typeface="Lazydog"/>
                <a:sym typeface="Lazydog"/>
              </a:rPr>
              <a:t>y</a:t>
            </a:r>
            <a:r>
              <a:rPr lang="en-US" sz="12000" spc="-672" dirty="0">
                <a:solidFill>
                  <a:srgbClr val="64331F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B26628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C13E27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</a:p>
          <a:p>
            <a:pPr marL="0" lvl="0" indent="0" algn="ctr"/>
            <a:r>
              <a:rPr lang="en-US" sz="12000" spc="-672" dirty="0">
                <a:solidFill>
                  <a:srgbClr val="AE6428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12000" spc="-672" dirty="0">
                <a:solidFill>
                  <a:srgbClr val="A42B2B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2000" spc="-672" dirty="0">
                <a:solidFill>
                  <a:srgbClr val="556458"/>
                </a:solidFill>
                <a:latin typeface="Lazydog"/>
                <a:ea typeface="Lazydog"/>
                <a:cs typeface="Lazydog"/>
                <a:sym typeface="Lazydog"/>
              </a:rPr>
              <a:t>v</a:t>
            </a:r>
            <a:r>
              <a:rPr lang="en-US" sz="12000" spc="-672" dirty="0">
                <a:solidFill>
                  <a:srgbClr val="338168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2000" spc="-672" dirty="0">
                <a:solidFill>
                  <a:srgbClr val="266753"/>
                </a:solidFill>
                <a:latin typeface="Lazydog"/>
                <a:ea typeface="Lazydog"/>
                <a:cs typeface="Lazydog"/>
                <a:sym typeface="Lazydog"/>
              </a:rPr>
              <a:t>q</a:t>
            </a:r>
            <a:r>
              <a:rPr lang="en-US" sz="12000" spc="-672" dirty="0">
                <a:solidFill>
                  <a:srgbClr val="009200"/>
                </a:solidFill>
                <a:latin typeface="Lazydog"/>
                <a:ea typeface="Lazydog"/>
                <a:cs typeface="Lazydog"/>
                <a:sym typeface="Lazydog"/>
              </a:rPr>
              <a:t>u</a:t>
            </a:r>
            <a:r>
              <a:rPr lang="en-US" sz="12000" spc="-672" dirty="0">
                <a:solidFill>
                  <a:srgbClr val="1D949A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2E1B5B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58585B"/>
                </a:solidFill>
                <a:latin typeface="Lazydog"/>
                <a:ea typeface="Lazydog"/>
                <a:cs typeface="Lazydog"/>
                <a:sym typeface="Lazydog"/>
              </a:rPr>
              <a:t>t</a:t>
            </a:r>
            <a:r>
              <a:rPr lang="en-US" sz="12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i</a:t>
            </a:r>
            <a:r>
              <a:rPr lang="en-US" sz="12000" spc="-672" dirty="0">
                <a:solidFill>
                  <a:srgbClr val="76482E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5E1815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7DADC5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ACD03C"/>
                </a:solidFill>
                <a:latin typeface="Lazydog"/>
                <a:ea typeface="Lazydog"/>
                <a:cs typeface="Lazydog"/>
                <a:sym typeface="Lazydog"/>
              </a:rPr>
              <a:t>?</a:t>
            </a:r>
          </a:p>
        </p:txBody>
      </p:sp>
      <p:sp>
        <p:nvSpPr>
          <p:cNvPr id="24" name="Freeform 24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877558" y="2603159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投影片編號版面配置區 31">
            <a:extLst>
              <a:ext uri="{FF2B5EF4-FFF2-40B4-BE49-F238E27FC236}">
                <a16:creationId xmlns:a16="http://schemas.microsoft.com/office/drawing/2014/main" id="{A88F7F1D-5374-4761-A8BE-A62D76215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190713" y="770877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小試身手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1190713" y="2221817"/>
            <a:ext cx="9126052" cy="6568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題目：</a:t>
            </a:r>
            <a:r>
              <a:rPr lang="en-US" altLang="zh-TW" sz="3600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Air Passengers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資料主題：記錄了從 1949 年 1 月到 1960 年 12 月，共 12 年間，每月國際航空公司的總載客量（以千人為單位）。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資料點：總共包含 144 個觀測值（12 年 × 12 個月）。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zh-TW" sz="2800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格式：通常為一個 CSV 檔案，包含兩欄：</a:t>
            </a:r>
          </a:p>
          <a:p>
            <a:pPr marL="1428750" lvl="2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TW" altLang="zh-TW" sz="2800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Month (月份)：從 1949-01 到 1960-12 的日期。</a:t>
            </a:r>
          </a:p>
          <a:p>
            <a:pPr marL="1428750" lvl="2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TW" sz="2800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</a:t>
            </a:r>
            <a:r>
              <a:rPr lang="zh-TW" altLang="zh-TW" sz="2800" dirty="0">
                <a:solidFill>
                  <a:srgbClr val="3F2619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Passengers (旅客數量)：該月的旅客總數。</a:t>
            </a:r>
            <a:endParaRPr lang="zh-TW" altLang="zh-TW" sz="3600" dirty="0">
              <a:solidFill>
                <a:srgbClr val="3F2619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459A6F-5362-423A-A999-FFD0E8B91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8FEE39B-A78A-4BF1-B02B-77A46D37266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9212"/>
          <a:stretch/>
        </p:blipFill>
        <p:spPr>
          <a:xfrm>
            <a:off x="11076405" y="2221817"/>
            <a:ext cx="6020882" cy="623212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2B0CAB1-2CAE-4C45-8CEF-3790F0ACC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677" y="9190037"/>
            <a:ext cx="1705464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778" y="7436839"/>
            <a:ext cx="2004759" cy="214100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0537" y="7494055"/>
            <a:ext cx="1518167" cy="214100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4429" y="7599840"/>
            <a:ext cx="3027128" cy="214100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782" y="5010150"/>
            <a:ext cx="1732268" cy="2141005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8924" y="2869145"/>
            <a:ext cx="1701126" cy="2141005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7851" y="380522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6274" y="380522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2460" y="380522"/>
            <a:ext cx="2264524" cy="2141005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32234" y="380522"/>
            <a:ext cx="2571076" cy="2141005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02175" y="380522"/>
            <a:ext cx="1444205" cy="2141005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88001" y="380522"/>
            <a:ext cx="1467562" cy="2141005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31787" y="380522"/>
            <a:ext cx="1876299" cy="2141005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88437" y="380522"/>
            <a:ext cx="2393400" cy="2141005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22420" y="2750127"/>
            <a:ext cx="2047579" cy="2141005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622420" y="5295835"/>
            <a:ext cx="2125434" cy="2141005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27484" y="7599840"/>
            <a:ext cx="1782873" cy="214100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91040" y="7599840"/>
            <a:ext cx="2188760" cy="214100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21106" y="7599840"/>
            <a:ext cx="2141005" cy="214100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52698" y="7669745"/>
            <a:ext cx="2413018" cy="2141005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65716" y="7599840"/>
            <a:ext cx="1638842" cy="214100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590580" y="2681288"/>
            <a:ext cx="7106841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16000" spc="-672" dirty="0">
                <a:solidFill>
                  <a:srgbClr val="891942"/>
                </a:solidFill>
                <a:latin typeface="Lazydog"/>
                <a:ea typeface="Lazydog"/>
                <a:cs typeface="Lazydog"/>
                <a:sym typeface="Lazydog"/>
              </a:rPr>
              <a:t>t</a:t>
            </a:r>
            <a:r>
              <a:rPr lang="en-US" sz="16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16000" spc="-672" dirty="0">
                <a:solidFill>
                  <a:srgbClr val="9F2A22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6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6000" spc="-672" dirty="0">
                <a:solidFill>
                  <a:srgbClr val="BC5E28"/>
                </a:solidFill>
                <a:latin typeface="Lazydog"/>
                <a:ea typeface="Lazydog"/>
                <a:cs typeface="Lazydog"/>
                <a:sym typeface="Lazydog"/>
              </a:rPr>
              <a:t>k</a:t>
            </a:r>
            <a:r>
              <a:rPr lang="en-US" sz="16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6000" spc="-672" dirty="0">
                <a:solidFill>
                  <a:srgbClr val="175C71"/>
                </a:solidFill>
                <a:latin typeface="Lazydog"/>
                <a:ea typeface="Lazydog"/>
                <a:cs typeface="Lazydog"/>
                <a:sym typeface="Lazydog"/>
              </a:rPr>
              <a:t>y</a:t>
            </a:r>
            <a:r>
              <a:rPr lang="en-US" sz="16000" spc="-672" dirty="0">
                <a:solidFill>
                  <a:srgbClr val="2FBCB7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6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u</a:t>
            </a:r>
          </a:p>
        </p:txBody>
      </p:sp>
      <p:sp>
        <p:nvSpPr>
          <p:cNvPr id="24" name="Freeform 24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877558" y="2603159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投影片編號版面配置區 31">
            <a:extLst>
              <a:ext uri="{FF2B5EF4-FFF2-40B4-BE49-F238E27FC236}">
                <a16:creationId xmlns:a16="http://schemas.microsoft.com/office/drawing/2014/main" id="{DE0E807B-A653-4A74-84CD-202F64ED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3980</TotalTime>
  <Words>1067</Words>
  <Application>Microsoft Office PowerPoint</Application>
  <PresentationFormat>自訂</PresentationFormat>
  <Paragraphs>400</Paragraphs>
  <Slides>22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4" baseType="lpstr">
      <vt:lpstr>Chiron GoRound TC ExtraBold</vt:lpstr>
      <vt:lpstr>Lazydog</vt:lpstr>
      <vt:lpstr>Noto Sans SC Medium</vt:lpstr>
      <vt:lpstr>Noto Sans TC</vt:lpstr>
      <vt:lpstr>Zen Maru Gothic Black</vt:lpstr>
      <vt:lpstr>微軟正黑體</vt:lpstr>
      <vt:lpstr>Arial</vt:lpstr>
      <vt:lpstr>Berlin Sans FB Demi</vt:lpstr>
      <vt:lpstr>Calibri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Blue and Red Playful Monsters Team Presentation</dc:title>
  <cp:lastModifiedBy>予謀 柳</cp:lastModifiedBy>
  <cp:revision>93</cp:revision>
  <dcterms:created xsi:type="dcterms:W3CDTF">2006-08-16T00:00:00Z</dcterms:created>
  <dcterms:modified xsi:type="dcterms:W3CDTF">2026-10-10T18:24:12Z</dcterms:modified>
  <dc:identifier>DAGxjVAmauM</dc:identifier>
</cp:coreProperties>
</file>